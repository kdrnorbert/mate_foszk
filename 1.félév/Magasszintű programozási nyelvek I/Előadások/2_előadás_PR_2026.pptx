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1" r:id="rId1"/>
  </p:sldMasterIdLst>
  <p:notesMasterIdLst>
    <p:notesMasterId r:id="rId15"/>
  </p:notesMasterIdLst>
  <p:handoutMasterIdLst>
    <p:handoutMasterId r:id="rId16"/>
  </p:handoutMasterIdLst>
  <p:sldIdLst>
    <p:sldId id="313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65" r:id="rId11"/>
    <p:sldId id="368" r:id="rId12"/>
    <p:sldId id="257" r:id="rId13"/>
    <p:sldId id="427" r:id="rId14"/>
  </p:sldIdLst>
  <p:sldSz cx="9144000" cy="6858000" type="screen4x3"/>
  <p:notesSz cx="10234613" cy="70993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CCFF99"/>
    <a:srgbClr val="FFFFCC"/>
    <a:srgbClr val="CC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2" autoAdjust="0"/>
    <p:restoredTop sz="94660"/>
  </p:normalViewPr>
  <p:slideViewPr>
    <p:cSldViewPr>
      <p:cViewPr varScale="1">
        <p:scale>
          <a:sx n="75" d="100"/>
          <a:sy n="75" d="100"/>
        </p:scale>
        <p:origin x="16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9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99E32E5-249F-F739-2664-9E5B55F9FF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A4B5AA8-38B4-6A4F-E2CD-98844E2290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77519DBD-4D2E-0827-7EB0-2FFF4E7F859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E2E200DB-B567-6FDD-0C4A-ADA8497C9E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30635FDB-F0E0-40B2-8D74-7626CC01889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908D859-F5E5-A752-8D65-F896CC0848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0F0206A0-5258-2152-97F8-3E9BEB33C6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41299E1-8232-49A6-E390-79DB8D865F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4713FD99-5662-17EF-B06D-E40BAC0E720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noProof="0"/>
              <a:t>Mintaszöveg szerkesztése</a:t>
            </a:r>
          </a:p>
          <a:p>
            <a:pPr lvl="1"/>
            <a:r>
              <a:rPr lang="hu-HU" altLang="hu-HU" noProof="0"/>
              <a:t>Második szint</a:t>
            </a:r>
          </a:p>
          <a:p>
            <a:pPr lvl="2"/>
            <a:r>
              <a:rPr lang="hu-HU" altLang="hu-HU" noProof="0"/>
              <a:t>Harmadik szint</a:t>
            </a:r>
          </a:p>
          <a:p>
            <a:pPr lvl="3"/>
            <a:r>
              <a:rPr lang="hu-HU" altLang="hu-HU" noProof="0"/>
              <a:t>Negyedik szint</a:t>
            </a:r>
          </a:p>
          <a:p>
            <a:pPr lvl="4"/>
            <a:r>
              <a:rPr lang="hu-HU" altLang="hu-HU" noProof="0"/>
              <a:t>Ötödik szint</a:t>
            </a:r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AA8C570A-EBB3-89C5-3113-28C91325B3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D51EA1BC-E69D-9DC3-3AAB-B0B3E6D3DB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86BDCF8-4161-497C-899D-EF66BE7B5006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DEC7B8F-3080-9FEF-9F75-B28AAE622DA9}"/>
              </a:ext>
            </a:extLst>
          </p:cNvPr>
          <p:cNvSpPr/>
          <p:nvPr/>
        </p:nvSpPr>
        <p:spPr>
          <a:xfrm>
            <a:off x="182563" y="182563"/>
            <a:ext cx="8778875" cy="64928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EEEDB0E7-CA86-4DE8-E5E6-0E4DB50797CB}"/>
              </a:ext>
            </a:extLst>
          </p:cNvPr>
          <p:cNvCxnSpPr/>
          <p:nvPr/>
        </p:nvCxnSpPr>
        <p:spPr>
          <a:xfrm>
            <a:off x="1484313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43A1FCB-A6D8-2360-A953-4A1C3291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2E6F32E-A0CD-6E62-D359-B012097F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719D234-1AA6-3C54-A4EE-6544B399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796EBC1-19D5-4E9D-A8C3-C29C239DE93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138928270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8D79B-034D-3A67-4362-0163E8D4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8B41-5698-6D62-FE09-9AB4C6CA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BA416-47A9-4D4F-449F-2FC4719C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1AAA6-10B7-4B75-9807-5F8418939F49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195015289"/>
      </p:ext>
    </p:extLst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CF445E4F-CF67-18B6-F23E-FCB47AC675B3}"/>
              </a:ext>
            </a:extLst>
          </p:cNvPr>
          <p:cNvCxnSpPr/>
          <p:nvPr/>
        </p:nvCxnSpPr>
        <p:spPr>
          <a:xfrm>
            <a:off x="1485900" y="4021138"/>
            <a:ext cx="6172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F8062A-D257-D536-8B60-67FAF918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51C5C1-5A1A-A0DC-5589-141C7259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9CA3E7-7917-E292-3B03-83E25ED4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BF909-0CBC-46F6-A47B-4921CE08B6FA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51177107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88F49E3-AE28-19CE-3D04-E1297147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3EDB9-053A-0872-D4DD-C9E722C6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99E79-1603-CA47-7BBF-A3848309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A41A1-5EB4-4CDD-B5D2-AD89011E6D87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317562577"/>
      </p:ext>
    </p:extLst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DF01C3B-C8E2-D949-305B-56230D8A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BB4AD12-80EC-5FD3-91AC-FAFE0AF4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EC916A4-9E01-CDAA-BD80-57898F5B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F988B-E7DA-42DC-A654-5124529D9B7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356510358"/>
      </p:ext>
    </p:extLst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E942D96-8DB8-4724-E687-261DEED5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CFF03F3-4AA6-B0FB-D6D6-2BA7D4AE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D662EC1-EB01-CCA1-726A-176CDA7E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8BE74-E162-47D0-8767-1EA76061F6D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065814909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8A0C49-6670-E6F9-EB23-24999F37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D33E7C-3B1F-6D3E-1FC1-BB9E3DE7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EBDDFE-4493-CEA9-6CD0-3E4E7B3F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3B8A7-164B-4146-83DF-44B2721C180F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755686470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CE04E0-88D8-80E3-6154-5E8ACDA3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8FC173-A22B-2B8E-3BC3-3864C60C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F6139B-544A-444E-963B-DB4D3E61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2DB65-C278-445F-BB5C-9D2799AC1CAE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705122011"/>
      </p:ext>
    </p:extLst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rtlCol="0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hu-HU" noProof="0"/>
              <a:t>Kép beszúrásához kattintson az ikonra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C08E438-27B1-AD7A-068A-9924E250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E4814E-9D8C-E3DC-6607-34FF3C37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812737-AA70-232F-F7B6-D832C25D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8AC21-396D-49CC-B931-478D590E6F73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620205480"/>
      </p:ext>
    </p:extLst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F539B-07F5-13A7-05CE-E0C61446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FDC7-1725-910A-4F35-BBB0D8C0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68F6F-4DD7-6713-B792-5C13133D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BCD9B-02D2-4D23-89C4-C75A64B8192A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223084183"/>
      </p:ext>
    </p:extLst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78B16-ECF1-3192-9AAF-AEF57049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049A3-509C-D928-0FC5-9749BB4B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919AF-7FF3-DE65-ACD1-EE1CAE8E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18A0A-507D-4511-962A-21CFECE16CF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730599935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2351D6-D879-0467-DA60-7AD3DCEA3E5F}"/>
              </a:ext>
            </a:extLst>
          </p:cNvPr>
          <p:cNvSpPr/>
          <p:nvPr/>
        </p:nvSpPr>
        <p:spPr>
          <a:xfrm>
            <a:off x="182563" y="182563"/>
            <a:ext cx="8778875" cy="64928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77BF26E8-F269-E9C2-8BE2-BB8B5256C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7250" y="609600"/>
            <a:ext cx="7407275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  <a:endParaRPr lang="en-US" altLang="hu-HU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ECF8A4A5-E959-8D02-F827-27EC45EDD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2057400"/>
            <a:ext cx="74041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  <a:endParaRPr lang="en-US" alt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C3B9-DFBA-3880-FC75-FF1658ABD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7250" y="6224588"/>
            <a:ext cx="1746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8BA41-821A-08B6-76EB-94D51F7E9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2275" y="6224588"/>
            <a:ext cx="3538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F3C4-D434-8A75-74B4-33A499632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7700" y="6224588"/>
            <a:ext cx="1279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B96F088B-6D2A-4BE7-A84B-7897D67EFC1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9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cover/>
  </p:transition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171450" indent="-136525" algn="l" defTabSz="6858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80000"/>
        <a:buFont typeface="Corbel" panose="020B0503020204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429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SzPct val="80000"/>
        <a:buFont typeface="Corbel" panose="020B0503020204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4768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SzPct val="80000"/>
        <a:buFont typeface="Corbel" panose="020B0503020204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540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SzPct val="80000"/>
        <a:buFont typeface="Corbel" panose="020B0503020204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191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SzPct val="80000"/>
        <a:buFont typeface="Corbel" panose="020B0503020204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546F45E-9AEE-0D82-FFE8-90CE3662B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04664"/>
            <a:ext cx="8001000" cy="2232025"/>
          </a:xfrm>
        </p:spPr>
        <p:txBody>
          <a:bodyPr/>
          <a:lstStyle/>
          <a:p>
            <a:r>
              <a:rPr lang="hu-HU" altLang="hu-HU" sz="4600" dirty="0"/>
              <a:t>Magasszintű programnyelvek I.</a:t>
            </a:r>
            <a:endParaRPr lang="hu-HU" altLang="hu-HU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3EC4496-B00E-42C0-FA50-31D4A9E2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44" y="4149080"/>
            <a:ext cx="8001000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Készítette: Dr. Pántya Róbert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pantya.robert@uni-mate.hu</a:t>
            </a:r>
            <a:endParaRPr lang="hu-HU" altLang="hu-HU" sz="4400" dirty="0">
              <a:solidFill>
                <a:schemeClr val="bg1"/>
              </a:solidFill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E99CB505-6843-95AD-307D-9663EE040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44" y="2564904"/>
            <a:ext cx="8001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2.előadás</a:t>
            </a:r>
            <a:endParaRPr lang="hu-HU" altLang="hu-H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>
            <a:extLst>
              <a:ext uri="{FF2B5EF4-FFF2-40B4-BE49-F238E27FC236}">
                <a16:creationId xmlns:a16="http://schemas.microsoft.com/office/drawing/2014/main" id="{0F933FFB-7519-145D-A423-594ECA849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363" y="1912938"/>
            <a:ext cx="7772400" cy="461168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hu-HU" altLang="hu-HU" sz="3200" dirty="0"/>
              <a:t>A </a:t>
            </a:r>
            <a:r>
              <a:rPr lang="hu-HU" altLang="hu-HU" sz="3200" b="1" i="1" dirty="0"/>
              <a:t>forráskód feldolgozásának </a:t>
            </a:r>
            <a:r>
              <a:rPr lang="hu-HU" altLang="hu-HU" sz="3200" dirty="0"/>
              <a:t>szempontjából a szoftverfejlesztő rendszereket </a:t>
            </a:r>
            <a:r>
              <a:rPr lang="hu-HU" altLang="hu-HU" sz="3200" b="1" i="1" dirty="0"/>
              <a:t>három</a:t>
            </a:r>
            <a:r>
              <a:rPr lang="hu-HU" altLang="hu-HU" sz="3200" dirty="0"/>
              <a:t> csoportba sorolhatjuk:</a:t>
            </a:r>
          </a:p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fordítók</a:t>
            </a:r>
          </a:p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értelmezők</a:t>
            </a:r>
          </a:p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köztes nyelvek</a:t>
            </a:r>
          </a:p>
        </p:txBody>
      </p:sp>
      <p:sp>
        <p:nvSpPr>
          <p:cNvPr id="7171" name="Dia számának helye 5">
            <a:extLst>
              <a:ext uri="{FF2B5EF4-FFF2-40B4-BE49-F238E27FC236}">
                <a16:creationId xmlns:a16="http://schemas.microsoft.com/office/drawing/2014/main" id="{31F93A87-9F7A-7FEB-AB7C-EE17BD2DC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D8986CA1-FBCC-4C38-92BC-F86FE55ADF38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2</a:t>
            </a:fld>
            <a:endParaRPr lang="hu-HU" altLang="hu-HU" sz="1400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4A1A525-A4D1-904F-057D-9DAAE55FA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549275"/>
            <a:ext cx="7991475" cy="102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4488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693738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989013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2827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17399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1971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26543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1115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hu-HU" altLang="hu-HU" sz="4400" b="1"/>
              <a:t>A forráskód feldolgozása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10AA4F4-76C9-27FF-76A4-1BC6FAB5D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14338"/>
            <a:ext cx="7489825" cy="1143000"/>
          </a:xfrm>
        </p:spPr>
        <p:txBody>
          <a:bodyPr/>
          <a:lstStyle/>
          <a:p>
            <a:pPr marL="742950" indent="-742950" eaLnBrk="1" hangingPunct="1"/>
            <a:r>
              <a:rPr lang="hu-HU" altLang="hu-HU" b="1"/>
              <a:t>Fordítók</a:t>
            </a:r>
            <a:endParaRPr lang="en-US" altLang="hu-HU" b="1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D523969-E59C-3F43-8DAE-1B24B5542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57338"/>
            <a:ext cx="7772400" cy="4538662"/>
          </a:xfrm>
        </p:spPr>
        <p:txBody>
          <a:bodyPr/>
          <a:lstStyle/>
          <a:p>
            <a:pPr marL="355600" indent="-320675" eaLnBrk="1" hangingPunct="1"/>
            <a:r>
              <a:rPr lang="hu-HU" altLang="hu-HU" sz="3200"/>
              <a:t>Az adott nyelven (</a:t>
            </a:r>
            <a:r>
              <a:rPr lang="hu-HU" altLang="hu-HU" sz="3200" b="1" i="1"/>
              <a:t>forrásnyelv</a:t>
            </a:r>
            <a:r>
              <a:rPr lang="hu-HU" altLang="hu-HU" sz="3200"/>
              <a:t>) megírt programot egy fordítóprogram (</a:t>
            </a:r>
            <a:r>
              <a:rPr lang="hu-HU" altLang="hu-HU" sz="3200" b="1" i="1"/>
              <a:t>compiler</a:t>
            </a:r>
            <a:r>
              <a:rPr lang="hu-HU" altLang="hu-HU" sz="3200"/>
              <a:t>) </a:t>
            </a:r>
            <a:r>
              <a:rPr lang="hu-HU" altLang="hu-HU" sz="3200" u="sng"/>
              <a:t>lefordítja</a:t>
            </a:r>
            <a:r>
              <a:rPr lang="hu-HU" altLang="hu-HU" sz="3200"/>
              <a:t> egy másik nyelvre, a </a:t>
            </a:r>
            <a:r>
              <a:rPr lang="hu-HU" altLang="hu-HU" sz="3200" b="1" i="1"/>
              <a:t>célnyelvre</a:t>
            </a:r>
            <a:r>
              <a:rPr lang="hu-HU" altLang="hu-HU" sz="3200"/>
              <a:t>.</a:t>
            </a:r>
          </a:p>
          <a:p>
            <a:pPr marL="355600" indent="-320675" eaLnBrk="1" hangingPunct="1"/>
            <a:r>
              <a:rPr lang="hu-HU" altLang="hu-HU" sz="3200"/>
              <a:t>A célnyelvi program futtatásához ezután </a:t>
            </a:r>
            <a:r>
              <a:rPr lang="hu-HU" altLang="hu-HU" sz="3200" b="1" i="1"/>
              <a:t>sem</a:t>
            </a:r>
            <a:r>
              <a:rPr lang="hu-HU" altLang="hu-HU" sz="3200"/>
              <a:t> a </a:t>
            </a:r>
            <a:r>
              <a:rPr lang="hu-HU" altLang="hu-HU" sz="3200" u="sng"/>
              <a:t>forrásnyelvű programra</a:t>
            </a:r>
            <a:r>
              <a:rPr lang="hu-HU" altLang="hu-HU" sz="3200"/>
              <a:t>, </a:t>
            </a:r>
            <a:r>
              <a:rPr lang="hu-HU" altLang="hu-HU" sz="3200" b="1" i="1"/>
              <a:t>sem</a:t>
            </a:r>
            <a:r>
              <a:rPr lang="hu-HU" altLang="hu-HU" sz="3200"/>
              <a:t> a </a:t>
            </a:r>
            <a:r>
              <a:rPr lang="hu-HU" altLang="hu-HU" sz="3200" u="sng"/>
              <a:t>fordítóprogramra</a:t>
            </a:r>
            <a:r>
              <a:rPr lang="hu-HU" altLang="hu-HU" sz="3200"/>
              <a:t> </a:t>
            </a:r>
            <a:r>
              <a:rPr lang="hu-HU" altLang="hu-HU" sz="3200" b="1"/>
              <a:t>nincs szükség</a:t>
            </a:r>
            <a:r>
              <a:rPr lang="hu-HU" altLang="hu-HU" sz="3200"/>
              <a:t>. </a:t>
            </a:r>
          </a:p>
          <a:p>
            <a:pPr marL="355600" indent="-320675" eaLnBrk="1" hangingPunct="1"/>
            <a:r>
              <a:rPr lang="hu-HU" altLang="hu-HU" sz="3200"/>
              <a:t>A célnyelv általában a processzor </a:t>
            </a:r>
            <a:r>
              <a:rPr lang="hu-HU" altLang="hu-HU" sz="3200" b="1" i="1"/>
              <a:t>gépi nyelve</a:t>
            </a:r>
            <a:r>
              <a:rPr lang="hu-HU" altLang="hu-HU" sz="3200"/>
              <a:t>. </a:t>
            </a:r>
            <a:endParaRPr lang="en-US" altLang="hu-HU" sz="3200"/>
          </a:p>
        </p:txBody>
      </p:sp>
      <p:sp>
        <p:nvSpPr>
          <p:cNvPr id="8196" name="Dia számának helye 5">
            <a:extLst>
              <a:ext uri="{FF2B5EF4-FFF2-40B4-BE49-F238E27FC236}">
                <a16:creationId xmlns:a16="http://schemas.microsoft.com/office/drawing/2014/main" id="{A8F6254A-07AD-DCC9-BD25-862BD52C1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24EF9B8E-9705-406C-BC05-934274605727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3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BE649A6-7E15-32A1-40FE-72A8349CD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227013"/>
            <a:ext cx="7772400" cy="1143000"/>
          </a:xfrm>
        </p:spPr>
        <p:txBody>
          <a:bodyPr/>
          <a:lstStyle/>
          <a:p>
            <a:pPr marL="742950" indent="-742950" algn="ctr" eaLnBrk="1" hangingPunct="1"/>
            <a:r>
              <a:rPr lang="hu-HU" altLang="hu-HU" b="1"/>
              <a:t>Fordítók</a:t>
            </a:r>
            <a:endParaRPr lang="en-US" altLang="hu-HU" b="1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020DCD9-CCBB-4F9D-C4FB-DB2B33421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196975"/>
            <a:ext cx="8134350" cy="5184775"/>
          </a:xfrm>
        </p:spPr>
        <p:txBody>
          <a:bodyPr rtlCol="0">
            <a:normAutofit lnSpcReduction="10000"/>
          </a:bodyPr>
          <a:lstStyle/>
          <a:p>
            <a:pPr marL="34925" indent="0" eaLnBrk="1" fontAlgn="auto" hangingPunct="1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hu-HU" altLang="hu-HU" sz="3600" b="1" dirty="0"/>
              <a:t>Előnyök: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200" b="1" i="1" dirty="0"/>
              <a:t>gyorsan</a:t>
            </a:r>
            <a:r>
              <a:rPr lang="hu-HU" altLang="hu-HU" sz="3200" dirty="0"/>
              <a:t> futó programot ad 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200" dirty="0"/>
              <a:t>A fordítás egyirányú utca, azaz a lefordított programból </a:t>
            </a:r>
            <a:r>
              <a:rPr lang="hu-HU" altLang="hu-HU" sz="3200" u="sng" dirty="0"/>
              <a:t>nem állítható vissza </a:t>
            </a:r>
            <a:r>
              <a:rPr lang="hu-HU" altLang="hu-HU" sz="3200" dirty="0"/>
              <a:t>a forráskód.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200" dirty="0"/>
              <a:t>Hiába tesszük közzé a lefordított programot, az a forráskód nélkül gyakorlatilag </a:t>
            </a:r>
            <a:r>
              <a:rPr lang="hu-HU" altLang="hu-HU" sz="3200" u="sng" dirty="0"/>
              <a:t>nem módosítható</a:t>
            </a:r>
            <a:r>
              <a:rPr lang="hu-HU" altLang="hu-HU" sz="3200" dirty="0"/>
              <a:t>.</a:t>
            </a:r>
          </a:p>
          <a:p>
            <a:pPr marL="34925" indent="0" eaLnBrk="1" fontAlgn="auto" hangingPunct="1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hu-HU" altLang="hu-HU" sz="3600" b="1" dirty="0"/>
              <a:t>Hátrány: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200" dirty="0"/>
              <a:t>A lefordított program </a:t>
            </a:r>
            <a:r>
              <a:rPr lang="hu-HU" altLang="hu-HU" sz="3200" b="1" i="1" dirty="0"/>
              <a:t>nem hordozható </a:t>
            </a:r>
            <a:r>
              <a:rPr lang="hu-HU" altLang="hu-HU" sz="3200" dirty="0"/>
              <a:t>– pl.: nem futtatható más operációs rendszer alatt. </a:t>
            </a:r>
            <a:endParaRPr lang="en-US" altLang="hu-HU" sz="3200" dirty="0"/>
          </a:p>
        </p:txBody>
      </p:sp>
      <p:sp>
        <p:nvSpPr>
          <p:cNvPr id="9220" name="Dia számának helye 5">
            <a:extLst>
              <a:ext uri="{FF2B5EF4-FFF2-40B4-BE49-F238E27FC236}">
                <a16:creationId xmlns:a16="http://schemas.microsoft.com/office/drawing/2014/main" id="{2950D273-3120-3155-8C76-E7DF355821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7FF1BE52-036B-41D0-9F40-450BE8D1312B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4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4780633-4A35-92F8-6790-B40ABCAE2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8163" y="301625"/>
            <a:ext cx="7772400" cy="1143000"/>
          </a:xfrm>
        </p:spPr>
        <p:txBody>
          <a:bodyPr/>
          <a:lstStyle/>
          <a:p>
            <a:pPr marL="742950" indent="-742950" eaLnBrk="1" hangingPunct="1"/>
            <a:r>
              <a:rPr lang="hu-HU" altLang="hu-HU" b="1"/>
              <a:t>Értelmezők (interpreter)</a:t>
            </a:r>
            <a:endParaRPr lang="en-US" altLang="hu-HU" b="1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E8B2CB8-1A33-B96F-8820-FBE1F7D39D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marL="355600" indent="-320675" eaLnBrk="1" hangingPunct="1"/>
            <a:r>
              <a:rPr lang="hu-HU" altLang="hu-HU" sz="3200"/>
              <a:t>A forrásnyelven megírt programot ebben az esetben </a:t>
            </a:r>
            <a:r>
              <a:rPr lang="hu-HU" altLang="hu-HU" sz="3200" b="1" i="1"/>
              <a:t>nem fordítjuk le</a:t>
            </a:r>
            <a:r>
              <a:rPr lang="hu-HU" altLang="hu-HU" sz="3200"/>
              <a:t>. </a:t>
            </a:r>
          </a:p>
          <a:p>
            <a:pPr marL="355600" indent="-320675" eaLnBrk="1" hangingPunct="1"/>
            <a:r>
              <a:rPr lang="hu-HU" altLang="hu-HU" sz="3200"/>
              <a:t>A program futtatásához egy </a:t>
            </a:r>
            <a:r>
              <a:rPr lang="hu-HU" altLang="hu-HU" sz="3200" b="1" i="1"/>
              <a:t>interpreter</a:t>
            </a:r>
            <a:r>
              <a:rPr lang="hu-HU" altLang="hu-HU" sz="3200"/>
              <a:t> (értelmezőprogram) </a:t>
            </a:r>
            <a:r>
              <a:rPr lang="hu-HU" altLang="hu-HU" sz="3200" b="1" i="1"/>
              <a:t>szükséges</a:t>
            </a:r>
            <a:r>
              <a:rPr lang="hu-HU" altLang="hu-HU" sz="3200"/>
              <a:t>, mely utasításonként olvassa, majd értelmezi a forrásnyelven megírt programot. </a:t>
            </a:r>
          </a:p>
          <a:p>
            <a:pPr marL="355600" indent="-320675" eaLnBrk="1" hangingPunct="1"/>
            <a:r>
              <a:rPr lang="hu-HU" altLang="hu-HU" sz="3200"/>
              <a:t>Az értelmezett utasítást </a:t>
            </a:r>
            <a:r>
              <a:rPr lang="hu-HU" altLang="hu-HU" sz="3200" b="1" i="1"/>
              <a:t>azonnal végre is hajtja</a:t>
            </a:r>
            <a:r>
              <a:rPr lang="hu-HU" altLang="hu-HU" sz="3200"/>
              <a:t>, majd megkeresi a végrehajtásban következő utasítást. </a:t>
            </a:r>
            <a:endParaRPr lang="en-US" altLang="hu-HU" sz="3200"/>
          </a:p>
        </p:txBody>
      </p:sp>
      <p:sp>
        <p:nvSpPr>
          <p:cNvPr id="10244" name="Dia számának helye 5">
            <a:extLst>
              <a:ext uri="{FF2B5EF4-FFF2-40B4-BE49-F238E27FC236}">
                <a16:creationId xmlns:a16="http://schemas.microsoft.com/office/drawing/2014/main" id="{35951A35-05DF-6E11-7B4E-E44106366A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FE3785AC-6CBF-4F67-9C66-F639487011DF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5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6F9504-0C91-1F63-30CD-6995B47C1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863600"/>
          </a:xfrm>
        </p:spPr>
        <p:txBody>
          <a:bodyPr/>
          <a:lstStyle/>
          <a:p>
            <a:pPr algn="ctr" eaLnBrk="1" hangingPunct="1"/>
            <a:r>
              <a:rPr lang="hu-HU" altLang="hu-HU" b="1"/>
              <a:t>Értelmezők (interpreter)</a:t>
            </a:r>
            <a:endParaRPr lang="en-US" altLang="hu-HU" b="1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41F86E5-13B3-46FF-B498-A3B68EEB5E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052513"/>
            <a:ext cx="8713788" cy="5545137"/>
          </a:xfrm>
        </p:spPr>
        <p:txBody>
          <a:bodyPr rtlCol="0">
            <a:normAutofit fontScale="92500" lnSpcReduction="10000"/>
          </a:bodyPr>
          <a:lstStyle/>
          <a:p>
            <a:pPr marL="34290" indent="0" eaLnBrk="1" fontAlgn="auto" hangingPunct="1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hu-HU" altLang="hu-HU" sz="3900" b="1" dirty="0"/>
              <a:t>Előnyök: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500" b="1" i="1" dirty="0" err="1"/>
              <a:t>Plaformfüggetlenség</a:t>
            </a:r>
            <a:endParaRPr lang="hu-HU" altLang="hu-HU" sz="3500" b="1" i="1" dirty="0"/>
          </a:p>
          <a:p>
            <a:pPr marL="692150" lvl="1" indent="-347663" eaLnBrk="1" fontAlgn="auto" hangingPunct="1">
              <a:defRPr/>
            </a:pPr>
            <a:r>
              <a:rPr lang="hu-HU" altLang="hu-HU" sz="3500" dirty="0"/>
              <a:t>Ha a program, futás közben hibával leáll, a futtatás a </a:t>
            </a:r>
            <a:r>
              <a:rPr lang="hu-HU" altLang="hu-HU" sz="3500" b="1" i="1" dirty="0"/>
              <a:t>hiba kijavítása</a:t>
            </a:r>
            <a:r>
              <a:rPr lang="hu-HU" altLang="hu-HU" sz="3500" dirty="0"/>
              <a:t> után </a:t>
            </a:r>
            <a:r>
              <a:rPr lang="hu-HU" altLang="hu-HU" sz="3500" b="1" i="1" dirty="0"/>
              <a:t>folytatható</a:t>
            </a:r>
            <a:r>
              <a:rPr lang="hu-HU" altLang="hu-HU" sz="3500" dirty="0"/>
              <a:t>.</a:t>
            </a:r>
          </a:p>
          <a:p>
            <a:pPr marL="34290" indent="0" eaLnBrk="1" fontAlgn="auto" hangingPunct="1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hu-HU" altLang="hu-HU" sz="3900" b="1" dirty="0"/>
              <a:t>Hátrány: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500" dirty="0"/>
              <a:t>Értelmezővel a programsoraink futtatása </a:t>
            </a:r>
            <a:r>
              <a:rPr lang="hu-HU" altLang="hu-HU" sz="3500" b="1" i="1" dirty="0"/>
              <a:t>lényegesen</a:t>
            </a:r>
            <a:r>
              <a:rPr lang="hu-HU" altLang="hu-HU" sz="3500" dirty="0"/>
              <a:t> </a:t>
            </a:r>
            <a:r>
              <a:rPr lang="hu-HU" altLang="hu-HU" sz="3500" b="1" i="1" dirty="0"/>
              <a:t>lassabb</a:t>
            </a:r>
            <a:r>
              <a:rPr lang="hu-HU" altLang="hu-HU" sz="3500" dirty="0"/>
              <a:t>, mint ha fordítót használnánk, hiszen minden utasítást futtatás közben értelmezünk. </a:t>
            </a:r>
          </a:p>
          <a:p>
            <a:pPr marL="692150" lvl="1" indent="-347663" eaLnBrk="1" fontAlgn="auto" hangingPunct="1">
              <a:defRPr/>
            </a:pPr>
            <a:r>
              <a:rPr lang="hu-HU" altLang="hu-HU" sz="3500" dirty="0"/>
              <a:t>Ha programunkat közzé tesszük, </a:t>
            </a:r>
            <a:r>
              <a:rPr lang="hu-HU" altLang="hu-HU" sz="3500" b="1" i="1" dirty="0"/>
              <a:t>a forráskódot tesszük közzé</a:t>
            </a:r>
            <a:r>
              <a:rPr lang="hu-HU" altLang="hu-HU" sz="3500" dirty="0"/>
              <a:t>, így azt </a:t>
            </a:r>
            <a:r>
              <a:rPr lang="hu-HU" altLang="hu-HU" sz="3500" u="sng" dirty="0"/>
              <a:t>mások is fel tudják használni</a:t>
            </a:r>
            <a:r>
              <a:rPr lang="hu-HU" altLang="hu-HU" sz="3500" dirty="0"/>
              <a:t>.</a:t>
            </a:r>
            <a:endParaRPr lang="en-US" altLang="hu-HU" sz="3500" dirty="0"/>
          </a:p>
        </p:txBody>
      </p:sp>
      <p:sp>
        <p:nvSpPr>
          <p:cNvPr id="11268" name="Dia számának helye 5">
            <a:extLst>
              <a:ext uri="{FF2B5EF4-FFF2-40B4-BE49-F238E27FC236}">
                <a16:creationId xmlns:a16="http://schemas.microsoft.com/office/drawing/2014/main" id="{3BB55EA8-E08C-5493-C525-8C43E9F2D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F4F9D0EF-3DB4-4F01-A6AD-5CF18913CCD2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6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9047696-E476-B026-ACC7-252509AA5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03225"/>
            <a:ext cx="7772400" cy="865188"/>
          </a:xfrm>
        </p:spPr>
        <p:txBody>
          <a:bodyPr/>
          <a:lstStyle/>
          <a:p>
            <a:pPr marL="742950" indent="-742950" algn="ctr" eaLnBrk="1" hangingPunct="1"/>
            <a:r>
              <a:rPr lang="hu-HU" altLang="hu-HU" b="1"/>
              <a:t>Köztes nyelvek</a:t>
            </a:r>
            <a:endParaRPr lang="en-US" altLang="hu-HU" b="1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F6CCBED-1D5A-2EC2-AE44-BED8873D9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569325" cy="5184775"/>
          </a:xfrm>
        </p:spPr>
        <p:txBody>
          <a:bodyPr/>
          <a:lstStyle/>
          <a:p>
            <a:pPr marL="33338" indent="0" eaLnBrk="1" hangingPunct="1">
              <a:buFont typeface="Corbel" panose="020B0503020204020204" pitchFamily="34" charset="0"/>
              <a:buNone/>
            </a:pPr>
            <a:r>
              <a:rPr lang="hu-HU" altLang="hu-HU" sz="3200" b="1"/>
              <a:t>A program futtatása két lépésből áll:</a:t>
            </a:r>
          </a:p>
          <a:p>
            <a:pPr marL="33338" indent="0" eaLnBrk="1" hangingPunct="1">
              <a:buFont typeface="Corbel" panose="020B0503020204020204" pitchFamily="34" charset="0"/>
              <a:buNone/>
            </a:pPr>
            <a:endParaRPr lang="hu-HU" altLang="hu-HU" sz="1000" b="1"/>
          </a:p>
          <a:p>
            <a:pPr marL="714375" lvl="1" indent="-371475" eaLnBrk="1" hangingPunct="1">
              <a:buFont typeface="Times New Roman" panose="02020603050405020304" pitchFamily="18" charset="0"/>
              <a:buAutoNum type="arabicPeriod"/>
            </a:pPr>
            <a:r>
              <a:rPr lang="hu-HU" altLang="hu-HU" sz="3200"/>
              <a:t>Egy </a:t>
            </a:r>
            <a:r>
              <a:rPr lang="hu-HU" altLang="hu-HU" sz="3200" b="1" i="1"/>
              <a:t>fordítóprogram</a:t>
            </a:r>
            <a:r>
              <a:rPr lang="hu-HU" altLang="hu-HU" sz="3200"/>
              <a:t> a forráskódot egy </a:t>
            </a:r>
            <a:r>
              <a:rPr lang="hu-HU" altLang="hu-HU" sz="3200" b="1" i="1"/>
              <a:t>köztes nyelvre fordítja le</a:t>
            </a:r>
            <a:r>
              <a:rPr lang="hu-HU" altLang="hu-HU" sz="3200"/>
              <a:t>. Ezt a köztes nyelvre lefordított programot tesszük közzé. </a:t>
            </a:r>
          </a:p>
          <a:p>
            <a:pPr marL="714375" lvl="1" indent="-371475" eaLnBrk="1" hangingPunct="1">
              <a:buFont typeface="Times New Roman" panose="02020603050405020304" pitchFamily="18" charset="0"/>
              <a:buAutoNum type="arabicPeriod"/>
            </a:pPr>
            <a:r>
              <a:rPr lang="hu-HU" altLang="hu-HU" sz="3200"/>
              <a:t>A köztes nyelvre lefordított programot egy </a:t>
            </a:r>
            <a:r>
              <a:rPr lang="hu-HU" altLang="hu-HU" sz="3200" b="1" i="1"/>
              <a:t>értelmező program </a:t>
            </a:r>
            <a:r>
              <a:rPr lang="hu-HU" altLang="hu-HU" sz="3200" u="sng"/>
              <a:t>hajtja végre</a:t>
            </a:r>
            <a:r>
              <a:rPr lang="hu-HU" altLang="hu-HU" sz="3200"/>
              <a:t> lépésenként.</a:t>
            </a:r>
          </a:p>
          <a:p>
            <a:pPr marL="33338" indent="0" eaLnBrk="1" hangingPunct="1">
              <a:buFont typeface="Corbel" panose="020B0503020204020204" pitchFamily="34" charset="0"/>
              <a:buNone/>
            </a:pPr>
            <a:r>
              <a:rPr lang="hu-HU" altLang="hu-HU" sz="3200"/>
              <a:t>A köztes nyelvre lefordított program futtatásához </a:t>
            </a:r>
            <a:r>
              <a:rPr lang="hu-HU" altLang="hu-HU" sz="3200" u="sng"/>
              <a:t>szükség van</a:t>
            </a:r>
            <a:r>
              <a:rPr lang="hu-HU" altLang="hu-HU" sz="3200"/>
              <a:t> a </a:t>
            </a:r>
            <a:r>
              <a:rPr lang="hu-HU" altLang="hu-HU" sz="3200" b="1" i="1"/>
              <a:t>futtató környezetre</a:t>
            </a:r>
            <a:r>
              <a:rPr lang="hu-HU" altLang="hu-HU" sz="3200"/>
              <a:t>, vagyis az értelmező programra.</a:t>
            </a:r>
            <a:endParaRPr lang="en-US" altLang="hu-HU" sz="3200"/>
          </a:p>
        </p:txBody>
      </p:sp>
      <p:sp>
        <p:nvSpPr>
          <p:cNvPr id="12292" name="Dia számának helye 5">
            <a:extLst>
              <a:ext uri="{FF2B5EF4-FFF2-40B4-BE49-F238E27FC236}">
                <a16:creationId xmlns:a16="http://schemas.microsoft.com/office/drawing/2014/main" id="{5FBE768B-E638-B3D3-E4ED-96BA809DAD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19AE01C8-D658-4D4B-BF52-CDD34E4A1321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7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2A70996-1A99-F5CE-42CE-5FEF74538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34950"/>
            <a:ext cx="7772400" cy="836613"/>
          </a:xfrm>
        </p:spPr>
        <p:txBody>
          <a:bodyPr/>
          <a:lstStyle/>
          <a:p>
            <a:pPr algn="ctr" eaLnBrk="1" hangingPunct="1"/>
            <a:r>
              <a:rPr lang="hu-HU" altLang="hu-HU" b="1"/>
              <a:t>Köztes nyelvek</a:t>
            </a:r>
            <a:endParaRPr lang="en-US" altLang="hu-HU" b="1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0FA9DD3-6E97-ADFD-C7FB-80BC8E356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08050"/>
            <a:ext cx="8496300" cy="5715000"/>
          </a:xfrm>
        </p:spPr>
        <p:txBody>
          <a:bodyPr/>
          <a:lstStyle/>
          <a:p>
            <a:pPr marL="33338" indent="0" eaLnBrk="1" hangingPunct="1">
              <a:lnSpc>
                <a:spcPct val="80000"/>
              </a:lnSpc>
              <a:buFont typeface="Corbel" panose="020B0503020204020204" pitchFamily="34" charset="0"/>
              <a:buNone/>
            </a:pPr>
            <a:r>
              <a:rPr lang="hu-HU" altLang="hu-HU" sz="3200" b="1"/>
              <a:t>Előnyök:</a:t>
            </a:r>
          </a:p>
          <a:p>
            <a:pPr marL="692150" lvl="1" indent="-347663" eaLnBrk="1" hangingPunct="1">
              <a:lnSpc>
                <a:spcPct val="80000"/>
              </a:lnSpc>
            </a:pPr>
            <a:r>
              <a:rPr lang="hu-HU" altLang="hu-HU" sz="2800"/>
              <a:t>Megvalósítható a </a:t>
            </a:r>
            <a:r>
              <a:rPr lang="hu-HU" altLang="hu-HU" sz="2800" b="1" i="1"/>
              <a:t>platformfüggetlenség</a:t>
            </a:r>
            <a:r>
              <a:rPr lang="hu-HU" altLang="hu-HU" sz="2800"/>
              <a:t>. Amelyik rendszerhez létezik </a:t>
            </a:r>
            <a:r>
              <a:rPr lang="hu-HU" altLang="hu-HU" sz="2800" u="sng"/>
              <a:t>futtató környezet</a:t>
            </a:r>
            <a:r>
              <a:rPr lang="hu-HU" altLang="hu-HU" sz="2800"/>
              <a:t>, képes futtatni a köztes nyelvre lefordított programot. </a:t>
            </a:r>
          </a:p>
          <a:p>
            <a:pPr marL="692150" lvl="1" indent="-347663" eaLnBrk="1" hangingPunct="1">
              <a:lnSpc>
                <a:spcPct val="80000"/>
              </a:lnSpc>
            </a:pPr>
            <a:r>
              <a:rPr lang="hu-HU" altLang="hu-HU" sz="2800"/>
              <a:t>Ha programunknak a köztes nyelvre fordított kódját tesszük közzé, </a:t>
            </a:r>
            <a:r>
              <a:rPr lang="hu-HU" altLang="hu-HU" sz="2800" b="1" i="1"/>
              <a:t>megőrizhetjük a forráskódot</a:t>
            </a:r>
            <a:r>
              <a:rPr lang="hu-HU" altLang="hu-HU" sz="2800"/>
              <a:t>.  </a:t>
            </a:r>
          </a:p>
          <a:p>
            <a:pPr marL="33338" indent="0" eaLnBrk="1" hangingPunct="1">
              <a:lnSpc>
                <a:spcPct val="80000"/>
              </a:lnSpc>
              <a:buFont typeface="Corbel" panose="020B0503020204020204" pitchFamily="34" charset="0"/>
              <a:buNone/>
            </a:pPr>
            <a:r>
              <a:rPr lang="hu-HU" altLang="hu-HU" sz="3200" b="1"/>
              <a:t>Hátrányok:</a:t>
            </a:r>
          </a:p>
          <a:p>
            <a:pPr marL="692150" lvl="1" indent="-347663" eaLnBrk="1" hangingPunct="1">
              <a:lnSpc>
                <a:spcPct val="80000"/>
              </a:lnSpc>
            </a:pPr>
            <a:r>
              <a:rPr lang="hu-HU" altLang="hu-HU" sz="2800"/>
              <a:t>A köztes nyelvre lefordított program futtatása </a:t>
            </a:r>
            <a:r>
              <a:rPr lang="hu-HU" altLang="hu-HU" sz="2800" b="1" i="1"/>
              <a:t>jelentősen lassúbb</a:t>
            </a:r>
            <a:r>
              <a:rPr lang="hu-HU" altLang="hu-HU" sz="2800"/>
              <a:t>, mint a </a:t>
            </a:r>
            <a:r>
              <a:rPr lang="hu-HU" altLang="hu-HU" sz="2800" u="sng"/>
              <a:t>gépi kódra fordított program</a:t>
            </a:r>
            <a:r>
              <a:rPr lang="hu-HU" altLang="hu-HU" sz="2800"/>
              <a:t> futtatása.</a:t>
            </a:r>
          </a:p>
          <a:p>
            <a:pPr marL="692150" lvl="1" indent="-347663" eaLnBrk="1" hangingPunct="1">
              <a:lnSpc>
                <a:spcPct val="80000"/>
              </a:lnSpc>
            </a:pPr>
            <a:r>
              <a:rPr lang="hu-HU" altLang="hu-HU" sz="2800"/>
              <a:t>Az operációs rendszerek </a:t>
            </a:r>
            <a:r>
              <a:rPr lang="hu-HU" altLang="hu-HU" sz="2800" u="sng"/>
              <a:t>általában nem tartalmazzák </a:t>
            </a:r>
            <a:r>
              <a:rPr lang="hu-HU" altLang="hu-HU" sz="2800"/>
              <a:t>a szükséges futtatókörnyezetet, ezért azt külön kell </a:t>
            </a:r>
            <a:r>
              <a:rPr lang="hu-HU" altLang="hu-HU" sz="2800" b="1" i="1"/>
              <a:t>telepíteni</a:t>
            </a:r>
            <a:r>
              <a:rPr lang="hu-HU" altLang="hu-HU" sz="2800"/>
              <a:t>, pl.: JVM, .NET.</a:t>
            </a:r>
            <a:endParaRPr lang="en-US" altLang="hu-HU" sz="2800"/>
          </a:p>
        </p:txBody>
      </p:sp>
      <p:sp>
        <p:nvSpPr>
          <p:cNvPr id="13316" name="Dia számának helye 5">
            <a:extLst>
              <a:ext uri="{FF2B5EF4-FFF2-40B4-BE49-F238E27FC236}">
                <a16:creationId xmlns:a16="http://schemas.microsoft.com/office/drawing/2014/main" id="{45DB6D82-7C1D-4CE2-CE96-E9746C7030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140B1A64-CF3E-44A3-9B7A-E5EA6932D9B9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8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4B8ED7C-0746-2A99-8593-794041A54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7772400" cy="1143000"/>
          </a:xfrm>
        </p:spPr>
        <p:txBody>
          <a:bodyPr/>
          <a:lstStyle/>
          <a:p>
            <a:pPr marL="742950" indent="-742950" algn="ctr" eaLnBrk="1" hangingPunct="1"/>
            <a:r>
              <a:rPr lang="hu-HU" altLang="hu-HU" b="1"/>
              <a:t>.NET framework</a:t>
            </a:r>
            <a:endParaRPr lang="en-US" altLang="hu-HU" b="1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B02C35F-4B80-0637-0157-3DFF41474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25538"/>
            <a:ext cx="7772400" cy="4967287"/>
          </a:xfrm>
        </p:spPr>
        <p:txBody>
          <a:bodyPr rtlCol="0">
            <a:normAutofit/>
          </a:bodyPr>
          <a:lstStyle/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A </a:t>
            </a:r>
            <a:r>
              <a:rPr lang="hu-HU" altLang="hu-HU" sz="3200" b="1" dirty="0"/>
              <a:t>.NET </a:t>
            </a:r>
            <a:r>
              <a:rPr lang="hu-HU" altLang="hu-HU" sz="3200" dirty="0"/>
              <a:t>keretrendszer (</a:t>
            </a:r>
            <a:r>
              <a:rPr lang="hu-HU" altLang="hu-HU" sz="3200" dirty="0" err="1"/>
              <a:t>framework</a:t>
            </a:r>
            <a:r>
              <a:rPr lang="hu-HU" altLang="hu-HU" sz="3200" dirty="0"/>
              <a:t>) szintén köztes nyelv használatán alapul. </a:t>
            </a:r>
          </a:p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A .NET rendszer köztes nyelvét </a:t>
            </a:r>
            <a:r>
              <a:rPr lang="hu-HU" altLang="hu-HU" sz="3200" b="1" dirty="0"/>
              <a:t>CIL</a:t>
            </a:r>
            <a:r>
              <a:rPr lang="hu-HU" altLang="hu-HU" sz="3200" dirty="0"/>
              <a:t>-</a:t>
            </a:r>
            <a:r>
              <a:rPr lang="hu-HU" altLang="hu-HU" sz="3200" dirty="0" err="1"/>
              <a:t>nek</a:t>
            </a:r>
            <a:r>
              <a:rPr lang="hu-HU" altLang="hu-HU" sz="3200" dirty="0"/>
              <a:t> hívják (</a:t>
            </a:r>
            <a:r>
              <a:rPr lang="hu-HU" altLang="hu-HU" sz="3200" dirty="0" err="1"/>
              <a:t>Common</a:t>
            </a:r>
            <a:r>
              <a:rPr lang="hu-HU" altLang="hu-HU" sz="3200" dirty="0"/>
              <a:t> </a:t>
            </a:r>
            <a:r>
              <a:rPr lang="hu-HU" altLang="hu-HU" sz="3200" dirty="0" err="1"/>
              <a:t>Intermediate</a:t>
            </a:r>
            <a:r>
              <a:rPr lang="hu-HU" altLang="hu-HU" sz="3200" dirty="0"/>
              <a:t> </a:t>
            </a:r>
            <a:r>
              <a:rPr lang="hu-HU" altLang="hu-HU" sz="3200" dirty="0" err="1"/>
              <a:t>Language</a:t>
            </a:r>
            <a:r>
              <a:rPr lang="hu-HU" altLang="hu-HU" sz="3200" dirty="0"/>
              <a:t>), melyet a </a:t>
            </a:r>
            <a:r>
              <a:rPr lang="hu-HU" altLang="hu-HU" sz="3200" b="1" dirty="0"/>
              <a:t>CLR</a:t>
            </a:r>
            <a:r>
              <a:rPr lang="hu-HU" altLang="hu-HU" sz="3200" dirty="0"/>
              <a:t> (</a:t>
            </a:r>
            <a:r>
              <a:rPr lang="hu-HU" altLang="hu-HU" sz="3200" dirty="0" err="1"/>
              <a:t>Common</a:t>
            </a:r>
            <a:r>
              <a:rPr lang="hu-HU" altLang="hu-HU" sz="3200" dirty="0"/>
              <a:t> </a:t>
            </a:r>
            <a:r>
              <a:rPr lang="hu-HU" altLang="hu-HU" sz="3200" dirty="0" err="1"/>
              <a:t>Language</a:t>
            </a:r>
            <a:r>
              <a:rPr lang="hu-HU" altLang="hu-HU" sz="3200" dirty="0"/>
              <a:t> </a:t>
            </a:r>
            <a:r>
              <a:rPr lang="hu-HU" altLang="hu-HU" sz="3200" dirty="0" err="1"/>
              <a:t>Runtime</a:t>
            </a:r>
            <a:r>
              <a:rPr lang="hu-HU" altLang="hu-HU" sz="3200" dirty="0"/>
              <a:t>) névre keresztelt virtuális gép képes futtatni. </a:t>
            </a:r>
          </a:p>
          <a:p>
            <a:pPr marL="355600" indent="-320675" eaLnBrk="1" fontAlgn="auto" hangingPunct="1">
              <a:spcAft>
                <a:spcPts val="0"/>
              </a:spcAft>
              <a:defRPr/>
            </a:pPr>
            <a:r>
              <a:rPr lang="hu-HU" altLang="hu-HU" sz="3200" dirty="0"/>
              <a:t>A CLR a virtuális CPU, interpretálja a CIL nyelvet, vagyis a CIL a virtuális CPU „gépi kódja”.</a:t>
            </a:r>
          </a:p>
          <a:p>
            <a:pPr indent="-137160" eaLnBrk="1" fontAlgn="auto" hangingPunct="1">
              <a:spcAft>
                <a:spcPts val="0"/>
              </a:spcAft>
              <a:defRPr/>
            </a:pPr>
            <a:endParaRPr lang="hu-HU" altLang="hu-HU" sz="3200" dirty="0"/>
          </a:p>
          <a:p>
            <a:pPr indent="-137160" eaLnBrk="1" fontAlgn="auto" hangingPunct="1">
              <a:spcAft>
                <a:spcPts val="0"/>
              </a:spcAft>
              <a:defRPr/>
            </a:pPr>
            <a:endParaRPr lang="en-US" altLang="hu-HU" sz="3200" dirty="0"/>
          </a:p>
        </p:txBody>
      </p:sp>
      <p:sp>
        <p:nvSpPr>
          <p:cNvPr id="14340" name="Dia számának helye 5">
            <a:extLst>
              <a:ext uri="{FF2B5EF4-FFF2-40B4-BE49-F238E27FC236}">
                <a16:creationId xmlns:a16="http://schemas.microsoft.com/office/drawing/2014/main" id="{B513A449-E037-04FF-A5F6-988B53055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fld id="{8BF2599F-97CB-499E-A82F-EA42BCAFB6B0}" type="slidenum">
              <a:rPr lang="hu-HU" altLang="hu-HU" sz="1400" smtClean="0"/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  <a:buFontTx/>
                <a:buNone/>
              </a:pPr>
              <a:t>9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>
            <a:extLst>
              <a:ext uri="{FF2B5EF4-FFF2-40B4-BE49-F238E27FC236}">
                <a16:creationId xmlns:a16="http://schemas.microsoft.com/office/drawing/2014/main" id="{64187B57-518B-EE1C-93ED-F4F83617E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2313" y="188913"/>
            <a:ext cx="7772400" cy="1143000"/>
          </a:xfrm>
        </p:spPr>
        <p:txBody>
          <a:bodyPr/>
          <a:lstStyle/>
          <a:p>
            <a:pPr eaLnBrk="1" hangingPunct="1"/>
            <a:r>
              <a:rPr lang="hu-HU" altLang="hu-HU" b="1"/>
              <a:t>.NET architektúra</a:t>
            </a:r>
          </a:p>
        </p:txBody>
      </p:sp>
      <p:pic>
        <p:nvPicPr>
          <p:cNvPr id="15363" name="Tartalom helye 4">
            <a:extLst>
              <a:ext uri="{FF2B5EF4-FFF2-40B4-BE49-F238E27FC236}">
                <a16:creationId xmlns:a16="http://schemas.microsoft.com/office/drawing/2014/main" id="{96A5E6D8-B8B6-361E-4AB9-CCE965FD0B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975" y="1417638"/>
            <a:ext cx="8855075" cy="5184775"/>
          </a:xfr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10477B-22BB-A609-E5EF-4CEEC3CA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3" y="188913"/>
            <a:ext cx="8278812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b="1" dirty="0" err="1"/>
              <a:t>Common</a:t>
            </a:r>
            <a:r>
              <a:rPr lang="hu-HU" b="1" dirty="0"/>
              <a:t> </a:t>
            </a:r>
            <a:r>
              <a:rPr lang="hu-HU" b="1" dirty="0" err="1"/>
              <a:t>Language</a:t>
            </a:r>
            <a:r>
              <a:rPr lang="hu-HU" b="1" dirty="0"/>
              <a:t> </a:t>
            </a:r>
            <a:r>
              <a:rPr lang="hu-HU" b="1" dirty="0" err="1"/>
              <a:t>Specification</a:t>
            </a:r>
            <a:r>
              <a:rPr lang="hu-HU" b="1" dirty="0"/>
              <a:t> (CLS)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573EE1-292F-47B9-A182-E3E990345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754438" cy="434975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hu-HU" sz="3200" b="1" dirty="0"/>
              <a:t>Alapszabályok gyűjteménye</a:t>
            </a:r>
            <a:r>
              <a:rPr lang="hu-HU" sz="3200" dirty="0"/>
              <a:t>.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hu-HU" sz="3200" dirty="0"/>
              <a:t>Ezeket minden olyan programozási nyelvnek (pl. C#, F#, VB) tiszteletben kell tartania, amely </a:t>
            </a:r>
            <a:r>
              <a:rPr lang="hu-HU" sz="3200" dirty="0" err="1"/>
              <a:t>CIL-re</a:t>
            </a:r>
            <a:r>
              <a:rPr lang="hu-HU" sz="3200" dirty="0"/>
              <a:t> fordítódik.</a:t>
            </a:r>
          </a:p>
          <a:p>
            <a:pPr indent="-137160" eaLnBrk="1" fontAlgn="auto" hangingPunct="1">
              <a:spcAft>
                <a:spcPts val="0"/>
              </a:spcAft>
              <a:defRPr/>
            </a:pPr>
            <a:endParaRPr lang="hu-HU" sz="3200" dirty="0"/>
          </a:p>
        </p:txBody>
      </p:sp>
      <p:pic>
        <p:nvPicPr>
          <p:cNvPr id="16388" name="Kép 4">
            <a:extLst>
              <a:ext uri="{FF2B5EF4-FFF2-40B4-BE49-F238E27FC236}">
                <a16:creationId xmlns:a16="http://schemas.microsoft.com/office/drawing/2014/main" id="{9858D4E7-BC79-A60D-5947-96093A7E7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198563"/>
            <a:ext cx="4462462" cy="515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ím 1">
            <a:extLst>
              <a:ext uri="{FF2B5EF4-FFF2-40B4-BE49-F238E27FC236}">
                <a16:creationId xmlns:a16="http://schemas.microsoft.com/office/drawing/2014/main" id="{08143D09-AD5C-656D-0361-00A368DEF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04775"/>
            <a:ext cx="7772400" cy="1009650"/>
          </a:xfrm>
        </p:spPr>
        <p:txBody>
          <a:bodyPr/>
          <a:lstStyle/>
          <a:p>
            <a:pPr algn="ctr" eaLnBrk="1" hangingPunct="1"/>
            <a:r>
              <a:rPr lang="hu-HU" altLang="hu-HU" b="1"/>
              <a:t>A C# nyelv</a:t>
            </a:r>
            <a:endParaRPr lang="hu-HU" altLang="hu-HU"/>
          </a:p>
        </p:txBody>
      </p:sp>
      <p:sp>
        <p:nvSpPr>
          <p:cNvPr id="17411" name="Tartalom helye 2">
            <a:extLst>
              <a:ext uri="{FF2B5EF4-FFF2-40B4-BE49-F238E27FC236}">
                <a16:creationId xmlns:a16="http://schemas.microsoft.com/office/drawing/2014/main" id="{B35A576C-DDAD-AF34-43E4-EA6AE354FC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08050"/>
            <a:ext cx="8569325" cy="5689600"/>
          </a:xfrm>
        </p:spPr>
        <p:txBody>
          <a:bodyPr/>
          <a:lstStyle/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3200" b="1"/>
              <a:t>Előzmények</a:t>
            </a:r>
            <a:r>
              <a:rPr lang="hu-HU" altLang="hu-HU" sz="3200"/>
              <a:t>: </a:t>
            </a:r>
          </a:p>
          <a:p>
            <a:pPr marL="720725" lvl="1" indent="-365125" eaLnBrk="1" hangingPunct="1"/>
            <a:r>
              <a:rPr lang="hu-HU" altLang="hu-HU" sz="3200" b="1"/>
              <a:t>C</a:t>
            </a:r>
            <a:r>
              <a:rPr lang="hu-HU" altLang="hu-HU" sz="3200"/>
              <a:t> (strukturált), </a:t>
            </a:r>
            <a:r>
              <a:rPr lang="hu-HU" altLang="hu-HU" sz="3200" b="1"/>
              <a:t>C++ </a:t>
            </a:r>
            <a:r>
              <a:rPr lang="hu-HU" altLang="hu-HU" sz="3200"/>
              <a:t>(hibrid, már tartalmaz objektumorientált elemeket), </a:t>
            </a:r>
          </a:p>
          <a:p>
            <a:pPr marL="720725" lvl="1" indent="-365125" eaLnBrk="1" hangingPunct="1"/>
            <a:r>
              <a:rPr lang="hu-HU" altLang="hu-HU" sz="3200" b="1"/>
              <a:t>Java</a:t>
            </a:r>
            <a:r>
              <a:rPr lang="hu-HU" altLang="hu-HU" sz="3200"/>
              <a:t> (tisztán objektumorientált, C, C++ és Smalltalk alapokon). Létrehozása James Gosling-hoz kötődik, 1995-ben (</a:t>
            </a:r>
            <a:r>
              <a:rPr lang="hu-HU" altLang="hu-HU" sz="3200" b="1" i="1"/>
              <a:t>Sun Microsystems</a:t>
            </a:r>
            <a:r>
              <a:rPr lang="hu-HU" altLang="hu-HU" sz="3200"/>
              <a:t>).</a:t>
            </a:r>
          </a:p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3200" b="1"/>
              <a:t>C#</a:t>
            </a:r>
            <a:r>
              <a:rPr lang="hu-HU" altLang="hu-HU" sz="3200"/>
              <a:t> (C sharp) tisztán objektumorientált nyelv.</a:t>
            </a:r>
          </a:p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3200"/>
              <a:t>Létrehozója Anders </a:t>
            </a:r>
            <a:r>
              <a:rPr lang="hu-HU" altLang="hu-HU" sz="3200" b="1"/>
              <a:t>Heilsberg</a:t>
            </a:r>
            <a:r>
              <a:rPr lang="hu-HU" altLang="hu-HU" sz="3200"/>
              <a:t> csoportja (</a:t>
            </a:r>
            <a:r>
              <a:rPr lang="hu-HU" altLang="hu-HU" sz="3200" b="1" i="1"/>
              <a:t>Microsoft</a:t>
            </a:r>
            <a:r>
              <a:rPr lang="hu-HU" altLang="hu-HU" sz="3200"/>
              <a:t>).</a:t>
            </a:r>
          </a:p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3200" b="1" i="1"/>
              <a:t>2002-ben</a:t>
            </a:r>
            <a:r>
              <a:rPr lang="hu-HU" altLang="hu-HU" sz="3200"/>
              <a:t> került forgalomba az 1. hivatalos kiadás.</a:t>
            </a:r>
          </a:p>
        </p:txBody>
      </p:sp>
    </p:spTree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artalom helye 2">
            <a:extLst>
              <a:ext uri="{FF2B5EF4-FFF2-40B4-BE49-F238E27FC236}">
                <a16:creationId xmlns:a16="http://schemas.microsoft.com/office/drawing/2014/main" id="{0825399B-C2AF-29BB-789E-B130D5EFA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404813"/>
            <a:ext cx="8726488" cy="4418012"/>
          </a:xfrm>
        </p:spPr>
        <p:txBody>
          <a:bodyPr/>
          <a:lstStyle/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A 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C#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 (szí-sarp, neve az angol ’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see-sharp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’ szavakból ered, mely 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’láss élesen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’-t jelent magyarul).</a:t>
            </a:r>
          </a:p>
          <a:p>
            <a:pPr marL="34925" indent="0" eaLnBrk="1" hangingPunct="1">
              <a:buFont typeface="Corbel" panose="020B0503020204020204" pitchFamily="34" charset="0"/>
              <a:buNone/>
            </a:pP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Értelmezhető úgy is, </a:t>
            </a:r>
            <a:br>
              <a:rPr lang="hu-HU" altLang="hu-HU" sz="2800">
                <a:solidFill>
                  <a:srgbClr val="0C3352"/>
                </a:solidFill>
                <a:latin typeface="Helvetica Neue"/>
              </a:rPr>
            </a:b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hogy a 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C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 nyelv </a:t>
            </a:r>
            <a:br>
              <a:rPr lang="hu-HU" altLang="hu-HU" sz="2800">
                <a:solidFill>
                  <a:srgbClr val="0C3352"/>
                </a:solidFill>
                <a:latin typeface="Helvetica Neue"/>
              </a:rPr>
            </a:b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(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zenei hang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) emelve </a:t>
            </a:r>
            <a:br>
              <a:rPr lang="hu-HU" altLang="hu-HU" sz="2800">
                <a:solidFill>
                  <a:srgbClr val="0C3352"/>
                </a:solidFill>
                <a:latin typeface="Helvetica Neue"/>
              </a:rPr>
            </a:b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fél egységgel (</a:t>
            </a:r>
            <a:r>
              <a:rPr lang="hu-HU" altLang="hu-HU" sz="2800" b="1" i="1">
                <a:solidFill>
                  <a:srgbClr val="0C3352"/>
                </a:solidFill>
                <a:latin typeface="Helvetica Neue"/>
              </a:rPr>
              <a:t>#</a:t>
            </a:r>
            <a:r>
              <a:rPr lang="hu-HU" altLang="hu-HU" sz="2800">
                <a:solidFill>
                  <a:srgbClr val="0C3352"/>
                </a:solidFill>
                <a:latin typeface="Helvetica Neue"/>
              </a:rPr>
              <a:t>).</a:t>
            </a:r>
          </a:p>
        </p:txBody>
      </p:sp>
      <p:pic>
        <p:nvPicPr>
          <p:cNvPr id="18435" name="Kép 4" descr="A képen szöveg, számítógép, ruházat, személy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615E674-575F-8AA5-C756-D86E212E7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63" y="1608138"/>
            <a:ext cx="5076825" cy="4845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F60D7866-9182-0891-0D13-AB955798E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5749925"/>
            <a:ext cx="5076825" cy="6921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defTabSz="914400"/>
            <a:endParaRPr lang="hu-HU" altLang="hu-HU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0.00034 0.05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theme/theme1.xml><?xml version="1.0" encoding="utf-8"?>
<a:theme xmlns:a="http://schemas.openxmlformats.org/drawingml/2006/main" name="Bázis">
  <a:themeElements>
    <a:clrScheme name="Zöld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áz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áz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Bázis</Template>
  <TotalTime>1123</TotalTime>
  <Words>604</Words>
  <Application>Microsoft Office PowerPoint</Application>
  <PresentationFormat>Diavetítés a képernyőre (4:3 oldalarány)</PresentationFormat>
  <Paragraphs>69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Calibri</vt:lpstr>
      <vt:lpstr>Corbel</vt:lpstr>
      <vt:lpstr>Helvetica Neue</vt:lpstr>
      <vt:lpstr>Times New Roman</vt:lpstr>
      <vt:lpstr>Bázis</vt:lpstr>
      <vt:lpstr>Magasszintű programnyelvek I.</vt:lpstr>
      <vt:lpstr>PowerPoint-bemutató</vt:lpstr>
      <vt:lpstr>Fordítók</vt:lpstr>
      <vt:lpstr>Fordítók</vt:lpstr>
      <vt:lpstr>Értelmezők (interpreter)</vt:lpstr>
      <vt:lpstr>Értelmezők (interpreter)</vt:lpstr>
      <vt:lpstr>Köztes nyelvek</vt:lpstr>
      <vt:lpstr>Köztes nyelvek</vt:lpstr>
      <vt:lpstr>.NET framework</vt:lpstr>
      <vt:lpstr>.NET architektúra</vt:lpstr>
      <vt:lpstr>Common Language Specification (CLS)</vt:lpstr>
      <vt:lpstr>A C# nyelv</vt:lpstr>
      <vt:lpstr>PowerPoint-bemutató</vt:lpstr>
    </vt:vector>
  </TitlesOfParts>
  <Company>rrr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térinformatika gyakorlati oktatása Vidékfejlesztési szakirányon</dc:title>
  <dc:creator>ppp</dc:creator>
  <cp:lastModifiedBy>Dr. Pántya Róbert</cp:lastModifiedBy>
  <cp:revision>240</cp:revision>
  <dcterms:created xsi:type="dcterms:W3CDTF">2002-08-24T19:27:11Z</dcterms:created>
  <dcterms:modified xsi:type="dcterms:W3CDTF">2026-09-11T11:57:28Z</dcterms:modified>
</cp:coreProperties>
</file>