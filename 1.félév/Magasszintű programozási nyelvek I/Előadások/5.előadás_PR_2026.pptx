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62" r:id="rId1"/>
  </p:sldMasterIdLst>
  <p:notesMasterIdLst>
    <p:notesMasterId r:id="rId36"/>
  </p:notesMasterIdLst>
  <p:handoutMasterIdLst>
    <p:handoutMasterId r:id="rId37"/>
  </p:handoutMasterIdLst>
  <p:sldIdLst>
    <p:sldId id="313" r:id="rId2"/>
    <p:sldId id="360" r:id="rId3"/>
    <p:sldId id="361" r:id="rId4"/>
    <p:sldId id="362" r:id="rId5"/>
    <p:sldId id="363" r:id="rId6"/>
    <p:sldId id="364" r:id="rId7"/>
    <p:sldId id="365" r:id="rId8"/>
    <p:sldId id="377" r:id="rId9"/>
    <p:sldId id="373" r:id="rId10"/>
    <p:sldId id="378" r:id="rId11"/>
    <p:sldId id="379" r:id="rId12"/>
    <p:sldId id="380" r:id="rId13"/>
    <p:sldId id="374" r:id="rId14"/>
    <p:sldId id="375" r:id="rId15"/>
    <p:sldId id="376" r:id="rId16"/>
    <p:sldId id="366" r:id="rId17"/>
    <p:sldId id="382" r:id="rId18"/>
    <p:sldId id="367" r:id="rId19"/>
    <p:sldId id="368" r:id="rId20"/>
    <p:sldId id="369" r:id="rId21"/>
    <p:sldId id="383" r:id="rId22"/>
    <p:sldId id="390" r:id="rId23"/>
    <p:sldId id="384" r:id="rId24"/>
    <p:sldId id="391" r:id="rId25"/>
    <p:sldId id="385" r:id="rId26"/>
    <p:sldId id="386" r:id="rId27"/>
    <p:sldId id="387" r:id="rId28"/>
    <p:sldId id="388" r:id="rId29"/>
    <p:sldId id="389" r:id="rId30"/>
    <p:sldId id="395" r:id="rId31"/>
    <p:sldId id="392" r:id="rId32"/>
    <p:sldId id="371" r:id="rId33"/>
    <p:sldId id="394" r:id="rId34"/>
    <p:sldId id="393" r:id="rId35"/>
  </p:sldIdLst>
  <p:sldSz cx="9144000" cy="6858000" type="screen4x3"/>
  <p:notesSz cx="10234613" cy="70993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99"/>
    <a:srgbClr val="CC99FF"/>
    <a:srgbClr val="9966FF"/>
    <a:srgbClr val="660033"/>
    <a:srgbClr val="FFFF99"/>
    <a:srgbClr val="FFFF00"/>
    <a:srgbClr val="FFFFCC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18" autoAdjust="0"/>
    <p:restoredTop sz="94660"/>
  </p:normalViewPr>
  <p:slideViewPr>
    <p:cSldViewPr>
      <p:cViewPr varScale="1">
        <p:scale>
          <a:sx n="75" d="100"/>
          <a:sy n="75" d="100"/>
        </p:scale>
        <p:origin x="1546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931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35475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6" tIns="49514" rIns="99026" bIns="4951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797550" y="0"/>
            <a:ext cx="4435475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6" tIns="49514" rIns="99026" bIns="4951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911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743700"/>
            <a:ext cx="4435475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6" tIns="49514" rIns="99026" bIns="4951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911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797550" y="6743700"/>
            <a:ext cx="4435475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6" tIns="49514" rIns="99026" bIns="4951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pPr>
              <a:defRPr/>
            </a:pPr>
            <a:fld id="{417184E1-40C3-4603-BF3A-6B824D1C7EBA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35475" cy="35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0" tIns="45709" rIns="91420" bIns="45709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797550" y="0"/>
            <a:ext cx="4435475" cy="35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0" tIns="45709" rIns="91420" bIns="4570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343275" y="531813"/>
            <a:ext cx="3549650" cy="26622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023938" y="3371850"/>
            <a:ext cx="8186737" cy="3195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0" tIns="45709" rIns="91420" bIns="4570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u-HU" altLang="hu-HU" noProof="0"/>
              <a:t>Mintaszöveg szerkesztése</a:t>
            </a:r>
          </a:p>
          <a:p>
            <a:pPr lvl="1"/>
            <a:r>
              <a:rPr lang="hu-HU" altLang="hu-HU" noProof="0"/>
              <a:t>Második szint</a:t>
            </a:r>
          </a:p>
          <a:p>
            <a:pPr lvl="2"/>
            <a:r>
              <a:rPr lang="hu-HU" altLang="hu-HU" noProof="0"/>
              <a:t>Harmadik szint</a:t>
            </a:r>
          </a:p>
          <a:p>
            <a:pPr lvl="3"/>
            <a:r>
              <a:rPr lang="hu-HU" altLang="hu-HU" noProof="0"/>
              <a:t>Negyedik szint</a:t>
            </a:r>
          </a:p>
          <a:p>
            <a:pPr lvl="4"/>
            <a:r>
              <a:rPr lang="hu-HU" altLang="hu-HU" noProof="0"/>
              <a:t>Ötödik szint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743700"/>
            <a:ext cx="4435475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0" tIns="45709" rIns="91420" bIns="45709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797550" y="6743700"/>
            <a:ext cx="4435475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0" tIns="45709" rIns="91420" bIns="4570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791F37C-294B-4432-8AB4-FFBB96AF91AC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38A1C9F-4D9C-417E-B468-3190C731B3B7}" type="slidenum">
              <a:rPr lang="hu-HU" altLang="hu-HU" sz="1200"/>
              <a:pPr/>
              <a:t>4</a:t>
            </a:fld>
            <a:endParaRPr lang="hu-HU" altLang="hu-HU" sz="12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9809816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A67DBB0-8A00-4175-A432-77860A7C6AE9}" type="slidenum">
              <a:rPr lang="hu-HU" altLang="hu-HU" sz="1200"/>
              <a:pPr/>
              <a:t>16</a:t>
            </a:fld>
            <a:endParaRPr lang="hu-HU" altLang="hu-HU" sz="120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10916555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6E61B30-73D0-4A8F-8BDC-2A035C465A70}" type="slidenum">
              <a:rPr lang="hu-HU" altLang="hu-HU" sz="1200"/>
              <a:pPr/>
              <a:t>17</a:t>
            </a:fld>
            <a:endParaRPr lang="hu-HU" altLang="hu-HU" sz="120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24837740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FA125B2-A315-497C-825C-9A3F220BA9FD}" type="slidenum">
              <a:rPr lang="hu-HU" altLang="hu-HU" sz="1200"/>
              <a:pPr/>
              <a:t>21</a:t>
            </a:fld>
            <a:endParaRPr lang="hu-HU" altLang="hu-HU" sz="120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19117943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952579C-0C3C-4813-8975-CD124326336F}" type="slidenum">
              <a:rPr lang="hu-HU" altLang="hu-HU" sz="1200"/>
              <a:pPr/>
              <a:t>23</a:t>
            </a:fld>
            <a:endParaRPr lang="hu-HU" altLang="hu-HU" sz="120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28852164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885EA28-828A-4C2F-AD46-60A20C8E1CD8}" type="slidenum">
              <a:rPr lang="hu-HU" altLang="hu-HU" sz="1200"/>
              <a:pPr/>
              <a:t>27</a:t>
            </a:fld>
            <a:endParaRPr lang="hu-HU" altLang="hu-HU" sz="120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28185025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292E3C0-3FC9-41BB-AB3A-16CCAB780DB0}" type="slidenum">
              <a:rPr lang="hu-HU" altLang="hu-HU" sz="1200"/>
              <a:pPr/>
              <a:t>29</a:t>
            </a:fld>
            <a:endParaRPr lang="hu-HU" altLang="hu-HU" sz="120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317735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79" y="182879"/>
            <a:ext cx="8778240" cy="64922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882376"/>
            <a:ext cx="747522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6000" b="1" cap="all" baseline="0">
                <a:solidFill>
                  <a:srgbClr val="FFFF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3869635"/>
            <a:ext cx="6575895" cy="1388165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rgbClr val="FFFFFF"/>
                </a:solidFill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236E1AB2-C598-4C6C-B107-8D6FC34C56EC}" type="slidenum">
              <a:rPr lang="hu-HU" altLang="hu-HU" smtClean="0"/>
              <a:pPr>
                <a:defRPr/>
              </a:pPr>
              <a:t>‹#›</a:t>
            </a:fld>
            <a:endParaRPr lang="hu-HU" altLang="hu-HU"/>
          </a:p>
        </p:txBody>
      </p:sp>
      <p:cxnSp>
        <p:nvCxnSpPr>
          <p:cNvPr id="8" name="Straight Connector 7"/>
          <p:cNvCxnSpPr/>
          <p:nvPr/>
        </p:nvCxnSpPr>
        <p:spPr>
          <a:xfrm>
            <a:off x="1483995" y="3733800"/>
            <a:ext cx="61722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058521"/>
      </p:ext>
    </p:extLst>
  </p:cSld>
  <p:clrMapOvr>
    <a:masterClrMapping/>
  </p:clrMapOvr>
  <p:transition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86FC42-5A53-4431-B383-BDDFBC8C4E13}" type="slidenum">
              <a:rPr lang="hu-HU" altLang="hu-HU" smtClean="0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1924646288"/>
      </p:ext>
    </p:extLst>
  </p:cSld>
  <p:clrMapOvr>
    <a:masterClrMapping/>
  </p:clrMapOvr>
  <p:transition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8" y="1173575"/>
            <a:ext cx="747522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000" b="0" cap="all" baseline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46" y="4154520"/>
            <a:ext cx="6576822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94C749-6B57-4DF2-B707-0B76C705FFFB}" type="slidenum">
              <a:rPr lang="hu-HU" altLang="hu-HU" smtClean="0"/>
              <a:pPr>
                <a:defRPr/>
              </a:pPr>
              <a:t>‹#›</a:t>
            </a:fld>
            <a:endParaRPr lang="hu-HU" altLang="hu-HU"/>
          </a:p>
        </p:txBody>
      </p:sp>
      <p:cxnSp>
        <p:nvCxnSpPr>
          <p:cNvPr id="7" name="Straight Connector 6"/>
          <p:cNvCxnSpPr/>
          <p:nvPr/>
        </p:nvCxnSpPr>
        <p:spPr>
          <a:xfrm>
            <a:off x="1485900" y="4020408"/>
            <a:ext cx="61722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0151230"/>
      </p:ext>
    </p:extLst>
  </p:cSld>
  <p:clrMapOvr>
    <a:masterClrMapping/>
  </p:clrMapOvr>
  <p:transition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50" y="2057399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709" y="2057400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26901B-6EE6-4E4B-919E-BDB8FA64FB7D}" type="slidenum">
              <a:rPr lang="hu-HU" altLang="hu-HU" smtClean="0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1329785967"/>
      </p:ext>
    </p:extLst>
  </p:cSld>
  <p:clrMapOvr>
    <a:masterClrMapping/>
  </p:clrMapOvr>
  <p:transition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0" y="2001511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50" y="2721483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1880" y="1999032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1880" y="2719322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3DF8EE-D935-43D1-81F9-12B1F9E00ABF}" type="slidenum">
              <a:rPr lang="hu-HU" altLang="hu-HU" smtClean="0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1817889640"/>
      </p:ext>
    </p:extLst>
  </p:cSld>
  <p:clrMapOvr>
    <a:masterClrMapping/>
  </p:clrMapOvr>
  <p:transition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6532AF-F837-42AC-8665-7B72B1DE6D1F}" type="slidenum">
              <a:rPr lang="hu-HU" altLang="hu-HU" smtClean="0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1648920766"/>
      </p:ext>
    </p:extLst>
  </p:cSld>
  <p:clrMapOvr>
    <a:masterClrMapping/>
  </p:clrMapOvr>
  <p:transition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25DAC3-6268-4845-835E-739A0D352A01}" type="slidenum">
              <a:rPr lang="hu-HU" altLang="hu-HU" smtClean="0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3318290870"/>
      </p:ext>
    </p:extLst>
  </p:cSld>
  <p:clrMapOvr>
    <a:masterClrMapping/>
  </p:clrMapOvr>
  <p:transition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9314" y="1097280"/>
            <a:ext cx="4149638" cy="466344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9260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F6463E-1E89-413D-8E28-561B5BD64EDD}" type="slidenum">
              <a:rPr lang="hu-HU" altLang="hu-HU" smtClean="0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3356775195"/>
      </p:ext>
    </p:extLst>
  </p:cSld>
  <p:clrMapOvr>
    <a:masterClrMapping/>
  </p:clrMapOvr>
  <p:transition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19107" y="1069847"/>
            <a:ext cx="4257703" cy="4645153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A6709C-88E0-4FA1-B90A-601B6A4327A3}" type="slidenum">
              <a:rPr lang="hu-HU" altLang="hu-HU" smtClean="0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4219667214"/>
      </p:ext>
    </p:extLst>
  </p:cSld>
  <p:clrMapOvr>
    <a:masterClrMapping/>
  </p:clrMapOvr>
  <p:transition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02D24B-F012-41B4-8E3C-0A10FE45862A}" type="slidenum">
              <a:rPr lang="hu-HU" altLang="hu-HU" smtClean="0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1482157796"/>
      </p:ext>
    </p:extLst>
  </p:cSld>
  <p:clrMapOvr>
    <a:masterClrMapping/>
  </p:clrMapOvr>
  <p:transition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762000"/>
            <a:ext cx="1743075" cy="5410200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250" y="762000"/>
            <a:ext cx="5572125" cy="5410200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0F871B-5A6E-4506-A262-47B44809D851}" type="slidenum">
              <a:rPr lang="hu-HU" altLang="hu-HU" smtClean="0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3307369188"/>
      </p:ext>
    </p:extLst>
  </p:cSld>
  <p:clrMapOvr>
    <a:masterClrMapping/>
  </p:clrMapOvr>
  <p:transition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1" y="2057400"/>
            <a:ext cx="7404653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0E58B67F-B3DF-4B7B-B06E-A3CB4A8942DD}" type="slidenum">
              <a:rPr lang="hu-HU" altLang="hu-HU" smtClean="0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3196552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ransition>
    <p:cover/>
  </p:transition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361950" indent="-327025" algn="l" defTabSz="6858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SzPct val="80000"/>
        <a:buFont typeface="Corbel" pitchFamily="34" charset="0"/>
        <a:buChar char="•"/>
        <a:defRPr sz="3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28650" indent="-26670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SzPct val="80000"/>
        <a:buFont typeface="Times New Roman" panose="02020603050405020304" pitchFamily="18" charset="0"/>
        <a:buChar char="-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SzPct val="80000"/>
        <a:buFont typeface="Corbel" pitchFamily="34" charset="0"/>
        <a:buChar char="•"/>
        <a:defRPr sz="1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92012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SzPct val="80000"/>
        <a:buFont typeface="Corbel" pitchFamily="34" charset="0"/>
        <a:buChar char="•"/>
        <a:defRPr sz="1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11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3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5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7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DE48E91-EF1B-81C7-A176-D59D98C01C5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404813"/>
            <a:ext cx="8001000" cy="2232025"/>
          </a:xfrm>
        </p:spPr>
        <p:txBody>
          <a:bodyPr rtlCol="0"/>
          <a:lstStyle/>
          <a:p>
            <a:pPr>
              <a:defRPr/>
            </a:pPr>
            <a:r>
              <a:rPr lang="hu-HU" altLang="hu-HU" sz="4600" dirty="0"/>
              <a:t>Magasszintű programnyelvek I.</a:t>
            </a:r>
            <a:endParaRPr lang="hu-HU" altLang="hu-HU" sz="4800" dirty="0">
              <a:solidFill>
                <a:schemeClr val="tx1"/>
              </a:solidFill>
            </a:endParaRP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2ED65F95-C029-5B48-1357-AACF4C837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675" y="4149725"/>
            <a:ext cx="8001000" cy="215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SzPct val="80000"/>
              <a:buFont typeface="Corbel" panose="020B0503020204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hu-HU" altLang="hu-HU" sz="4200" dirty="0">
                <a:solidFill>
                  <a:schemeClr val="bg1"/>
                </a:solidFill>
              </a:rPr>
              <a:t>Készítette: Dr. Pántya Róbert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hu-HU" altLang="hu-HU" sz="4200" dirty="0">
                <a:solidFill>
                  <a:schemeClr val="bg1"/>
                </a:solidFill>
              </a:rPr>
              <a:t>pantya.robert@uni-mate.hu</a:t>
            </a:r>
            <a:endParaRPr lang="hu-HU" altLang="hu-HU" sz="4400" dirty="0">
              <a:solidFill>
                <a:schemeClr val="bg1"/>
              </a:solidFill>
            </a:endParaRPr>
          </a:p>
        </p:txBody>
      </p:sp>
      <p:sp>
        <p:nvSpPr>
          <p:cNvPr id="6148" name="Rectangle 6">
            <a:extLst>
              <a:ext uri="{FF2B5EF4-FFF2-40B4-BE49-F238E27FC236}">
                <a16:creationId xmlns:a16="http://schemas.microsoft.com/office/drawing/2014/main" id="{959A9D39-A69C-B191-9676-8BAEF79AF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675" y="2565400"/>
            <a:ext cx="80010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SzPct val="80000"/>
              <a:buFont typeface="Corbel" panose="020B0503020204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hu-HU" altLang="hu-HU" sz="4200" dirty="0">
                <a:solidFill>
                  <a:schemeClr val="bg1"/>
                </a:solidFill>
              </a:rPr>
              <a:t>5.előadás</a:t>
            </a:r>
            <a:endParaRPr lang="hu-HU" altLang="hu-HU" sz="4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Dia számának helye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1187248-31AF-4E17-92D7-26BA8DB2528D}" type="slidenum">
              <a:rPr lang="hu-HU" altLang="hu-HU" sz="1400"/>
              <a:pPr/>
              <a:t>2</a:t>
            </a:fld>
            <a:endParaRPr lang="hu-HU" altLang="hu-HU" sz="1400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15888"/>
            <a:ext cx="7775575" cy="1009650"/>
          </a:xfrm>
        </p:spPr>
        <p:txBody>
          <a:bodyPr/>
          <a:lstStyle/>
          <a:p>
            <a:r>
              <a:rPr lang="hu-HU" altLang="hu-HU" sz="4000" b="1">
                <a:solidFill>
                  <a:schemeClr val="tx1"/>
                </a:solidFill>
              </a:rPr>
              <a:t>Vezérlési szerkezetek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125538"/>
            <a:ext cx="8569325" cy="5472112"/>
          </a:xfrm>
        </p:spPr>
        <p:txBody>
          <a:bodyPr/>
          <a:lstStyle/>
          <a:p>
            <a:pPr>
              <a:spcBef>
                <a:spcPct val="10000"/>
              </a:spcBef>
            </a:pPr>
            <a:r>
              <a:rPr lang="hu-HU" altLang="hu-HU" b="1" dirty="0"/>
              <a:t>Szekvencia</a:t>
            </a:r>
          </a:p>
          <a:p>
            <a:pPr>
              <a:spcBef>
                <a:spcPct val="10000"/>
              </a:spcBef>
            </a:pPr>
            <a:r>
              <a:rPr lang="hu-HU" altLang="hu-HU" b="1" dirty="0" err="1"/>
              <a:t>Elágázás</a:t>
            </a:r>
            <a:r>
              <a:rPr lang="hu-HU" altLang="hu-HU" b="1" dirty="0"/>
              <a:t> (szelekció)</a:t>
            </a:r>
          </a:p>
          <a:p>
            <a:pPr lvl="1">
              <a:spcBef>
                <a:spcPct val="10000"/>
              </a:spcBef>
            </a:pPr>
            <a:r>
              <a:rPr lang="hu-HU" altLang="hu-HU" dirty="0"/>
              <a:t>egyágú,</a:t>
            </a:r>
          </a:p>
          <a:p>
            <a:pPr lvl="1">
              <a:spcBef>
                <a:spcPct val="10000"/>
              </a:spcBef>
            </a:pPr>
            <a:r>
              <a:rPr lang="hu-HU" altLang="hu-HU" dirty="0"/>
              <a:t>kétágú,</a:t>
            </a:r>
          </a:p>
          <a:p>
            <a:pPr lvl="1">
              <a:spcBef>
                <a:spcPct val="10000"/>
              </a:spcBef>
            </a:pPr>
            <a:r>
              <a:rPr lang="hu-HU" altLang="hu-HU" dirty="0"/>
              <a:t>többágú,</a:t>
            </a:r>
          </a:p>
          <a:p>
            <a:pPr lvl="1">
              <a:spcBef>
                <a:spcPct val="10000"/>
              </a:spcBef>
            </a:pPr>
            <a:r>
              <a:rPr lang="hu-HU" altLang="hu-HU" dirty="0"/>
              <a:t>esetszétválasztás.</a:t>
            </a:r>
          </a:p>
          <a:p>
            <a:pPr>
              <a:spcBef>
                <a:spcPct val="10000"/>
              </a:spcBef>
            </a:pPr>
            <a:r>
              <a:rPr lang="hu-HU" altLang="hu-HU" b="1" dirty="0"/>
              <a:t>Ciklus</a:t>
            </a:r>
            <a:r>
              <a:rPr lang="hu-HU" altLang="hu-HU" dirty="0"/>
              <a:t> </a:t>
            </a:r>
            <a:r>
              <a:rPr lang="hu-HU" altLang="hu-HU" b="1" dirty="0"/>
              <a:t>(iteráció)</a:t>
            </a:r>
          </a:p>
          <a:p>
            <a:pPr lvl="1">
              <a:spcBef>
                <a:spcPct val="10000"/>
              </a:spcBef>
            </a:pPr>
            <a:r>
              <a:rPr lang="hu-HU" altLang="hu-HU" dirty="0" err="1"/>
              <a:t>elöltesztelő</a:t>
            </a:r>
            <a:r>
              <a:rPr lang="hu-HU" altLang="hu-HU" dirty="0"/>
              <a:t>(s),</a:t>
            </a:r>
          </a:p>
          <a:p>
            <a:pPr lvl="1">
              <a:spcBef>
                <a:spcPct val="10000"/>
              </a:spcBef>
            </a:pPr>
            <a:r>
              <a:rPr lang="hu-HU" altLang="hu-HU" dirty="0" err="1"/>
              <a:t>hátultesztelő</a:t>
            </a:r>
            <a:r>
              <a:rPr lang="hu-HU" altLang="hu-HU" dirty="0"/>
              <a:t>(s),</a:t>
            </a:r>
          </a:p>
          <a:p>
            <a:pPr lvl="1">
              <a:spcBef>
                <a:spcPct val="10000"/>
              </a:spcBef>
            </a:pPr>
            <a:r>
              <a:rPr lang="hu-HU" altLang="hu-HU" dirty="0" err="1"/>
              <a:t>for</a:t>
            </a:r>
            <a:r>
              <a:rPr lang="hu-HU" altLang="hu-HU" dirty="0"/>
              <a:t> ciklus,</a:t>
            </a:r>
          </a:p>
          <a:p>
            <a:pPr lvl="1">
              <a:spcBef>
                <a:spcPct val="10000"/>
              </a:spcBef>
            </a:pPr>
            <a:r>
              <a:rPr lang="hu-HU" altLang="hu-HU" dirty="0" err="1"/>
              <a:t>foreach</a:t>
            </a:r>
            <a:r>
              <a:rPr lang="hu-HU" altLang="hu-HU" dirty="0"/>
              <a:t> ciklus.</a:t>
            </a:r>
          </a:p>
        </p:txBody>
      </p:sp>
    </p:spTree>
    <p:extLst>
      <p:ext uri="{BB962C8B-B14F-4D97-AF65-F5344CB8AC3E}">
        <p14:creationId xmlns:p14="http://schemas.microsoft.com/office/powerpoint/2010/main" val="71705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Dia számának helye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9414820-0413-4882-A8EF-0F8A57A33F9D}" type="slidenum">
              <a:rPr lang="hu-HU" altLang="hu-HU" sz="1400"/>
              <a:pPr/>
              <a:t>3</a:t>
            </a:fld>
            <a:endParaRPr lang="hu-HU" altLang="hu-HU" sz="1400"/>
          </a:p>
        </p:txBody>
      </p:sp>
      <p:sp>
        <p:nvSpPr>
          <p:cNvPr id="40963" name="Rectangle 2"/>
          <p:cNvSpPr>
            <a:spLocks noChangeArrowheads="1"/>
          </p:cNvSpPr>
          <p:nvPr/>
        </p:nvSpPr>
        <p:spPr bwMode="auto">
          <a:xfrm>
            <a:off x="250825" y="188913"/>
            <a:ext cx="33782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444" tIns="43722" rIns="87444" bIns="43722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u-HU" sz="3200" b="1" u="sng">
                <a:solidFill>
                  <a:schemeClr val="tx2"/>
                </a:solidFill>
              </a:rPr>
              <a:t>Szekvencia</a:t>
            </a:r>
            <a:endParaRPr lang="en-US" altLang="hu-HU" sz="3200">
              <a:solidFill>
                <a:schemeClr val="tx2"/>
              </a:solidFill>
            </a:endParaRPr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5580063" y="404813"/>
            <a:ext cx="2665412" cy="4603750"/>
            <a:chOff x="3515" y="255"/>
            <a:chExt cx="1679" cy="2900"/>
          </a:xfrm>
        </p:grpSpPr>
        <p:sp>
          <p:nvSpPr>
            <p:cNvPr id="40981" name="Rectangle 4"/>
            <p:cNvSpPr>
              <a:spLocks noChangeArrowheads="1"/>
            </p:cNvSpPr>
            <p:nvPr/>
          </p:nvSpPr>
          <p:spPr bwMode="auto">
            <a:xfrm>
              <a:off x="3878" y="1389"/>
              <a:ext cx="1316" cy="1766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2700" tIns="12700" rIns="12700" bIns="12700"/>
            <a:lstStyle>
              <a:lvl1pPr>
                <a:tabLst>
                  <a:tab pos="3810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tabLst>
                  <a:tab pos="3810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tabLst>
                  <a:tab pos="3810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tabLst>
                  <a:tab pos="3810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tabLst>
                  <a:tab pos="3810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hu-HU" altLang="hu-HU" sz="2800" b="1" dirty="0">
                  <a:solidFill>
                    <a:srgbClr val="000000"/>
                  </a:solidFill>
                </a:rPr>
                <a:t> {</a:t>
              </a:r>
            </a:p>
            <a:p>
              <a:r>
                <a:rPr lang="en-AU" altLang="hu-HU" sz="2800" b="1" dirty="0">
                  <a:solidFill>
                    <a:srgbClr val="000000"/>
                  </a:solidFill>
                </a:rPr>
                <a:t>	U</a:t>
              </a:r>
              <a:r>
                <a:rPr lang="hu-HU" altLang="hu-HU" sz="2800" b="1" dirty="0">
                  <a:solidFill>
                    <a:srgbClr val="000000"/>
                  </a:solidFill>
                </a:rPr>
                <a:t>1</a:t>
              </a:r>
              <a:r>
                <a:rPr lang="en-AU" altLang="hu-HU" sz="2800" b="1" dirty="0">
                  <a:solidFill>
                    <a:srgbClr val="000000"/>
                  </a:solidFill>
                </a:rPr>
                <a:t> ;</a:t>
              </a:r>
              <a:br>
                <a:rPr lang="en-AU" altLang="hu-HU" sz="2800" b="1" dirty="0">
                  <a:solidFill>
                    <a:srgbClr val="000000"/>
                  </a:solidFill>
                </a:rPr>
              </a:br>
              <a:r>
                <a:rPr lang="en-AU" altLang="hu-HU" sz="2800" b="1" dirty="0">
                  <a:solidFill>
                    <a:srgbClr val="000000"/>
                  </a:solidFill>
                </a:rPr>
                <a:t>	U2 ;</a:t>
              </a:r>
              <a:br>
                <a:rPr lang="en-AU" altLang="hu-HU" sz="2800" b="1" dirty="0">
                  <a:solidFill>
                    <a:srgbClr val="000000"/>
                  </a:solidFill>
                </a:rPr>
              </a:br>
              <a:r>
                <a:rPr lang="en-AU" altLang="hu-HU" sz="2800" b="1" dirty="0">
                  <a:solidFill>
                    <a:srgbClr val="000000"/>
                  </a:solidFill>
                </a:rPr>
                <a:t>	...</a:t>
              </a:r>
              <a:br>
                <a:rPr lang="en-AU" altLang="hu-HU" sz="2800" b="1" dirty="0">
                  <a:solidFill>
                    <a:srgbClr val="000000"/>
                  </a:solidFill>
                </a:rPr>
              </a:br>
              <a:r>
                <a:rPr lang="en-AU" altLang="hu-HU" sz="2800" b="1" dirty="0">
                  <a:solidFill>
                    <a:srgbClr val="000000"/>
                  </a:solidFill>
                </a:rPr>
                <a:t>	Un ;</a:t>
              </a:r>
              <a:endParaRPr lang="hu-HU" altLang="hu-HU" sz="2800" b="1" dirty="0">
                <a:solidFill>
                  <a:srgbClr val="000000"/>
                </a:solidFill>
              </a:endParaRPr>
            </a:p>
            <a:p>
              <a:r>
                <a:rPr lang="hu-HU" altLang="hu-HU" sz="2800" b="1" dirty="0">
                  <a:solidFill>
                    <a:srgbClr val="000000"/>
                  </a:solidFill>
                </a:rPr>
                <a:t> }</a:t>
              </a:r>
              <a:endParaRPr lang="en-AU" altLang="hu-HU" sz="2200" dirty="0"/>
            </a:p>
          </p:txBody>
        </p:sp>
        <p:sp>
          <p:nvSpPr>
            <p:cNvPr id="40982" name="AutoShape 5"/>
            <p:cNvSpPr>
              <a:spLocks noChangeArrowheads="1"/>
            </p:cNvSpPr>
            <p:nvPr/>
          </p:nvSpPr>
          <p:spPr bwMode="auto">
            <a:xfrm>
              <a:off x="3515" y="255"/>
              <a:ext cx="1343" cy="432"/>
            </a:xfrm>
            <a:prstGeom prst="wedgeRoundRectCallout">
              <a:avLst>
                <a:gd name="adj1" fmla="val 31981"/>
                <a:gd name="adj2" fmla="val 201620"/>
                <a:gd name="adj3" fmla="val 16667"/>
              </a:avLst>
            </a:prstGeom>
            <a:solidFill>
              <a:srgbClr val="DACFBE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marL="342900" indent="-3429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hu-HU" altLang="hu-HU" sz="2800">
                  <a:solidFill>
                    <a:srgbClr val="000000"/>
                  </a:solidFill>
                </a:rPr>
                <a:t>C#</a:t>
              </a:r>
              <a:r>
                <a:rPr lang="en-US" altLang="hu-HU" sz="2800">
                  <a:solidFill>
                    <a:srgbClr val="000000"/>
                  </a:solidFill>
                </a:rPr>
                <a:t> kód</a:t>
              </a:r>
            </a:p>
          </p:txBody>
        </p:sp>
      </p:grpSp>
      <p:grpSp>
        <p:nvGrpSpPr>
          <p:cNvPr id="3" name="Group 22"/>
          <p:cNvGrpSpPr>
            <a:grpSpLocks/>
          </p:cNvGrpSpPr>
          <p:nvPr/>
        </p:nvGrpSpPr>
        <p:grpSpPr bwMode="auto">
          <a:xfrm>
            <a:off x="250825" y="1196975"/>
            <a:ext cx="4044950" cy="3514725"/>
            <a:chOff x="158" y="754"/>
            <a:chExt cx="2548" cy="2214"/>
          </a:xfrm>
        </p:grpSpPr>
        <p:grpSp>
          <p:nvGrpSpPr>
            <p:cNvPr id="40969" name="Group 7"/>
            <p:cNvGrpSpPr>
              <a:grpSpLocks/>
            </p:cNvGrpSpPr>
            <p:nvPr/>
          </p:nvGrpSpPr>
          <p:grpSpPr bwMode="auto">
            <a:xfrm>
              <a:off x="2018" y="1117"/>
              <a:ext cx="688" cy="1851"/>
              <a:chOff x="57" y="-1"/>
              <a:chExt cx="19890" cy="20004"/>
            </a:xfrm>
          </p:grpSpPr>
          <p:grpSp>
            <p:nvGrpSpPr>
              <p:cNvPr id="40971" name="Group 8"/>
              <p:cNvGrpSpPr>
                <a:grpSpLocks/>
              </p:cNvGrpSpPr>
              <p:nvPr/>
            </p:nvGrpSpPr>
            <p:grpSpPr bwMode="auto">
              <a:xfrm>
                <a:off x="57" y="-1"/>
                <a:ext cx="19890" cy="5803"/>
                <a:chOff x="57" y="-3"/>
                <a:chExt cx="19890" cy="20003"/>
              </a:xfrm>
            </p:grpSpPr>
            <p:sp>
              <p:nvSpPr>
                <p:cNvPr id="40979" name="Line 9"/>
                <p:cNvSpPr>
                  <a:spLocks noChangeShapeType="1"/>
                </p:cNvSpPr>
                <p:nvPr/>
              </p:nvSpPr>
              <p:spPr bwMode="auto">
                <a:xfrm>
                  <a:off x="10425" y="7815"/>
                  <a:ext cx="18" cy="1218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40980" name="Rectangle 10"/>
                <p:cNvSpPr>
                  <a:spLocks noChangeArrowheads="1"/>
                </p:cNvSpPr>
                <p:nvPr/>
              </p:nvSpPr>
              <p:spPr bwMode="auto">
                <a:xfrm>
                  <a:off x="57" y="-3"/>
                  <a:ext cx="19890" cy="11606"/>
                </a:xfrm>
                <a:prstGeom prst="rect">
                  <a:avLst/>
                </a:prstGeom>
                <a:solidFill>
                  <a:srgbClr val="F2F2F2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12700" tIns="12700" rIns="12700" bIns="12700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  <a:spcBef>
                      <a:spcPts val="200"/>
                    </a:spcBef>
                    <a:spcAft>
                      <a:spcPts val="300"/>
                    </a:spcAft>
                  </a:pPr>
                  <a:r>
                    <a:rPr lang="hu-HU" altLang="hu-HU" sz="2200">
                      <a:solidFill>
                        <a:srgbClr val="000000"/>
                      </a:solidFill>
                    </a:rPr>
                    <a:t>U1</a:t>
                  </a:r>
                </a:p>
              </p:txBody>
            </p:sp>
          </p:grpSp>
          <p:grpSp>
            <p:nvGrpSpPr>
              <p:cNvPr id="40972" name="Group 11"/>
              <p:cNvGrpSpPr>
                <a:grpSpLocks/>
              </p:cNvGrpSpPr>
              <p:nvPr/>
            </p:nvGrpSpPr>
            <p:grpSpPr bwMode="auto">
              <a:xfrm>
                <a:off x="57" y="5941"/>
                <a:ext cx="19890" cy="5803"/>
                <a:chOff x="57" y="1"/>
                <a:chExt cx="19890" cy="19999"/>
              </a:xfrm>
            </p:grpSpPr>
            <p:sp>
              <p:nvSpPr>
                <p:cNvPr id="40977" name="Line 12"/>
                <p:cNvSpPr>
                  <a:spLocks noChangeShapeType="1"/>
                </p:cNvSpPr>
                <p:nvPr/>
              </p:nvSpPr>
              <p:spPr bwMode="auto">
                <a:xfrm>
                  <a:off x="10425" y="7817"/>
                  <a:ext cx="18" cy="1218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40978" name="Rectangle 13"/>
                <p:cNvSpPr>
                  <a:spLocks noChangeArrowheads="1"/>
                </p:cNvSpPr>
                <p:nvPr/>
              </p:nvSpPr>
              <p:spPr bwMode="auto">
                <a:xfrm>
                  <a:off x="57" y="1"/>
                  <a:ext cx="19890" cy="11604"/>
                </a:xfrm>
                <a:prstGeom prst="rect">
                  <a:avLst/>
                </a:prstGeom>
                <a:solidFill>
                  <a:srgbClr val="F2F2F2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12700" tIns="12700" rIns="12700" bIns="12700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  <a:spcBef>
                      <a:spcPts val="200"/>
                    </a:spcBef>
                    <a:spcAft>
                      <a:spcPts val="300"/>
                    </a:spcAft>
                  </a:pPr>
                  <a:r>
                    <a:rPr lang="hu-HU" altLang="hu-HU" sz="2200">
                      <a:solidFill>
                        <a:srgbClr val="000000"/>
                      </a:solidFill>
                    </a:rPr>
                    <a:t>U2</a:t>
                  </a:r>
                </a:p>
              </p:txBody>
            </p:sp>
          </p:grpSp>
          <p:sp>
            <p:nvSpPr>
              <p:cNvPr id="40973" name="Rectangle 14"/>
              <p:cNvSpPr>
                <a:spLocks noChangeArrowheads="1"/>
              </p:cNvSpPr>
              <p:nvPr/>
            </p:nvSpPr>
            <p:spPr bwMode="auto">
              <a:xfrm>
                <a:off x="2865" y="11199"/>
                <a:ext cx="14922" cy="22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AU" altLang="hu-HU" sz="2200">
                    <a:solidFill>
                      <a:srgbClr val="000000"/>
                    </a:solidFill>
                  </a:rPr>
                  <a:t>...</a:t>
                </a:r>
              </a:p>
            </p:txBody>
          </p:sp>
          <p:grpSp>
            <p:nvGrpSpPr>
              <p:cNvPr id="40974" name="Group 15"/>
              <p:cNvGrpSpPr>
                <a:grpSpLocks/>
              </p:cNvGrpSpPr>
              <p:nvPr/>
            </p:nvGrpSpPr>
            <p:grpSpPr bwMode="auto">
              <a:xfrm>
                <a:off x="57" y="14160"/>
                <a:ext cx="19890" cy="5843"/>
                <a:chOff x="0" y="0"/>
                <a:chExt cx="20000" cy="20000"/>
              </a:xfrm>
            </p:grpSpPr>
            <p:sp>
              <p:nvSpPr>
                <p:cNvPr id="40975" name="Rectangle 16"/>
                <p:cNvSpPr>
                  <a:spLocks noChangeArrowheads="1"/>
                </p:cNvSpPr>
                <p:nvPr/>
              </p:nvSpPr>
              <p:spPr bwMode="auto">
                <a:xfrm>
                  <a:off x="0" y="8475"/>
                  <a:ext cx="20000" cy="11525"/>
                </a:xfrm>
                <a:prstGeom prst="rect">
                  <a:avLst/>
                </a:prstGeom>
                <a:solidFill>
                  <a:srgbClr val="F2F2F2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12700" tIns="12700" rIns="12700" bIns="12700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  <a:spcBef>
                      <a:spcPts val="200"/>
                    </a:spcBef>
                    <a:spcAft>
                      <a:spcPts val="300"/>
                    </a:spcAft>
                  </a:pPr>
                  <a:r>
                    <a:rPr lang="hu-HU" altLang="hu-HU" sz="2200">
                      <a:solidFill>
                        <a:srgbClr val="000000"/>
                      </a:solidFill>
                    </a:rPr>
                    <a:t>Un</a:t>
                  </a:r>
                </a:p>
              </p:txBody>
            </p:sp>
            <p:sp>
              <p:nvSpPr>
                <p:cNvPr id="40976" name="Line 17"/>
                <p:cNvSpPr>
                  <a:spLocks noChangeShapeType="1"/>
                </p:cNvSpPr>
                <p:nvPr/>
              </p:nvSpPr>
              <p:spPr bwMode="auto">
                <a:xfrm>
                  <a:off x="10425" y="0"/>
                  <a:ext cx="18" cy="796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</p:grpSp>
        </p:grpSp>
        <p:sp>
          <p:nvSpPr>
            <p:cNvPr id="40970" name="AutoShape 18"/>
            <p:cNvSpPr>
              <a:spLocks noChangeArrowheads="1"/>
            </p:cNvSpPr>
            <p:nvPr/>
          </p:nvSpPr>
          <p:spPr bwMode="auto">
            <a:xfrm>
              <a:off x="158" y="754"/>
              <a:ext cx="1452" cy="486"/>
            </a:xfrm>
            <a:prstGeom prst="wedgeRoundRectCallout">
              <a:avLst>
                <a:gd name="adj1" fmla="val 64051"/>
                <a:gd name="adj2" fmla="val 150000"/>
                <a:gd name="adj3" fmla="val 16667"/>
              </a:avLst>
            </a:prstGeom>
            <a:solidFill>
              <a:srgbClr val="DACFBE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marL="342900" indent="-3429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hu-HU" sz="2800">
                  <a:solidFill>
                    <a:srgbClr val="000000"/>
                  </a:solidFill>
                </a:rPr>
                <a:t>Folyamatábra</a:t>
              </a: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250825" y="5157788"/>
            <a:ext cx="5400675" cy="1554162"/>
            <a:chOff x="158" y="3249"/>
            <a:chExt cx="3402" cy="979"/>
          </a:xfrm>
        </p:grpSpPr>
        <p:sp>
          <p:nvSpPr>
            <p:cNvPr id="40967" name="AutoShape 20"/>
            <p:cNvSpPr>
              <a:spLocks noChangeArrowheads="1"/>
            </p:cNvSpPr>
            <p:nvPr/>
          </p:nvSpPr>
          <p:spPr bwMode="auto">
            <a:xfrm>
              <a:off x="158" y="3475"/>
              <a:ext cx="1824" cy="576"/>
            </a:xfrm>
            <a:prstGeom prst="wedgeRoundRectCallout">
              <a:avLst>
                <a:gd name="adj1" fmla="val 84319"/>
                <a:gd name="adj2" fmla="val -29167"/>
                <a:gd name="adj3" fmla="val 16667"/>
              </a:avLst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hu-HU" altLang="hu-HU" sz="2800"/>
                <a:t>Mondatszerű leírás</a:t>
              </a:r>
              <a:endParaRPr lang="hu-HU" altLang="hu-HU"/>
            </a:p>
          </p:txBody>
        </p:sp>
        <p:sp>
          <p:nvSpPr>
            <p:cNvPr id="40968" name="Text Box 21"/>
            <p:cNvSpPr txBox="1">
              <a:spLocks noChangeArrowheads="1"/>
            </p:cNvSpPr>
            <p:nvPr/>
          </p:nvSpPr>
          <p:spPr bwMode="auto">
            <a:xfrm>
              <a:off x="2789" y="3249"/>
              <a:ext cx="771" cy="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hu-HU" altLang="hu-HU" sz="3200" b="1"/>
                <a:t>U1</a:t>
              </a:r>
            </a:p>
            <a:p>
              <a:r>
                <a:rPr lang="hu-HU" altLang="hu-HU" sz="3200" b="1"/>
                <a:t>U2</a:t>
              </a:r>
            </a:p>
            <a:p>
              <a:r>
                <a:rPr lang="hu-HU" altLang="hu-HU" sz="3200" b="1"/>
                <a:t>U3</a:t>
              </a:r>
              <a:endParaRPr lang="hu-HU" altLang="hu-HU"/>
            </a:p>
          </p:txBody>
        </p:sp>
      </p:grpSp>
    </p:spTree>
    <p:extLst>
      <p:ext uri="{BB962C8B-B14F-4D97-AF65-F5344CB8AC3E}">
        <p14:creationId xmlns:p14="http://schemas.microsoft.com/office/powerpoint/2010/main" val="873074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Dia számának helye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7B0E15F-0F3E-4C54-B25D-CB0BBFC587F1}" type="slidenum">
              <a:rPr lang="hu-HU" altLang="hu-HU" sz="1400"/>
              <a:pPr/>
              <a:t>4</a:t>
            </a:fld>
            <a:endParaRPr lang="hu-HU" altLang="hu-HU" sz="1400"/>
          </a:p>
        </p:txBody>
      </p:sp>
      <p:sp>
        <p:nvSpPr>
          <p:cNvPr id="41987" name="Text Box 2"/>
          <p:cNvSpPr txBox="1">
            <a:spLocks noChangeArrowheads="1"/>
          </p:cNvSpPr>
          <p:nvPr/>
        </p:nvSpPr>
        <p:spPr bwMode="auto">
          <a:xfrm>
            <a:off x="468313" y="1052513"/>
            <a:ext cx="8064500" cy="514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hu-HU" altLang="hu-HU" sz="3200"/>
              <a:t>Az elágazás lehetővé teszi </a:t>
            </a:r>
            <a:r>
              <a:rPr lang="hu-HU" altLang="hu-HU" sz="3200" b="1" i="1"/>
              <a:t>feltételek</a:t>
            </a:r>
            <a:r>
              <a:rPr lang="hu-HU" altLang="hu-HU" sz="3200"/>
              <a:t> vizsgálatát.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hu-HU" altLang="hu-HU" sz="3200"/>
              <a:t>A </a:t>
            </a:r>
            <a:r>
              <a:rPr lang="hu-HU" altLang="hu-HU" sz="3200" b="1" i="1"/>
              <a:t>feltételek</a:t>
            </a:r>
            <a:r>
              <a:rPr lang="hu-HU" altLang="hu-HU" sz="3200"/>
              <a:t> kiértékelésétől (igaz – hamis) </a:t>
            </a:r>
            <a:r>
              <a:rPr lang="hu-HU" altLang="hu-HU" sz="3200" b="1" i="1"/>
              <a:t>függően</a:t>
            </a:r>
            <a:r>
              <a:rPr lang="hu-HU" altLang="hu-HU" sz="3200"/>
              <a:t> a program végrehajtása </a:t>
            </a:r>
            <a:r>
              <a:rPr lang="hu-HU" altLang="hu-HU" sz="3200" b="1" i="1"/>
              <a:t>elágazhat</a:t>
            </a:r>
            <a:r>
              <a:rPr lang="hu-HU" altLang="hu-HU" sz="3200"/>
              <a:t>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hu-HU" altLang="hu-HU" sz="3200"/>
              <a:t>Ha az egyes ágakban </a:t>
            </a:r>
            <a:r>
              <a:rPr lang="hu-HU" altLang="hu-HU" sz="3200" b="1" i="1"/>
              <a:t>több utasítást</a:t>
            </a:r>
            <a:r>
              <a:rPr lang="hu-HU" altLang="hu-HU" sz="3200"/>
              <a:t> is végre szeretnénk hajtani, azokat</a:t>
            </a:r>
            <a:r>
              <a:rPr lang="hu-HU" altLang="hu-HU" sz="3200" b="1"/>
              <a:t> {</a:t>
            </a:r>
            <a:r>
              <a:rPr lang="hu-HU" altLang="hu-HU" sz="3200"/>
              <a:t> és </a:t>
            </a:r>
            <a:r>
              <a:rPr lang="hu-HU" altLang="hu-HU" sz="3200" b="1"/>
              <a:t>}</a:t>
            </a:r>
            <a:r>
              <a:rPr lang="hu-HU" altLang="hu-HU" sz="3200"/>
              <a:t> közé kell tenni.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hu-HU" altLang="hu-HU" sz="3200"/>
              <a:t>Elágazásokat </a:t>
            </a:r>
            <a:r>
              <a:rPr lang="hu-HU" altLang="hu-HU" sz="3200" u="sng"/>
              <a:t>egymásba is ágyazhatunk</a:t>
            </a:r>
            <a:r>
              <a:rPr lang="hu-HU" altLang="hu-HU" sz="3200"/>
              <a:t>.</a:t>
            </a:r>
          </a:p>
        </p:txBody>
      </p:sp>
      <p:sp>
        <p:nvSpPr>
          <p:cNvPr id="41988" name="Text Box 3"/>
          <p:cNvSpPr txBox="1">
            <a:spLocks noChangeArrowheads="1"/>
          </p:cNvSpPr>
          <p:nvPr/>
        </p:nvSpPr>
        <p:spPr bwMode="auto">
          <a:xfrm>
            <a:off x="250825" y="260350"/>
            <a:ext cx="6858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hu-HU" altLang="hu-HU" sz="3200" b="1" u="sng"/>
              <a:t>Elágazás:</a:t>
            </a:r>
          </a:p>
        </p:txBody>
      </p:sp>
    </p:spTree>
    <p:extLst>
      <p:ext uri="{BB962C8B-B14F-4D97-AF65-F5344CB8AC3E}">
        <p14:creationId xmlns:p14="http://schemas.microsoft.com/office/powerpoint/2010/main" val="1057119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Dia számának helye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F728AEA-E981-43BE-B548-8FDCA36B6938}" type="slidenum">
              <a:rPr lang="hu-HU" altLang="hu-HU" sz="1400"/>
              <a:pPr/>
              <a:t>5</a:t>
            </a:fld>
            <a:endParaRPr lang="hu-HU" altLang="hu-HU" sz="1400"/>
          </a:p>
        </p:txBody>
      </p:sp>
      <p:sp>
        <p:nvSpPr>
          <p:cNvPr id="43011" name="Rectangle 2"/>
          <p:cNvSpPr>
            <a:spLocks noChangeArrowheads="1"/>
          </p:cNvSpPr>
          <p:nvPr/>
        </p:nvSpPr>
        <p:spPr bwMode="auto">
          <a:xfrm>
            <a:off x="382588" y="228600"/>
            <a:ext cx="4722812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444" tIns="43722" rIns="87444" bIns="43722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u-HU" sz="3600" b="1">
                <a:solidFill>
                  <a:schemeClr val="tx2"/>
                </a:solidFill>
              </a:rPr>
              <a:t>Egyágú elágazás</a:t>
            </a:r>
            <a:br>
              <a:rPr lang="en-US" altLang="hu-HU" sz="3600" b="1">
                <a:solidFill>
                  <a:schemeClr val="tx2"/>
                </a:solidFill>
              </a:rPr>
            </a:br>
            <a:r>
              <a:rPr lang="hu-HU" altLang="hu-HU" sz="3200">
                <a:solidFill>
                  <a:schemeClr val="tx2"/>
                </a:solidFill>
              </a:rPr>
              <a:t>i</a:t>
            </a:r>
            <a:r>
              <a:rPr lang="en-US" altLang="hu-HU" sz="3200">
                <a:solidFill>
                  <a:schemeClr val="tx2"/>
                </a:solidFill>
              </a:rPr>
              <a:t>f </a:t>
            </a:r>
            <a:r>
              <a:rPr lang="hu-HU" altLang="hu-HU" sz="3200">
                <a:solidFill>
                  <a:schemeClr val="tx2"/>
                </a:solidFill>
              </a:rPr>
              <a:t>(kifejezés) utasítás;</a:t>
            </a:r>
            <a:endParaRPr lang="en-US" altLang="hu-HU" sz="3200">
              <a:solidFill>
                <a:schemeClr val="tx2"/>
              </a:solidFill>
            </a:endParaRPr>
          </a:p>
        </p:txBody>
      </p:sp>
      <p:grpSp>
        <p:nvGrpSpPr>
          <p:cNvPr id="2" name="Group 28"/>
          <p:cNvGrpSpPr>
            <a:grpSpLocks/>
          </p:cNvGrpSpPr>
          <p:nvPr/>
        </p:nvGrpSpPr>
        <p:grpSpPr bwMode="auto">
          <a:xfrm>
            <a:off x="685800" y="1676400"/>
            <a:ext cx="4662488" cy="4724400"/>
            <a:chOff x="432" y="1056"/>
            <a:chExt cx="2937" cy="2976"/>
          </a:xfrm>
        </p:grpSpPr>
        <p:sp>
          <p:nvSpPr>
            <p:cNvPr id="43019" name="Line 18"/>
            <p:cNvSpPr>
              <a:spLocks noChangeShapeType="1"/>
            </p:cNvSpPr>
            <p:nvPr/>
          </p:nvSpPr>
          <p:spPr bwMode="auto">
            <a:xfrm>
              <a:off x="979" y="1056"/>
              <a:ext cx="1" cy="5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u-HU"/>
            </a:p>
          </p:txBody>
        </p:sp>
        <p:grpSp>
          <p:nvGrpSpPr>
            <p:cNvPr id="43020" name="Group 25"/>
            <p:cNvGrpSpPr>
              <a:grpSpLocks/>
            </p:cNvGrpSpPr>
            <p:nvPr/>
          </p:nvGrpSpPr>
          <p:grpSpPr bwMode="auto">
            <a:xfrm>
              <a:off x="432" y="1533"/>
              <a:ext cx="2937" cy="2499"/>
              <a:chOff x="432" y="1533"/>
              <a:chExt cx="2937" cy="2499"/>
            </a:xfrm>
          </p:grpSpPr>
          <p:sp>
            <p:nvSpPr>
              <p:cNvPr id="43021" name="Line 4"/>
              <p:cNvSpPr>
                <a:spLocks noChangeShapeType="1"/>
              </p:cNvSpPr>
              <p:nvPr/>
            </p:nvSpPr>
            <p:spPr bwMode="auto">
              <a:xfrm>
                <a:off x="969" y="2304"/>
                <a:ext cx="1" cy="336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3022" name="Rectangle 5"/>
              <p:cNvSpPr>
                <a:spLocks noChangeArrowheads="1"/>
              </p:cNvSpPr>
              <p:nvPr/>
            </p:nvSpPr>
            <p:spPr bwMode="auto">
              <a:xfrm>
                <a:off x="930" y="2341"/>
                <a:ext cx="1137" cy="3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ts val="500"/>
                  </a:spcBef>
                  <a:spcAft>
                    <a:spcPts val="300"/>
                  </a:spcAft>
                </a:pPr>
                <a:r>
                  <a:rPr lang="hu-HU" altLang="hu-HU">
                    <a:solidFill>
                      <a:srgbClr val="000000"/>
                    </a:solidFill>
                  </a:rPr>
                  <a:t>igaz</a:t>
                </a:r>
              </a:p>
            </p:txBody>
          </p:sp>
          <p:sp>
            <p:nvSpPr>
              <p:cNvPr id="43023" name="Line 6"/>
              <p:cNvSpPr>
                <a:spLocks noChangeShapeType="1"/>
              </p:cNvSpPr>
              <p:nvPr/>
            </p:nvSpPr>
            <p:spPr bwMode="auto">
              <a:xfrm>
                <a:off x="2014" y="1950"/>
                <a:ext cx="1" cy="137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3024" name="Line 7"/>
              <p:cNvSpPr>
                <a:spLocks noChangeShapeType="1"/>
              </p:cNvSpPr>
              <p:nvPr/>
            </p:nvSpPr>
            <p:spPr bwMode="auto">
              <a:xfrm>
                <a:off x="1324" y="1950"/>
                <a:ext cx="691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3025" name="Line 8"/>
              <p:cNvSpPr>
                <a:spLocks noChangeShapeType="1"/>
              </p:cNvSpPr>
              <p:nvPr/>
            </p:nvSpPr>
            <p:spPr bwMode="auto">
              <a:xfrm flipH="1">
                <a:off x="979" y="3320"/>
                <a:ext cx="1036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3026" name="Rectangle 9"/>
              <p:cNvSpPr>
                <a:spLocks noChangeArrowheads="1"/>
              </p:cNvSpPr>
              <p:nvPr/>
            </p:nvSpPr>
            <p:spPr bwMode="auto">
              <a:xfrm>
                <a:off x="835" y="1861"/>
                <a:ext cx="321" cy="2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hu-HU" altLang="hu-HU">
                    <a:solidFill>
                      <a:srgbClr val="000000"/>
                    </a:solidFill>
                  </a:rPr>
                  <a:t>kif.</a:t>
                </a:r>
                <a:endParaRPr lang="en-AU" altLang="hu-HU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43027" name="Group 10"/>
              <p:cNvGrpSpPr>
                <a:grpSpLocks/>
              </p:cNvGrpSpPr>
              <p:nvPr/>
            </p:nvGrpSpPr>
            <p:grpSpPr bwMode="auto">
              <a:xfrm>
                <a:off x="633" y="1592"/>
                <a:ext cx="692" cy="732"/>
                <a:chOff x="0" y="0"/>
                <a:chExt cx="20000" cy="20000"/>
              </a:xfrm>
            </p:grpSpPr>
            <p:sp>
              <p:nvSpPr>
                <p:cNvPr id="43032" name="Line 11"/>
                <p:cNvSpPr>
                  <a:spLocks noChangeShapeType="1"/>
                </p:cNvSpPr>
                <p:nvPr/>
              </p:nvSpPr>
              <p:spPr bwMode="auto">
                <a:xfrm flipH="1">
                  <a:off x="0" y="0"/>
                  <a:ext cx="10000" cy="10014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43033" name="Line 12"/>
                <p:cNvSpPr>
                  <a:spLocks noChangeShapeType="1"/>
                </p:cNvSpPr>
                <p:nvPr/>
              </p:nvSpPr>
              <p:spPr bwMode="auto">
                <a:xfrm>
                  <a:off x="10000" y="0"/>
                  <a:ext cx="10000" cy="10014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43034" name="Line 13"/>
                <p:cNvSpPr>
                  <a:spLocks noChangeShapeType="1"/>
                </p:cNvSpPr>
                <p:nvPr/>
              </p:nvSpPr>
              <p:spPr bwMode="auto">
                <a:xfrm flipH="1">
                  <a:off x="10000" y="9986"/>
                  <a:ext cx="10000" cy="10014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43035" name="Line 14"/>
                <p:cNvSpPr>
                  <a:spLocks noChangeShapeType="1"/>
                </p:cNvSpPr>
                <p:nvPr/>
              </p:nvSpPr>
              <p:spPr bwMode="auto">
                <a:xfrm>
                  <a:off x="0" y="9986"/>
                  <a:ext cx="10000" cy="10014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</p:grpSp>
          <p:sp>
            <p:nvSpPr>
              <p:cNvPr id="43028" name="Line 15"/>
              <p:cNvSpPr>
                <a:spLocks noChangeShapeType="1"/>
              </p:cNvSpPr>
              <p:nvPr/>
            </p:nvSpPr>
            <p:spPr bwMode="auto">
              <a:xfrm>
                <a:off x="979" y="3082"/>
                <a:ext cx="1" cy="566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3029" name="Rectangle 16"/>
              <p:cNvSpPr>
                <a:spLocks noChangeArrowheads="1"/>
              </p:cNvSpPr>
              <p:nvPr/>
            </p:nvSpPr>
            <p:spPr bwMode="auto">
              <a:xfrm>
                <a:off x="1295" y="1533"/>
                <a:ext cx="777" cy="3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ts val="500"/>
                  </a:spcBef>
                  <a:spcAft>
                    <a:spcPts val="300"/>
                  </a:spcAft>
                </a:pPr>
                <a:r>
                  <a:rPr lang="hu-HU" altLang="hu-HU">
                    <a:solidFill>
                      <a:srgbClr val="000000"/>
                    </a:solidFill>
                  </a:rPr>
                  <a:t>hamis</a:t>
                </a:r>
              </a:p>
            </p:txBody>
          </p:sp>
          <p:sp>
            <p:nvSpPr>
              <p:cNvPr id="43030" name="Rectangle 17"/>
              <p:cNvSpPr>
                <a:spLocks noChangeArrowheads="1"/>
              </p:cNvSpPr>
              <p:nvPr/>
            </p:nvSpPr>
            <p:spPr bwMode="auto">
              <a:xfrm>
                <a:off x="432" y="2665"/>
                <a:ext cx="1152" cy="417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lnSpc>
                    <a:spcPct val="150000"/>
                  </a:lnSpc>
                  <a:spcBef>
                    <a:spcPts val="500"/>
                  </a:spcBef>
                  <a:spcAft>
                    <a:spcPts val="300"/>
                  </a:spcAft>
                </a:pPr>
                <a:r>
                  <a:rPr lang="hu-HU" altLang="hu-HU">
                    <a:solidFill>
                      <a:srgbClr val="000000"/>
                    </a:solidFill>
                  </a:rPr>
                  <a:t>U1</a:t>
                </a:r>
              </a:p>
            </p:txBody>
          </p:sp>
          <p:sp>
            <p:nvSpPr>
              <p:cNvPr id="43031" name="AutoShape 19"/>
              <p:cNvSpPr>
                <a:spLocks noChangeArrowheads="1"/>
              </p:cNvSpPr>
              <p:nvPr/>
            </p:nvSpPr>
            <p:spPr bwMode="auto">
              <a:xfrm>
                <a:off x="1928" y="3600"/>
                <a:ext cx="1441" cy="432"/>
              </a:xfrm>
              <a:prstGeom prst="wedgeRoundRectCallout">
                <a:avLst>
                  <a:gd name="adj1" fmla="val -61796"/>
                  <a:gd name="adj2" fmla="val -154398"/>
                  <a:gd name="adj3" fmla="val 16667"/>
                </a:avLst>
              </a:prstGeom>
              <a:solidFill>
                <a:srgbClr val="DACFBE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marL="342900" indent="-3429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hu-HU" sz="2800">
                    <a:solidFill>
                      <a:srgbClr val="000000"/>
                    </a:solidFill>
                  </a:rPr>
                  <a:t>Folyamatábra</a:t>
                </a:r>
              </a:p>
            </p:txBody>
          </p:sp>
        </p:grpSp>
      </p:grpSp>
      <p:grpSp>
        <p:nvGrpSpPr>
          <p:cNvPr id="5" name="Group 27"/>
          <p:cNvGrpSpPr>
            <a:grpSpLocks/>
          </p:cNvGrpSpPr>
          <p:nvPr/>
        </p:nvGrpSpPr>
        <p:grpSpPr bwMode="auto">
          <a:xfrm>
            <a:off x="5508625" y="2667000"/>
            <a:ext cx="3254375" cy="3805238"/>
            <a:chOff x="3470" y="1680"/>
            <a:chExt cx="2050" cy="2397"/>
          </a:xfrm>
        </p:grpSpPr>
        <p:sp>
          <p:nvSpPr>
            <p:cNvPr id="43017" name="Rectangle 21"/>
            <p:cNvSpPr>
              <a:spLocks noChangeArrowheads="1"/>
            </p:cNvSpPr>
            <p:nvPr/>
          </p:nvSpPr>
          <p:spPr bwMode="auto">
            <a:xfrm>
              <a:off x="3470" y="2931"/>
              <a:ext cx="1598" cy="1146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2700" tIns="12700" rIns="12700" bIns="12700"/>
            <a:lstStyle>
              <a:lvl1pPr>
                <a:tabLst>
                  <a:tab pos="3810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tabLst>
                  <a:tab pos="3810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tabLst>
                  <a:tab pos="3810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tabLst>
                  <a:tab pos="3810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tabLst>
                  <a:tab pos="3810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hu-HU" altLang="hu-HU" sz="2800" b="1" dirty="0">
                  <a:solidFill>
                    <a:srgbClr val="000000"/>
                  </a:solidFill>
                </a:rPr>
                <a:t> i</a:t>
              </a:r>
              <a:r>
                <a:rPr lang="en-AU" altLang="hu-HU" sz="2800" b="1" dirty="0">
                  <a:solidFill>
                    <a:srgbClr val="000000"/>
                  </a:solidFill>
                </a:rPr>
                <a:t>f </a:t>
              </a:r>
              <a:r>
                <a:rPr lang="hu-HU" altLang="hu-HU" sz="2800" b="1" dirty="0">
                  <a:solidFill>
                    <a:srgbClr val="000000"/>
                  </a:solidFill>
                </a:rPr>
                <a:t>(kifejezés)</a:t>
              </a:r>
              <a:br>
                <a:rPr lang="en-AU" altLang="hu-HU" sz="2800" b="1" dirty="0">
                  <a:solidFill>
                    <a:srgbClr val="000000"/>
                  </a:solidFill>
                </a:rPr>
              </a:br>
              <a:r>
                <a:rPr lang="en-AU" altLang="hu-HU" sz="2800" b="1" dirty="0">
                  <a:solidFill>
                    <a:srgbClr val="000000"/>
                  </a:solidFill>
                </a:rPr>
                <a:t>	</a:t>
              </a:r>
              <a:r>
                <a:rPr lang="hu-HU" altLang="hu-HU" sz="2800" b="1" dirty="0">
                  <a:solidFill>
                    <a:srgbClr val="000000"/>
                  </a:solidFill>
                </a:rPr>
                <a:t>{</a:t>
              </a:r>
            </a:p>
            <a:p>
              <a:r>
                <a:rPr lang="hu-HU" altLang="hu-HU" sz="2800" b="1" dirty="0">
                  <a:solidFill>
                    <a:srgbClr val="000000"/>
                  </a:solidFill>
                </a:rPr>
                <a:t>		</a:t>
              </a:r>
              <a:r>
                <a:rPr lang="en-AU" altLang="hu-HU" sz="2800" b="1" dirty="0">
                  <a:solidFill>
                    <a:srgbClr val="000000"/>
                  </a:solidFill>
                </a:rPr>
                <a:t>U1 ;</a:t>
              </a:r>
              <a:endParaRPr lang="hu-HU" altLang="hu-HU" sz="2800" b="1" dirty="0">
                <a:solidFill>
                  <a:srgbClr val="000000"/>
                </a:solidFill>
              </a:endParaRPr>
            </a:p>
            <a:p>
              <a:r>
                <a:rPr lang="hu-HU" altLang="hu-HU" sz="2800" b="1" dirty="0">
                  <a:solidFill>
                    <a:srgbClr val="000000"/>
                  </a:solidFill>
                </a:rPr>
                <a:t>	}</a:t>
              </a:r>
              <a:endParaRPr lang="en-AU" altLang="hu-HU" dirty="0">
                <a:solidFill>
                  <a:srgbClr val="000000"/>
                </a:solidFill>
              </a:endParaRPr>
            </a:p>
          </p:txBody>
        </p:sp>
        <p:sp>
          <p:nvSpPr>
            <p:cNvPr id="43018" name="AutoShape 22"/>
            <p:cNvSpPr>
              <a:spLocks noChangeArrowheads="1"/>
            </p:cNvSpPr>
            <p:nvPr/>
          </p:nvSpPr>
          <p:spPr bwMode="auto">
            <a:xfrm>
              <a:off x="3638" y="1680"/>
              <a:ext cx="1882" cy="557"/>
            </a:xfrm>
            <a:prstGeom prst="wedgeRoundRectCallout">
              <a:avLst>
                <a:gd name="adj1" fmla="val -28125"/>
                <a:gd name="adj2" fmla="val 181944"/>
                <a:gd name="adj3" fmla="val 16667"/>
              </a:avLst>
            </a:prstGeom>
            <a:solidFill>
              <a:srgbClr val="DACFBE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marL="342900" indent="-3429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hu-HU" altLang="hu-HU" sz="2800">
                  <a:solidFill>
                    <a:srgbClr val="000000"/>
                  </a:solidFill>
                </a:rPr>
                <a:t>C#</a:t>
              </a:r>
              <a:r>
                <a:rPr lang="en-US" altLang="hu-HU" sz="2800">
                  <a:solidFill>
                    <a:srgbClr val="000000"/>
                  </a:solidFill>
                </a:rPr>
                <a:t> kód</a:t>
              </a:r>
            </a:p>
          </p:txBody>
        </p:sp>
      </p:grpSp>
      <p:grpSp>
        <p:nvGrpSpPr>
          <p:cNvPr id="6" name="Group 26"/>
          <p:cNvGrpSpPr>
            <a:grpSpLocks/>
          </p:cNvGrpSpPr>
          <p:nvPr/>
        </p:nvGrpSpPr>
        <p:grpSpPr bwMode="auto">
          <a:xfrm>
            <a:off x="4953000" y="381000"/>
            <a:ext cx="3810000" cy="1874838"/>
            <a:chOff x="3120" y="240"/>
            <a:chExt cx="2400" cy="1181"/>
          </a:xfrm>
        </p:grpSpPr>
        <p:sp>
          <p:nvSpPr>
            <p:cNvPr id="43015" name="Text Box 23"/>
            <p:cNvSpPr txBox="1">
              <a:spLocks noChangeArrowheads="1"/>
            </p:cNvSpPr>
            <p:nvPr/>
          </p:nvSpPr>
          <p:spPr bwMode="auto">
            <a:xfrm>
              <a:off x="3120" y="1056"/>
              <a:ext cx="201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hu-HU" altLang="hu-HU" sz="3200" b="1"/>
                <a:t>Ha F1 akkor U1</a:t>
              </a:r>
              <a:endParaRPr lang="hu-HU" altLang="hu-HU"/>
            </a:p>
          </p:txBody>
        </p:sp>
        <p:sp>
          <p:nvSpPr>
            <p:cNvPr id="43016" name="AutoShape 24"/>
            <p:cNvSpPr>
              <a:spLocks noChangeArrowheads="1"/>
            </p:cNvSpPr>
            <p:nvPr/>
          </p:nvSpPr>
          <p:spPr bwMode="auto">
            <a:xfrm>
              <a:off x="3696" y="240"/>
              <a:ext cx="1824" cy="576"/>
            </a:xfrm>
            <a:prstGeom prst="wedgeRoundRectCallout">
              <a:avLst>
                <a:gd name="adj1" fmla="val -32894"/>
                <a:gd name="adj2" fmla="val 106597"/>
                <a:gd name="adj3" fmla="val 16667"/>
              </a:avLst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hu-HU" altLang="hu-HU" sz="2800"/>
                <a:t>Mondatszerű leírás</a:t>
              </a:r>
              <a:endParaRPr lang="hu-HU" altLang="hu-HU"/>
            </a:p>
          </p:txBody>
        </p:sp>
      </p:grpSp>
    </p:spTree>
    <p:extLst>
      <p:ext uri="{BB962C8B-B14F-4D97-AF65-F5344CB8AC3E}">
        <p14:creationId xmlns:p14="http://schemas.microsoft.com/office/powerpoint/2010/main" val="3789453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Dia számának helye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5F9F3C8-105E-4574-A99A-A6F0B9187C96}" type="slidenum">
              <a:rPr lang="hu-HU" altLang="hu-HU" sz="1400"/>
              <a:pPr/>
              <a:t>6</a:t>
            </a:fld>
            <a:endParaRPr lang="hu-HU" altLang="hu-HU" sz="1400"/>
          </a:p>
        </p:txBody>
      </p:sp>
      <p:sp>
        <p:nvSpPr>
          <p:cNvPr id="44035" name="Rectangle 2"/>
          <p:cNvSpPr>
            <a:spLocks noChangeArrowheads="1"/>
          </p:cNvSpPr>
          <p:nvPr/>
        </p:nvSpPr>
        <p:spPr bwMode="auto">
          <a:xfrm>
            <a:off x="381000" y="457200"/>
            <a:ext cx="4767263" cy="160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444" tIns="43722" rIns="87444" bIns="43722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u-HU" sz="3600" b="1">
                <a:solidFill>
                  <a:schemeClr val="tx2"/>
                </a:solidFill>
              </a:rPr>
              <a:t>Kétágú elágazás</a:t>
            </a:r>
            <a:r>
              <a:rPr lang="en-US" altLang="hu-HU" sz="3200">
                <a:solidFill>
                  <a:schemeClr val="tx2"/>
                </a:solidFill>
              </a:rPr>
              <a:t> - </a:t>
            </a:r>
            <a:br>
              <a:rPr lang="en-US" altLang="hu-HU" sz="3200">
                <a:solidFill>
                  <a:schemeClr val="tx2"/>
                </a:solidFill>
              </a:rPr>
            </a:br>
            <a:r>
              <a:rPr lang="hu-HU" altLang="hu-HU" sz="3200">
                <a:solidFill>
                  <a:schemeClr val="tx2"/>
                </a:solidFill>
              </a:rPr>
              <a:t>i</a:t>
            </a:r>
            <a:r>
              <a:rPr lang="en-US" altLang="hu-HU" sz="3200">
                <a:solidFill>
                  <a:schemeClr val="tx2"/>
                </a:solidFill>
              </a:rPr>
              <a:t>f </a:t>
            </a:r>
            <a:r>
              <a:rPr lang="hu-HU" altLang="hu-HU" sz="3200">
                <a:solidFill>
                  <a:schemeClr val="tx2"/>
                </a:solidFill>
              </a:rPr>
              <a:t>(kifejezés) utasítás1;</a:t>
            </a:r>
            <a:br>
              <a:rPr lang="hu-HU" altLang="hu-HU" sz="3200">
                <a:solidFill>
                  <a:schemeClr val="tx2"/>
                </a:solidFill>
              </a:rPr>
            </a:br>
            <a:r>
              <a:rPr lang="hu-HU" altLang="hu-HU" sz="3200">
                <a:solidFill>
                  <a:schemeClr val="tx2"/>
                </a:solidFill>
              </a:rPr>
              <a:t>e</a:t>
            </a:r>
            <a:r>
              <a:rPr lang="en-US" altLang="hu-HU" sz="3200">
                <a:solidFill>
                  <a:schemeClr val="tx2"/>
                </a:solidFill>
              </a:rPr>
              <a:t>lse</a:t>
            </a:r>
            <a:r>
              <a:rPr lang="hu-HU" altLang="hu-HU" sz="3200">
                <a:solidFill>
                  <a:schemeClr val="tx2"/>
                </a:solidFill>
              </a:rPr>
              <a:t> utasítás2;</a:t>
            </a:r>
            <a:endParaRPr lang="en-US" altLang="hu-HU" sz="3200">
              <a:solidFill>
                <a:schemeClr val="tx2"/>
              </a:solidFill>
            </a:endParaRPr>
          </a:p>
        </p:txBody>
      </p:sp>
      <p:grpSp>
        <p:nvGrpSpPr>
          <p:cNvPr id="2" name="Group 43"/>
          <p:cNvGrpSpPr>
            <a:grpSpLocks/>
          </p:cNvGrpSpPr>
          <p:nvPr/>
        </p:nvGrpSpPr>
        <p:grpSpPr bwMode="auto">
          <a:xfrm>
            <a:off x="5003800" y="2781300"/>
            <a:ext cx="4140200" cy="3887788"/>
            <a:chOff x="3152" y="1752"/>
            <a:chExt cx="2608" cy="2449"/>
          </a:xfrm>
        </p:grpSpPr>
        <p:sp>
          <p:nvSpPr>
            <p:cNvPr id="44072" name="Rectangle 4"/>
            <p:cNvSpPr>
              <a:spLocks noChangeArrowheads="1"/>
            </p:cNvSpPr>
            <p:nvPr/>
          </p:nvSpPr>
          <p:spPr bwMode="auto">
            <a:xfrm>
              <a:off x="3152" y="1933"/>
              <a:ext cx="1769" cy="2268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2700" tIns="12700" rIns="12700" bIns="12700"/>
            <a:lstStyle>
              <a:lvl1pPr>
                <a:tabLst>
                  <a:tab pos="381000" algn="l"/>
                  <a:tab pos="473075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tabLst>
                  <a:tab pos="381000" algn="l"/>
                  <a:tab pos="473075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tabLst>
                  <a:tab pos="381000" algn="l"/>
                  <a:tab pos="473075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tabLst>
                  <a:tab pos="381000" algn="l"/>
                  <a:tab pos="473075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tabLst>
                  <a:tab pos="381000" algn="l"/>
                  <a:tab pos="473075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0" algn="l"/>
                  <a:tab pos="473075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0" algn="l"/>
                  <a:tab pos="473075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0" algn="l"/>
                  <a:tab pos="473075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81000" algn="l"/>
                  <a:tab pos="473075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hu-HU" altLang="hu-HU" sz="2800" b="1" dirty="0"/>
                <a:t>i</a:t>
              </a:r>
              <a:r>
                <a:rPr lang="en-AU" altLang="hu-HU" sz="2800" b="1" dirty="0"/>
                <a:t>f </a:t>
              </a:r>
              <a:r>
                <a:rPr lang="hu-HU" altLang="hu-HU" sz="2800" b="1" dirty="0"/>
                <a:t>(kifejezés)</a:t>
              </a:r>
              <a:r>
                <a:rPr lang="en-AU" altLang="hu-HU" sz="2800" b="1" dirty="0"/>
                <a:t> 		</a:t>
              </a:r>
              <a:r>
                <a:rPr lang="hu-HU" altLang="hu-HU" sz="2800" b="1" dirty="0"/>
                <a:t>{</a:t>
              </a:r>
              <a:r>
                <a:rPr lang="en-AU" altLang="hu-HU" sz="2800" b="1" dirty="0"/>
                <a:t> </a:t>
              </a:r>
              <a:br>
                <a:rPr lang="en-AU" altLang="hu-HU" sz="2800" b="1" dirty="0"/>
              </a:br>
              <a:r>
                <a:rPr lang="en-AU" altLang="hu-HU" sz="2800" b="1" dirty="0"/>
                <a:t>			U1</a:t>
              </a:r>
              <a:r>
                <a:rPr lang="hu-HU" altLang="hu-HU" sz="2800" b="1" dirty="0"/>
                <a:t>;</a:t>
              </a:r>
            </a:p>
            <a:p>
              <a:r>
                <a:rPr lang="hu-HU" altLang="hu-HU" sz="2800" b="1" dirty="0"/>
                <a:t>	}</a:t>
              </a:r>
              <a:br>
                <a:rPr lang="en-AU" altLang="hu-HU" sz="2800" b="1" dirty="0"/>
              </a:br>
              <a:r>
                <a:rPr lang="en-AU" altLang="hu-HU" sz="2800" b="1" dirty="0"/>
                <a:t>	</a:t>
              </a:r>
              <a:r>
                <a:rPr lang="hu-HU" altLang="hu-HU" sz="2800" b="1" dirty="0"/>
                <a:t>e</a:t>
              </a:r>
              <a:r>
                <a:rPr lang="en-AU" altLang="hu-HU" sz="2800" b="1" dirty="0" err="1"/>
                <a:t>lse</a:t>
              </a:r>
              <a:br>
                <a:rPr lang="en-AU" altLang="hu-HU" sz="2800" b="1" dirty="0"/>
              </a:br>
              <a:r>
                <a:rPr lang="en-AU" altLang="hu-HU" sz="2800" b="1" dirty="0"/>
                <a:t>	</a:t>
              </a:r>
              <a:r>
                <a:rPr lang="hu-HU" altLang="hu-HU" sz="2800" b="1" dirty="0"/>
                <a:t>{</a:t>
              </a:r>
            </a:p>
            <a:p>
              <a:r>
                <a:rPr lang="hu-HU" altLang="hu-HU" sz="2800" b="1" dirty="0"/>
                <a:t>			</a:t>
              </a:r>
              <a:r>
                <a:rPr lang="en-AU" altLang="hu-HU" sz="2800" b="1" dirty="0"/>
                <a:t>U2;</a:t>
              </a:r>
              <a:endParaRPr lang="hu-HU" altLang="hu-HU" sz="2800" b="1" dirty="0"/>
            </a:p>
            <a:p>
              <a:r>
                <a:rPr lang="hu-HU" altLang="hu-HU" sz="2800" b="1" dirty="0"/>
                <a:t>	}</a:t>
              </a:r>
              <a:endParaRPr lang="en-AU" altLang="hu-HU" dirty="0"/>
            </a:p>
          </p:txBody>
        </p:sp>
        <p:sp>
          <p:nvSpPr>
            <p:cNvPr id="44073" name="AutoShape 5"/>
            <p:cNvSpPr>
              <a:spLocks noChangeArrowheads="1"/>
            </p:cNvSpPr>
            <p:nvPr/>
          </p:nvSpPr>
          <p:spPr bwMode="auto">
            <a:xfrm>
              <a:off x="4417" y="1752"/>
              <a:ext cx="1343" cy="432"/>
            </a:xfrm>
            <a:prstGeom prst="wedgeRoundRectCallout">
              <a:avLst>
                <a:gd name="adj1" fmla="val -30046"/>
                <a:gd name="adj2" fmla="val 163657"/>
                <a:gd name="adj3" fmla="val 16667"/>
              </a:avLst>
            </a:prstGeom>
            <a:solidFill>
              <a:srgbClr val="DACFBE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marL="342900" indent="-3429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hu-HU" altLang="hu-HU" sz="2800">
                  <a:solidFill>
                    <a:srgbClr val="000000"/>
                  </a:solidFill>
                </a:rPr>
                <a:t>C#</a:t>
              </a:r>
              <a:r>
                <a:rPr lang="en-US" altLang="hu-HU" sz="2800">
                  <a:solidFill>
                    <a:srgbClr val="000000"/>
                  </a:solidFill>
                </a:rPr>
                <a:t> kód</a:t>
              </a:r>
            </a:p>
          </p:txBody>
        </p:sp>
      </p:grpSp>
      <p:grpSp>
        <p:nvGrpSpPr>
          <p:cNvPr id="3" name="Group 44"/>
          <p:cNvGrpSpPr>
            <a:grpSpLocks/>
          </p:cNvGrpSpPr>
          <p:nvPr/>
        </p:nvGrpSpPr>
        <p:grpSpPr bwMode="auto">
          <a:xfrm>
            <a:off x="250825" y="2205038"/>
            <a:ext cx="4397375" cy="4043362"/>
            <a:chOff x="158" y="1389"/>
            <a:chExt cx="2770" cy="2547"/>
          </a:xfrm>
        </p:grpSpPr>
        <p:grpSp>
          <p:nvGrpSpPr>
            <p:cNvPr id="44041" name="Group 16"/>
            <p:cNvGrpSpPr>
              <a:grpSpLocks/>
            </p:cNvGrpSpPr>
            <p:nvPr/>
          </p:nvGrpSpPr>
          <p:grpSpPr bwMode="auto">
            <a:xfrm>
              <a:off x="1962" y="2961"/>
              <a:ext cx="966" cy="339"/>
              <a:chOff x="0" y="-10"/>
              <a:chExt cx="20000" cy="19790"/>
            </a:xfrm>
          </p:grpSpPr>
          <p:sp>
            <p:nvSpPr>
              <p:cNvPr id="44068" name="Line 17"/>
              <p:cNvSpPr>
                <a:spLocks noChangeShapeType="1"/>
              </p:cNvSpPr>
              <p:nvPr/>
            </p:nvSpPr>
            <p:spPr bwMode="auto">
              <a:xfrm>
                <a:off x="0" y="-5"/>
                <a:ext cx="20000" cy="4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4069" name="Line 18"/>
              <p:cNvSpPr>
                <a:spLocks noChangeShapeType="1"/>
              </p:cNvSpPr>
              <p:nvPr/>
            </p:nvSpPr>
            <p:spPr bwMode="auto">
              <a:xfrm>
                <a:off x="0" y="19737"/>
                <a:ext cx="20000" cy="4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4070" name="Line 19"/>
              <p:cNvSpPr>
                <a:spLocks noChangeShapeType="1"/>
              </p:cNvSpPr>
              <p:nvPr/>
            </p:nvSpPr>
            <p:spPr bwMode="auto">
              <a:xfrm>
                <a:off x="0" y="-10"/>
                <a:ext cx="14" cy="1979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4071" name="Line 20"/>
              <p:cNvSpPr>
                <a:spLocks noChangeShapeType="1"/>
              </p:cNvSpPr>
              <p:nvPr/>
            </p:nvSpPr>
            <p:spPr bwMode="auto">
              <a:xfrm>
                <a:off x="19983" y="-10"/>
                <a:ext cx="17" cy="1979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</p:grpSp>
        <p:grpSp>
          <p:nvGrpSpPr>
            <p:cNvPr id="44042" name="Group 41"/>
            <p:cNvGrpSpPr>
              <a:grpSpLocks/>
            </p:cNvGrpSpPr>
            <p:nvPr/>
          </p:nvGrpSpPr>
          <p:grpSpPr bwMode="auto">
            <a:xfrm>
              <a:off x="158" y="1389"/>
              <a:ext cx="2586" cy="2547"/>
              <a:chOff x="158" y="1389"/>
              <a:chExt cx="2586" cy="2547"/>
            </a:xfrm>
          </p:grpSpPr>
          <p:grpSp>
            <p:nvGrpSpPr>
              <p:cNvPr id="44043" name="Group 8"/>
              <p:cNvGrpSpPr>
                <a:grpSpLocks/>
              </p:cNvGrpSpPr>
              <p:nvPr/>
            </p:nvGrpSpPr>
            <p:grpSpPr bwMode="auto">
              <a:xfrm>
                <a:off x="1274" y="2099"/>
                <a:ext cx="645" cy="591"/>
                <a:chOff x="0" y="0"/>
                <a:chExt cx="20004" cy="19996"/>
              </a:xfrm>
            </p:grpSpPr>
            <p:sp>
              <p:nvSpPr>
                <p:cNvPr id="44064" name="Line 9"/>
                <p:cNvSpPr>
                  <a:spLocks noChangeShapeType="1"/>
                </p:cNvSpPr>
                <p:nvPr/>
              </p:nvSpPr>
              <p:spPr bwMode="auto">
                <a:xfrm flipH="1">
                  <a:off x="0" y="0"/>
                  <a:ext cx="10002" cy="1001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44065" name="Line 10"/>
                <p:cNvSpPr>
                  <a:spLocks noChangeShapeType="1"/>
                </p:cNvSpPr>
                <p:nvPr/>
              </p:nvSpPr>
              <p:spPr bwMode="auto">
                <a:xfrm>
                  <a:off x="10002" y="0"/>
                  <a:ext cx="10002" cy="1001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44066" name="Line 11"/>
                <p:cNvSpPr>
                  <a:spLocks noChangeShapeType="1"/>
                </p:cNvSpPr>
                <p:nvPr/>
              </p:nvSpPr>
              <p:spPr bwMode="auto">
                <a:xfrm flipH="1">
                  <a:off x="10002" y="9984"/>
                  <a:ext cx="10002" cy="1001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44067" name="Line 12"/>
                <p:cNvSpPr>
                  <a:spLocks noChangeShapeType="1"/>
                </p:cNvSpPr>
                <p:nvPr/>
              </p:nvSpPr>
              <p:spPr bwMode="auto">
                <a:xfrm>
                  <a:off x="0" y="9984"/>
                  <a:ext cx="10002" cy="1001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</p:grpSp>
          <p:sp>
            <p:nvSpPr>
              <p:cNvPr id="44044" name="Rectangle 13"/>
              <p:cNvSpPr>
                <a:spLocks noChangeArrowheads="1"/>
              </p:cNvSpPr>
              <p:nvPr/>
            </p:nvSpPr>
            <p:spPr bwMode="auto">
              <a:xfrm>
                <a:off x="1458" y="2301"/>
                <a:ext cx="379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hu-HU" altLang="hu-HU"/>
                  <a:t>kif.</a:t>
                </a:r>
                <a:endParaRPr lang="en-AU" altLang="hu-HU"/>
              </a:p>
            </p:txBody>
          </p:sp>
          <p:sp>
            <p:nvSpPr>
              <p:cNvPr id="44045" name="Rectangle 14"/>
              <p:cNvSpPr>
                <a:spLocks noChangeArrowheads="1"/>
              </p:cNvSpPr>
              <p:nvPr/>
            </p:nvSpPr>
            <p:spPr bwMode="auto">
              <a:xfrm>
                <a:off x="748" y="2024"/>
                <a:ext cx="525" cy="3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lnSpc>
                    <a:spcPct val="80000"/>
                  </a:lnSpc>
                </a:pPr>
                <a:r>
                  <a:rPr lang="hu-HU" altLang="hu-HU"/>
                  <a:t>i</a:t>
                </a:r>
                <a:r>
                  <a:rPr lang="en-AU" altLang="hu-HU"/>
                  <a:t>gaz</a:t>
                </a:r>
              </a:p>
            </p:txBody>
          </p:sp>
          <p:sp>
            <p:nvSpPr>
              <p:cNvPr id="44046" name="Rectangle 15"/>
              <p:cNvSpPr>
                <a:spLocks noChangeArrowheads="1"/>
              </p:cNvSpPr>
              <p:nvPr/>
            </p:nvSpPr>
            <p:spPr bwMode="auto">
              <a:xfrm>
                <a:off x="1917" y="2024"/>
                <a:ext cx="645" cy="3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lnSpc>
                    <a:spcPct val="70000"/>
                  </a:lnSpc>
                </a:pPr>
                <a:r>
                  <a:rPr lang="hu-HU" altLang="hu-HU"/>
                  <a:t>h</a:t>
                </a:r>
                <a:r>
                  <a:rPr lang="en-AU" altLang="hu-HU"/>
                  <a:t>amis</a:t>
                </a:r>
              </a:p>
            </p:txBody>
          </p:sp>
          <p:sp>
            <p:nvSpPr>
              <p:cNvPr id="44047" name="Rectangle 21"/>
              <p:cNvSpPr>
                <a:spLocks noChangeArrowheads="1"/>
              </p:cNvSpPr>
              <p:nvPr/>
            </p:nvSpPr>
            <p:spPr bwMode="auto">
              <a:xfrm>
                <a:off x="2192" y="3023"/>
                <a:ext cx="552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hu-HU" altLang="hu-HU"/>
                  <a:t>U2</a:t>
                </a:r>
              </a:p>
            </p:txBody>
          </p:sp>
          <p:grpSp>
            <p:nvGrpSpPr>
              <p:cNvPr id="44048" name="Group 22"/>
              <p:cNvGrpSpPr>
                <a:grpSpLocks/>
              </p:cNvGrpSpPr>
              <p:nvPr/>
            </p:nvGrpSpPr>
            <p:grpSpPr bwMode="auto">
              <a:xfrm>
                <a:off x="171" y="2961"/>
                <a:ext cx="966" cy="339"/>
                <a:chOff x="0" y="0"/>
                <a:chExt cx="20000" cy="20046"/>
              </a:xfrm>
            </p:grpSpPr>
            <p:sp>
              <p:nvSpPr>
                <p:cNvPr id="44060" name="Line 23"/>
                <p:cNvSpPr>
                  <a:spLocks noChangeShapeType="1"/>
                </p:cNvSpPr>
                <p:nvPr/>
              </p:nvSpPr>
              <p:spPr bwMode="auto">
                <a:xfrm>
                  <a:off x="0" y="0"/>
                  <a:ext cx="20000" cy="49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44061" name="Line 24"/>
                <p:cNvSpPr>
                  <a:spLocks noChangeShapeType="1"/>
                </p:cNvSpPr>
                <p:nvPr/>
              </p:nvSpPr>
              <p:spPr bwMode="auto">
                <a:xfrm>
                  <a:off x="0" y="19997"/>
                  <a:ext cx="20000" cy="49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44062" name="Line 25"/>
                <p:cNvSpPr>
                  <a:spLocks noChangeShapeType="1"/>
                </p:cNvSpPr>
                <p:nvPr/>
              </p:nvSpPr>
              <p:spPr bwMode="auto">
                <a:xfrm>
                  <a:off x="0" y="0"/>
                  <a:ext cx="17" cy="20046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44063" name="Line 26"/>
                <p:cNvSpPr>
                  <a:spLocks noChangeShapeType="1"/>
                </p:cNvSpPr>
                <p:nvPr/>
              </p:nvSpPr>
              <p:spPr bwMode="auto">
                <a:xfrm>
                  <a:off x="19983" y="0"/>
                  <a:ext cx="17" cy="20046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</p:grpSp>
          <p:sp>
            <p:nvSpPr>
              <p:cNvPr id="44049" name="Rectangle 27"/>
              <p:cNvSpPr>
                <a:spLocks noChangeArrowheads="1"/>
              </p:cNvSpPr>
              <p:nvPr/>
            </p:nvSpPr>
            <p:spPr bwMode="auto">
              <a:xfrm>
                <a:off x="386" y="3032"/>
                <a:ext cx="553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hu-HU" altLang="hu-HU"/>
                  <a:t>U1</a:t>
                </a:r>
              </a:p>
            </p:txBody>
          </p:sp>
          <p:sp>
            <p:nvSpPr>
              <p:cNvPr id="44050" name="Line 28"/>
              <p:cNvSpPr>
                <a:spLocks noChangeShapeType="1"/>
              </p:cNvSpPr>
              <p:nvPr/>
            </p:nvSpPr>
            <p:spPr bwMode="auto">
              <a:xfrm>
                <a:off x="1918" y="2402"/>
                <a:ext cx="552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4051" name="Line 29"/>
              <p:cNvSpPr>
                <a:spLocks noChangeShapeType="1"/>
              </p:cNvSpPr>
              <p:nvPr/>
            </p:nvSpPr>
            <p:spPr bwMode="auto">
              <a:xfrm>
                <a:off x="2469" y="2402"/>
                <a:ext cx="1" cy="56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4052" name="Line 30"/>
              <p:cNvSpPr>
                <a:spLocks noChangeShapeType="1"/>
              </p:cNvSpPr>
              <p:nvPr/>
            </p:nvSpPr>
            <p:spPr bwMode="auto">
              <a:xfrm flipH="1">
                <a:off x="723" y="2402"/>
                <a:ext cx="552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4053" name="Line 31"/>
              <p:cNvSpPr>
                <a:spLocks noChangeShapeType="1"/>
              </p:cNvSpPr>
              <p:nvPr/>
            </p:nvSpPr>
            <p:spPr bwMode="auto">
              <a:xfrm>
                <a:off x="723" y="2402"/>
                <a:ext cx="1" cy="56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4054" name="Line 32"/>
              <p:cNvSpPr>
                <a:spLocks noChangeShapeType="1"/>
              </p:cNvSpPr>
              <p:nvPr/>
            </p:nvSpPr>
            <p:spPr bwMode="auto">
              <a:xfrm>
                <a:off x="723" y="3314"/>
                <a:ext cx="1" cy="29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4055" name="Line 33"/>
              <p:cNvSpPr>
                <a:spLocks noChangeShapeType="1"/>
              </p:cNvSpPr>
              <p:nvPr/>
            </p:nvSpPr>
            <p:spPr bwMode="auto">
              <a:xfrm>
                <a:off x="723" y="3604"/>
                <a:ext cx="1747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4056" name="Line 34"/>
              <p:cNvSpPr>
                <a:spLocks noChangeShapeType="1"/>
              </p:cNvSpPr>
              <p:nvPr/>
            </p:nvSpPr>
            <p:spPr bwMode="auto">
              <a:xfrm>
                <a:off x="2469" y="3314"/>
                <a:ext cx="1" cy="29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4057" name="Line 35"/>
              <p:cNvSpPr>
                <a:spLocks noChangeShapeType="1"/>
              </p:cNvSpPr>
              <p:nvPr/>
            </p:nvSpPr>
            <p:spPr bwMode="auto">
              <a:xfrm>
                <a:off x="1596" y="3604"/>
                <a:ext cx="1" cy="33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4058" name="Line 36"/>
              <p:cNvSpPr>
                <a:spLocks noChangeShapeType="1"/>
              </p:cNvSpPr>
              <p:nvPr/>
            </p:nvSpPr>
            <p:spPr bwMode="auto">
              <a:xfrm>
                <a:off x="1600" y="1692"/>
                <a:ext cx="1" cy="41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none" w="sm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4059" name="AutoShape 37"/>
              <p:cNvSpPr>
                <a:spLocks noChangeArrowheads="1"/>
              </p:cNvSpPr>
              <p:nvPr/>
            </p:nvSpPr>
            <p:spPr bwMode="auto">
              <a:xfrm>
                <a:off x="158" y="1389"/>
                <a:ext cx="1323" cy="433"/>
              </a:xfrm>
              <a:prstGeom prst="wedgeRoundRectCallout">
                <a:avLst>
                  <a:gd name="adj1" fmla="val 42745"/>
                  <a:gd name="adj2" fmla="val 128292"/>
                  <a:gd name="adj3" fmla="val 16667"/>
                </a:avLst>
              </a:prstGeom>
              <a:solidFill>
                <a:srgbClr val="DACFBE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marL="342900" indent="-3429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hu-HU" sz="2800">
                    <a:solidFill>
                      <a:srgbClr val="000000"/>
                    </a:solidFill>
                  </a:rPr>
                  <a:t>Folyamatábra</a:t>
                </a:r>
              </a:p>
            </p:txBody>
          </p:sp>
        </p:grpSp>
      </p:grpSp>
      <p:grpSp>
        <p:nvGrpSpPr>
          <p:cNvPr id="8" name="Group 42"/>
          <p:cNvGrpSpPr>
            <a:grpSpLocks/>
          </p:cNvGrpSpPr>
          <p:nvPr/>
        </p:nvGrpSpPr>
        <p:grpSpPr bwMode="auto">
          <a:xfrm>
            <a:off x="4716463" y="304800"/>
            <a:ext cx="4122737" cy="2319338"/>
            <a:chOff x="2971" y="192"/>
            <a:chExt cx="2597" cy="1461"/>
          </a:xfrm>
        </p:grpSpPr>
        <p:sp>
          <p:nvSpPr>
            <p:cNvPr id="44039" name="AutoShape 38"/>
            <p:cNvSpPr>
              <a:spLocks noChangeArrowheads="1"/>
            </p:cNvSpPr>
            <p:nvPr/>
          </p:nvSpPr>
          <p:spPr bwMode="auto">
            <a:xfrm>
              <a:off x="3744" y="192"/>
              <a:ext cx="1824" cy="471"/>
            </a:xfrm>
            <a:prstGeom prst="wedgeRoundRectCallout">
              <a:avLst>
                <a:gd name="adj1" fmla="val -29824"/>
                <a:gd name="adj2" fmla="val 107963"/>
                <a:gd name="adj3" fmla="val 16667"/>
              </a:avLst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hu-HU" altLang="hu-HU" sz="2800"/>
                <a:t>Mondatszerű leírás</a:t>
              </a:r>
              <a:endParaRPr lang="hu-HU" altLang="hu-HU"/>
            </a:p>
          </p:txBody>
        </p:sp>
        <p:sp>
          <p:nvSpPr>
            <p:cNvPr id="44040" name="Text Box 39"/>
            <p:cNvSpPr txBox="1">
              <a:spLocks noChangeArrowheads="1"/>
            </p:cNvSpPr>
            <p:nvPr/>
          </p:nvSpPr>
          <p:spPr bwMode="auto">
            <a:xfrm>
              <a:off x="2971" y="981"/>
              <a:ext cx="2592" cy="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hu-HU" altLang="hu-HU" sz="3200" b="1"/>
                <a:t>Ha F1 akkor U1</a:t>
              </a:r>
            </a:p>
            <a:p>
              <a:r>
                <a:rPr lang="hu-HU" altLang="hu-HU" sz="3200" b="1"/>
                <a:t>	 egyébként U2</a:t>
              </a:r>
              <a:endParaRPr lang="hu-HU" altLang="hu-HU"/>
            </a:p>
          </p:txBody>
        </p:sp>
      </p:grpSp>
    </p:spTree>
    <p:extLst>
      <p:ext uri="{BB962C8B-B14F-4D97-AF65-F5344CB8AC3E}">
        <p14:creationId xmlns:p14="http://schemas.microsoft.com/office/powerpoint/2010/main" val="3739669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Dia számának helye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E97EA1A-844F-4476-B3C0-32B31D58CC43}" type="slidenum">
              <a:rPr lang="hu-HU" altLang="hu-HU" sz="1400"/>
              <a:pPr/>
              <a:t>7</a:t>
            </a:fld>
            <a:endParaRPr lang="hu-HU" altLang="hu-HU" sz="1400"/>
          </a:p>
        </p:txBody>
      </p:sp>
      <p:sp>
        <p:nvSpPr>
          <p:cNvPr id="45059" name="Rectangle 2"/>
          <p:cNvSpPr>
            <a:spLocks noChangeArrowheads="1"/>
          </p:cNvSpPr>
          <p:nvPr/>
        </p:nvSpPr>
        <p:spPr bwMode="auto">
          <a:xfrm>
            <a:off x="323528" y="212735"/>
            <a:ext cx="5545138" cy="306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444" tIns="43722" rIns="87444" bIns="43722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u-HU" sz="3600" b="1" dirty="0" err="1">
                <a:solidFill>
                  <a:schemeClr val="tx2"/>
                </a:solidFill>
              </a:rPr>
              <a:t>Többágú</a:t>
            </a:r>
            <a:r>
              <a:rPr lang="en-US" altLang="hu-HU" sz="3600" b="1" dirty="0">
                <a:solidFill>
                  <a:schemeClr val="tx2"/>
                </a:solidFill>
              </a:rPr>
              <a:t> </a:t>
            </a:r>
            <a:r>
              <a:rPr lang="en-US" altLang="hu-HU" sz="3600" b="1" dirty="0" err="1">
                <a:solidFill>
                  <a:schemeClr val="tx2"/>
                </a:solidFill>
              </a:rPr>
              <a:t>elágazás</a:t>
            </a:r>
            <a:r>
              <a:rPr lang="en-US" altLang="hu-HU" sz="3200" dirty="0">
                <a:solidFill>
                  <a:schemeClr val="tx2"/>
                </a:solidFill>
              </a:rPr>
              <a:t> - </a:t>
            </a:r>
            <a:br>
              <a:rPr lang="en-US" altLang="hu-HU" sz="3200" dirty="0">
                <a:solidFill>
                  <a:schemeClr val="tx2"/>
                </a:solidFill>
              </a:rPr>
            </a:br>
            <a:r>
              <a:rPr lang="hu-HU" altLang="hu-HU" sz="3200" dirty="0">
                <a:solidFill>
                  <a:schemeClr val="tx2"/>
                </a:solidFill>
              </a:rPr>
              <a:t>i</a:t>
            </a:r>
            <a:r>
              <a:rPr lang="en-US" altLang="hu-HU" sz="3200" dirty="0">
                <a:solidFill>
                  <a:schemeClr val="tx2"/>
                </a:solidFill>
              </a:rPr>
              <a:t>f </a:t>
            </a:r>
            <a:r>
              <a:rPr lang="hu-HU" altLang="hu-HU" sz="3200" dirty="0">
                <a:solidFill>
                  <a:schemeClr val="tx2"/>
                </a:solidFill>
              </a:rPr>
              <a:t>(kifejezés1) utasítás1;</a:t>
            </a:r>
            <a:br>
              <a:rPr lang="hu-HU" altLang="hu-HU" sz="3200" dirty="0">
                <a:solidFill>
                  <a:schemeClr val="tx2"/>
                </a:solidFill>
              </a:rPr>
            </a:br>
            <a:r>
              <a:rPr lang="hu-HU" altLang="hu-HU" sz="3200" dirty="0">
                <a:solidFill>
                  <a:schemeClr val="tx2"/>
                </a:solidFill>
              </a:rPr>
              <a:t>e</a:t>
            </a:r>
            <a:r>
              <a:rPr lang="en-US" altLang="hu-HU" sz="3200" dirty="0" err="1">
                <a:solidFill>
                  <a:schemeClr val="tx2"/>
                </a:solidFill>
              </a:rPr>
              <a:t>lse</a:t>
            </a:r>
            <a:r>
              <a:rPr lang="hu-HU" altLang="hu-HU" sz="3200" dirty="0">
                <a:solidFill>
                  <a:schemeClr val="tx2"/>
                </a:solidFill>
              </a:rPr>
              <a:t>  {</a:t>
            </a:r>
            <a:br>
              <a:rPr lang="hu-HU" altLang="hu-HU" sz="3200" dirty="0">
                <a:solidFill>
                  <a:schemeClr val="tx2"/>
                </a:solidFill>
              </a:rPr>
            </a:br>
            <a:r>
              <a:rPr lang="hu-HU" altLang="hu-HU" sz="3200" dirty="0">
                <a:solidFill>
                  <a:schemeClr val="tx2"/>
                </a:solidFill>
              </a:rPr>
              <a:t>   	</a:t>
            </a:r>
            <a:r>
              <a:rPr lang="hu-HU" altLang="hu-HU" sz="3200" dirty="0" err="1">
                <a:solidFill>
                  <a:schemeClr val="tx2"/>
                </a:solidFill>
              </a:rPr>
              <a:t>if</a:t>
            </a:r>
            <a:r>
              <a:rPr lang="hu-HU" altLang="hu-HU" sz="3200" dirty="0">
                <a:solidFill>
                  <a:schemeClr val="tx2"/>
                </a:solidFill>
              </a:rPr>
              <a:t> (kifejezés2)</a:t>
            </a:r>
            <a:br>
              <a:rPr lang="hu-HU" altLang="hu-HU" sz="3200" dirty="0">
                <a:solidFill>
                  <a:schemeClr val="tx2"/>
                </a:solidFill>
              </a:rPr>
            </a:br>
            <a:r>
              <a:rPr lang="hu-HU" altLang="hu-HU" sz="3200" dirty="0">
                <a:solidFill>
                  <a:schemeClr val="tx2"/>
                </a:solidFill>
              </a:rPr>
              <a:t>		utasítás2;</a:t>
            </a:r>
            <a:br>
              <a:rPr lang="hu-HU" altLang="hu-HU" sz="3200" dirty="0">
                <a:solidFill>
                  <a:schemeClr val="tx2"/>
                </a:solidFill>
              </a:rPr>
            </a:br>
            <a:r>
              <a:rPr lang="hu-HU" altLang="hu-HU" sz="3200" dirty="0">
                <a:solidFill>
                  <a:schemeClr val="tx2"/>
                </a:solidFill>
              </a:rPr>
              <a:t>	</a:t>
            </a:r>
            <a:r>
              <a:rPr lang="hu-HU" altLang="hu-HU" sz="3200" dirty="0" err="1">
                <a:solidFill>
                  <a:schemeClr val="tx2"/>
                </a:solidFill>
              </a:rPr>
              <a:t>else</a:t>
            </a:r>
            <a:r>
              <a:rPr lang="hu-HU" altLang="hu-HU" sz="3200" dirty="0">
                <a:solidFill>
                  <a:schemeClr val="tx2"/>
                </a:solidFill>
              </a:rPr>
              <a:t> utasítás3;  }</a:t>
            </a:r>
            <a:endParaRPr lang="en-US" altLang="hu-HU" sz="3200" dirty="0">
              <a:solidFill>
                <a:schemeClr val="tx2"/>
              </a:solidFill>
            </a:endParaRPr>
          </a:p>
        </p:txBody>
      </p:sp>
      <p:grpSp>
        <p:nvGrpSpPr>
          <p:cNvPr id="2" name="Group 55"/>
          <p:cNvGrpSpPr>
            <a:grpSpLocks/>
          </p:cNvGrpSpPr>
          <p:nvPr/>
        </p:nvGrpSpPr>
        <p:grpSpPr bwMode="auto">
          <a:xfrm>
            <a:off x="4778805" y="242692"/>
            <a:ext cx="4256088" cy="6507163"/>
            <a:chOff x="3152" y="164"/>
            <a:chExt cx="2681" cy="4099"/>
          </a:xfrm>
        </p:grpSpPr>
        <p:sp>
          <p:nvSpPr>
            <p:cNvPr id="45109" name="Text Box 5"/>
            <p:cNvSpPr txBox="1">
              <a:spLocks noChangeArrowheads="1"/>
            </p:cNvSpPr>
            <p:nvPr/>
          </p:nvSpPr>
          <p:spPr bwMode="auto">
            <a:xfrm>
              <a:off x="3152" y="164"/>
              <a:ext cx="2608" cy="4007"/>
            </a:xfrm>
            <a:prstGeom prst="rect">
              <a:avLst/>
            </a:prstGeom>
            <a:solidFill>
              <a:srgbClr val="CC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marL="92075" defTabSz="762000">
                <a:tabLst>
                  <a:tab pos="198438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>
                <a:tabLst>
                  <a:tab pos="198438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>
                <a:tabLst>
                  <a:tab pos="198438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>
                <a:tabLst>
                  <a:tab pos="198438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tabLst>
                  <a:tab pos="198438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98438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98438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98438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98438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da-DK" altLang="hu-HU" b="1" dirty="0"/>
                <a:t>	</a:t>
              </a:r>
              <a:r>
                <a:rPr lang="hu-HU" altLang="hu-HU" b="1" dirty="0"/>
                <a:t>i</a:t>
              </a:r>
              <a:r>
                <a:rPr lang="da-DK" altLang="hu-HU" b="1" dirty="0"/>
                <a:t>f </a:t>
              </a:r>
              <a:r>
                <a:rPr lang="hu-HU" altLang="hu-HU" b="1" dirty="0"/>
                <a:t>(kifejezés1)</a:t>
              </a:r>
              <a:br>
                <a:rPr lang="da-DK" altLang="hu-HU" b="1" dirty="0"/>
              </a:br>
              <a:r>
                <a:rPr lang="hu-HU" altLang="hu-HU" b="1" dirty="0"/>
                <a:t>	{</a:t>
              </a:r>
              <a:r>
                <a:rPr lang="da-DK" altLang="hu-HU" b="1" dirty="0"/>
                <a:t>		</a:t>
              </a:r>
              <a:endParaRPr lang="hu-HU" altLang="hu-HU" b="1" dirty="0"/>
            </a:p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hu-HU" altLang="hu-HU" b="1" dirty="0"/>
                <a:t>		</a:t>
              </a:r>
              <a:r>
                <a:rPr lang="da-DK" altLang="hu-HU" b="1" dirty="0"/>
                <a:t>U1</a:t>
              </a:r>
              <a:r>
                <a:rPr lang="hu-HU" altLang="hu-HU" b="1" dirty="0"/>
                <a:t>;</a:t>
              </a:r>
            </a:p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hu-HU" altLang="hu-HU" b="1" dirty="0"/>
                <a:t> }</a:t>
              </a:r>
              <a:br>
                <a:rPr lang="da-DK" altLang="hu-HU" b="1" dirty="0"/>
              </a:br>
              <a:r>
                <a:rPr lang="da-DK" altLang="hu-HU" b="1" dirty="0"/>
                <a:t>	</a:t>
              </a:r>
              <a:r>
                <a:rPr lang="hu-HU" altLang="hu-HU" b="1" dirty="0"/>
                <a:t>e</a:t>
              </a:r>
              <a:r>
                <a:rPr lang="da-DK" altLang="hu-HU" b="1" dirty="0"/>
                <a:t>lse </a:t>
              </a:r>
              <a:endParaRPr lang="hu-HU" altLang="hu-HU" b="1" dirty="0"/>
            </a:p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hu-HU" altLang="hu-HU" b="1" dirty="0"/>
                <a:t> {</a:t>
              </a:r>
            </a:p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hu-HU" altLang="hu-HU" b="1" dirty="0"/>
                <a:t>		i</a:t>
              </a:r>
              <a:r>
                <a:rPr lang="da-DK" altLang="hu-HU" b="1" dirty="0"/>
                <a:t>f </a:t>
              </a:r>
              <a:r>
                <a:rPr lang="hu-HU" altLang="hu-HU" b="1" dirty="0"/>
                <a:t>(kifejezés2)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hu-HU" altLang="hu-HU" b="1" dirty="0"/>
                <a:t>     	 {</a:t>
              </a:r>
              <a:br>
                <a:rPr lang="da-DK" altLang="hu-HU" b="1" dirty="0"/>
              </a:br>
              <a:r>
                <a:rPr lang="da-DK" altLang="hu-HU" b="1" dirty="0"/>
                <a:t>		</a:t>
              </a:r>
              <a:r>
                <a:rPr lang="hu-HU" altLang="hu-HU" b="1" dirty="0"/>
                <a:t>	</a:t>
              </a:r>
              <a:r>
                <a:rPr lang="da-DK" altLang="hu-HU" b="1" dirty="0"/>
                <a:t>U2</a:t>
              </a:r>
              <a:r>
                <a:rPr lang="hu-HU" altLang="hu-HU" b="1" dirty="0"/>
                <a:t>;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hu-HU" altLang="hu-HU" b="1" dirty="0"/>
                <a:t>		 }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hu-HU" altLang="hu-HU" b="1" dirty="0"/>
                <a:t>		</a:t>
              </a:r>
              <a:r>
                <a:rPr lang="hu-HU" altLang="hu-HU" b="1" dirty="0" err="1"/>
                <a:t>else</a:t>
              </a:r>
              <a:endParaRPr lang="hu-HU" altLang="hu-HU" b="1" dirty="0"/>
            </a:p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hu-HU" altLang="hu-HU" b="1" dirty="0"/>
                <a:t>		{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hu-HU" altLang="hu-HU" b="1" dirty="0"/>
                <a:t>			U3;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hu-HU" altLang="hu-HU" b="1" dirty="0"/>
                <a:t>		}	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hu-HU" altLang="hu-HU" b="1" dirty="0"/>
                <a:t> }</a:t>
              </a:r>
              <a:endParaRPr lang="en-US" altLang="hu-HU" dirty="0"/>
            </a:p>
          </p:txBody>
        </p:sp>
        <p:sp>
          <p:nvSpPr>
            <p:cNvPr id="45110" name="AutoShape 4"/>
            <p:cNvSpPr>
              <a:spLocks noChangeArrowheads="1"/>
            </p:cNvSpPr>
            <p:nvPr/>
          </p:nvSpPr>
          <p:spPr bwMode="auto">
            <a:xfrm>
              <a:off x="4076" y="3831"/>
              <a:ext cx="1757" cy="432"/>
            </a:xfrm>
            <a:prstGeom prst="wedgeRoundRectCallout">
              <a:avLst>
                <a:gd name="adj1" fmla="val 315"/>
                <a:gd name="adj2" fmla="val -261574"/>
                <a:gd name="adj3" fmla="val 16667"/>
              </a:avLst>
            </a:prstGeom>
            <a:solidFill>
              <a:srgbClr val="DACFBE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marL="342900" indent="-3429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hu-HU" altLang="hu-HU" sz="2800" dirty="0">
                  <a:solidFill>
                    <a:srgbClr val="000000"/>
                  </a:solidFill>
                </a:rPr>
                <a:t>C#</a:t>
              </a:r>
              <a:r>
                <a:rPr lang="en-US" altLang="hu-HU" sz="2800" dirty="0">
                  <a:solidFill>
                    <a:srgbClr val="000000"/>
                  </a:solidFill>
                </a:rPr>
                <a:t> </a:t>
              </a:r>
              <a:r>
                <a:rPr lang="en-US" altLang="hu-HU" sz="2800" dirty="0" err="1">
                  <a:solidFill>
                    <a:srgbClr val="000000"/>
                  </a:solidFill>
                </a:rPr>
                <a:t>kód</a:t>
              </a:r>
              <a:endParaRPr lang="en-US" altLang="hu-HU" sz="28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" name="Group 54"/>
          <p:cNvGrpSpPr>
            <a:grpSpLocks/>
          </p:cNvGrpSpPr>
          <p:nvPr/>
        </p:nvGrpSpPr>
        <p:grpSpPr bwMode="auto">
          <a:xfrm>
            <a:off x="477284" y="3429000"/>
            <a:ext cx="4223936" cy="3217368"/>
            <a:chOff x="158" y="2069"/>
            <a:chExt cx="2778" cy="2116"/>
          </a:xfrm>
        </p:grpSpPr>
        <p:grpSp>
          <p:nvGrpSpPr>
            <p:cNvPr id="45062" name="Group 8"/>
            <p:cNvGrpSpPr>
              <a:grpSpLocks/>
            </p:cNvGrpSpPr>
            <p:nvPr/>
          </p:nvGrpSpPr>
          <p:grpSpPr bwMode="auto">
            <a:xfrm>
              <a:off x="158" y="2069"/>
              <a:ext cx="2139" cy="2106"/>
              <a:chOff x="1438" y="2166"/>
              <a:chExt cx="2258" cy="2106"/>
            </a:xfrm>
          </p:grpSpPr>
          <p:sp>
            <p:nvSpPr>
              <p:cNvPr id="45064" name="Rectangle 9"/>
              <p:cNvSpPr>
                <a:spLocks noChangeArrowheads="1"/>
              </p:cNvSpPr>
              <p:nvPr/>
            </p:nvSpPr>
            <p:spPr bwMode="auto">
              <a:xfrm>
                <a:off x="1438" y="2565"/>
                <a:ext cx="575" cy="2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ts val="500"/>
                  </a:spcBef>
                  <a:spcAft>
                    <a:spcPts val="300"/>
                  </a:spcAft>
                </a:pPr>
                <a:r>
                  <a:rPr lang="hu-HU" altLang="hu-HU" sz="1800"/>
                  <a:t>Hamis</a:t>
                </a:r>
              </a:p>
            </p:txBody>
          </p:sp>
          <p:grpSp>
            <p:nvGrpSpPr>
              <p:cNvPr id="45065" name="Group 10"/>
              <p:cNvGrpSpPr>
                <a:grpSpLocks/>
              </p:cNvGrpSpPr>
              <p:nvPr/>
            </p:nvGrpSpPr>
            <p:grpSpPr bwMode="auto">
              <a:xfrm>
                <a:off x="1461" y="2166"/>
                <a:ext cx="2235" cy="2106"/>
                <a:chOff x="1461" y="2166"/>
                <a:chExt cx="2235" cy="2106"/>
              </a:xfrm>
            </p:grpSpPr>
            <p:sp>
              <p:nvSpPr>
                <p:cNvPr id="45066" name="Line 11"/>
                <p:cNvSpPr>
                  <a:spLocks noChangeShapeType="1"/>
                </p:cNvSpPr>
                <p:nvPr/>
              </p:nvSpPr>
              <p:spPr bwMode="auto">
                <a:xfrm>
                  <a:off x="3350" y="3632"/>
                  <a:ext cx="346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45067" name="Line 12"/>
                <p:cNvSpPr>
                  <a:spLocks noChangeShapeType="1"/>
                </p:cNvSpPr>
                <p:nvPr/>
              </p:nvSpPr>
              <p:spPr bwMode="auto">
                <a:xfrm>
                  <a:off x="3353" y="2456"/>
                  <a:ext cx="336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45068" name="Line 13"/>
                <p:cNvSpPr>
                  <a:spLocks noChangeShapeType="1"/>
                </p:cNvSpPr>
                <p:nvPr/>
              </p:nvSpPr>
              <p:spPr bwMode="auto">
                <a:xfrm>
                  <a:off x="3688" y="2456"/>
                  <a:ext cx="1" cy="654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45069" name="Line 14"/>
                <p:cNvSpPr>
                  <a:spLocks noChangeShapeType="1"/>
                </p:cNvSpPr>
                <p:nvPr/>
              </p:nvSpPr>
              <p:spPr bwMode="auto">
                <a:xfrm>
                  <a:off x="2044" y="2166"/>
                  <a:ext cx="1" cy="137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45070" name="Rectangle 15"/>
                <p:cNvSpPr>
                  <a:spLocks noChangeArrowheads="1"/>
                </p:cNvSpPr>
                <p:nvPr/>
              </p:nvSpPr>
              <p:spPr bwMode="auto">
                <a:xfrm>
                  <a:off x="1884" y="2379"/>
                  <a:ext cx="296" cy="16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2700" tIns="12700" rIns="12700" bIns="12700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/>
                  <a:r>
                    <a:rPr lang="hu-HU" altLang="hu-HU" sz="1800"/>
                    <a:t>kif.</a:t>
                  </a:r>
                  <a:endParaRPr lang="en-AU" altLang="hu-HU" sz="1800"/>
                </a:p>
              </p:txBody>
            </p:sp>
            <p:grpSp>
              <p:nvGrpSpPr>
                <p:cNvPr id="45071" name="Group 16"/>
                <p:cNvGrpSpPr>
                  <a:grpSpLocks/>
                </p:cNvGrpSpPr>
                <p:nvPr/>
              </p:nvGrpSpPr>
              <p:grpSpPr bwMode="auto">
                <a:xfrm>
                  <a:off x="1749" y="2302"/>
                  <a:ext cx="575" cy="305"/>
                  <a:chOff x="0" y="0"/>
                  <a:chExt cx="20000" cy="20000"/>
                </a:xfrm>
              </p:grpSpPr>
              <p:sp>
                <p:nvSpPr>
                  <p:cNvPr id="45105" name="Line 1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0" y="0"/>
                    <a:ext cx="10000" cy="10012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hu-HU"/>
                  </a:p>
                </p:txBody>
              </p:sp>
              <p:sp>
                <p:nvSpPr>
                  <p:cNvPr id="45106" name="Line 18"/>
                  <p:cNvSpPr>
                    <a:spLocks noChangeShapeType="1"/>
                  </p:cNvSpPr>
                  <p:nvPr/>
                </p:nvSpPr>
                <p:spPr bwMode="auto">
                  <a:xfrm>
                    <a:off x="10000" y="0"/>
                    <a:ext cx="10000" cy="10012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hu-HU"/>
                  </a:p>
                </p:txBody>
              </p:sp>
              <p:sp>
                <p:nvSpPr>
                  <p:cNvPr id="45107" name="Line 1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000" y="9988"/>
                    <a:ext cx="10000" cy="10012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hu-HU"/>
                  </a:p>
                </p:txBody>
              </p:sp>
              <p:sp>
                <p:nvSpPr>
                  <p:cNvPr id="45108" name="Line 20"/>
                  <p:cNvSpPr>
                    <a:spLocks noChangeShapeType="1"/>
                  </p:cNvSpPr>
                  <p:nvPr/>
                </p:nvSpPr>
                <p:spPr bwMode="auto">
                  <a:xfrm>
                    <a:off x="0" y="9988"/>
                    <a:ext cx="10000" cy="10012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hu-HU"/>
                  </a:p>
                </p:txBody>
              </p:sp>
            </p:grpSp>
            <p:sp>
              <p:nvSpPr>
                <p:cNvPr id="45072" name="Line 21"/>
                <p:cNvSpPr>
                  <a:spLocks noChangeShapeType="1"/>
                </p:cNvSpPr>
                <p:nvPr/>
              </p:nvSpPr>
              <p:spPr bwMode="auto">
                <a:xfrm>
                  <a:off x="2044" y="2607"/>
                  <a:ext cx="1" cy="137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45073" name="Rectangle 22"/>
                <p:cNvSpPr>
                  <a:spLocks noChangeArrowheads="1"/>
                </p:cNvSpPr>
                <p:nvPr/>
              </p:nvSpPr>
              <p:spPr bwMode="auto">
                <a:xfrm>
                  <a:off x="1884" y="2820"/>
                  <a:ext cx="296" cy="1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2700" tIns="12700" rIns="12700" bIns="12700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/>
                  <a:r>
                    <a:rPr lang="hu-HU" altLang="hu-HU" sz="1800"/>
                    <a:t>kif.</a:t>
                  </a:r>
                  <a:endParaRPr lang="en-AU" altLang="hu-HU" sz="1800"/>
                </a:p>
              </p:txBody>
            </p:sp>
            <p:grpSp>
              <p:nvGrpSpPr>
                <p:cNvPr id="45074" name="Group 23"/>
                <p:cNvGrpSpPr>
                  <a:grpSpLocks/>
                </p:cNvGrpSpPr>
                <p:nvPr/>
              </p:nvGrpSpPr>
              <p:grpSpPr bwMode="auto">
                <a:xfrm>
                  <a:off x="1749" y="2743"/>
                  <a:ext cx="575" cy="305"/>
                  <a:chOff x="0" y="0"/>
                  <a:chExt cx="20000" cy="20000"/>
                </a:xfrm>
              </p:grpSpPr>
              <p:sp>
                <p:nvSpPr>
                  <p:cNvPr id="45101" name="Line 2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0" y="0"/>
                    <a:ext cx="10000" cy="10012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hu-HU"/>
                  </a:p>
                </p:txBody>
              </p:sp>
              <p:sp>
                <p:nvSpPr>
                  <p:cNvPr id="45102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10000" y="0"/>
                    <a:ext cx="10000" cy="10012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hu-HU"/>
                  </a:p>
                </p:txBody>
              </p:sp>
              <p:sp>
                <p:nvSpPr>
                  <p:cNvPr id="45103" name="Line 2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000" y="9988"/>
                    <a:ext cx="10000" cy="10012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hu-HU"/>
                  </a:p>
                </p:txBody>
              </p:sp>
              <p:sp>
                <p:nvSpPr>
                  <p:cNvPr id="45104" name="Line 27"/>
                  <p:cNvSpPr>
                    <a:spLocks noChangeShapeType="1"/>
                  </p:cNvSpPr>
                  <p:nvPr/>
                </p:nvSpPr>
                <p:spPr bwMode="auto">
                  <a:xfrm>
                    <a:off x="0" y="9988"/>
                    <a:ext cx="10000" cy="10012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hu-HU"/>
                  </a:p>
                </p:txBody>
              </p:sp>
            </p:grpSp>
            <p:sp>
              <p:nvSpPr>
                <p:cNvPr id="45075" name="Line 28"/>
                <p:cNvSpPr>
                  <a:spLocks noChangeShapeType="1"/>
                </p:cNvSpPr>
                <p:nvPr/>
              </p:nvSpPr>
              <p:spPr bwMode="auto">
                <a:xfrm>
                  <a:off x="2044" y="3309"/>
                  <a:ext cx="0" cy="137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45076" name="Rectangle 29"/>
                <p:cNvSpPr>
                  <a:spLocks noChangeArrowheads="1"/>
                </p:cNvSpPr>
                <p:nvPr/>
              </p:nvSpPr>
              <p:spPr bwMode="auto">
                <a:xfrm>
                  <a:off x="1883" y="3523"/>
                  <a:ext cx="296" cy="1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2700" tIns="12700" rIns="12700" bIns="12700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/>
                  <a:r>
                    <a:rPr lang="hu-HU" altLang="hu-HU" sz="1800"/>
                    <a:t>kif.</a:t>
                  </a:r>
                  <a:endParaRPr lang="en-AU" altLang="hu-HU" sz="1800"/>
                </a:p>
              </p:txBody>
            </p:sp>
            <p:grpSp>
              <p:nvGrpSpPr>
                <p:cNvPr id="45077" name="Group 30"/>
                <p:cNvGrpSpPr>
                  <a:grpSpLocks/>
                </p:cNvGrpSpPr>
                <p:nvPr/>
              </p:nvGrpSpPr>
              <p:grpSpPr bwMode="auto">
                <a:xfrm>
                  <a:off x="1749" y="3445"/>
                  <a:ext cx="575" cy="305"/>
                  <a:chOff x="0" y="0"/>
                  <a:chExt cx="20000" cy="19999"/>
                </a:xfrm>
              </p:grpSpPr>
              <p:sp>
                <p:nvSpPr>
                  <p:cNvPr id="45097" name="Line 3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0" y="0"/>
                    <a:ext cx="10000" cy="10012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hu-HU"/>
                  </a:p>
                </p:txBody>
              </p:sp>
              <p:sp>
                <p:nvSpPr>
                  <p:cNvPr id="45098" name="Line 32"/>
                  <p:cNvSpPr>
                    <a:spLocks noChangeShapeType="1"/>
                  </p:cNvSpPr>
                  <p:nvPr/>
                </p:nvSpPr>
                <p:spPr bwMode="auto">
                  <a:xfrm>
                    <a:off x="10000" y="0"/>
                    <a:ext cx="10000" cy="10012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hu-HU"/>
                  </a:p>
                </p:txBody>
              </p:sp>
              <p:sp>
                <p:nvSpPr>
                  <p:cNvPr id="45099" name="Line 3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000" y="9987"/>
                    <a:ext cx="10000" cy="10012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hu-HU"/>
                  </a:p>
                </p:txBody>
              </p:sp>
              <p:sp>
                <p:nvSpPr>
                  <p:cNvPr id="45100" name="Line 34"/>
                  <p:cNvSpPr>
                    <a:spLocks noChangeShapeType="1"/>
                  </p:cNvSpPr>
                  <p:nvPr/>
                </p:nvSpPr>
                <p:spPr bwMode="auto">
                  <a:xfrm>
                    <a:off x="0" y="9987"/>
                    <a:ext cx="10000" cy="10012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hu-HU"/>
                  </a:p>
                </p:txBody>
              </p:sp>
            </p:grpSp>
            <p:sp>
              <p:nvSpPr>
                <p:cNvPr id="45078" name="Line 35"/>
                <p:cNvSpPr>
                  <a:spLocks noChangeShapeType="1"/>
                </p:cNvSpPr>
                <p:nvPr/>
              </p:nvSpPr>
              <p:spPr bwMode="auto">
                <a:xfrm>
                  <a:off x="2045" y="3050"/>
                  <a:ext cx="0" cy="137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45079" name="Line 36"/>
                <p:cNvSpPr>
                  <a:spLocks noChangeShapeType="1"/>
                </p:cNvSpPr>
                <p:nvPr/>
              </p:nvSpPr>
              <p:spPr bwMode="auto">
                <a:xfrm>
                  <a:off x="2045" y="3751"/>
                  <a:ext cx="0" cy="138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45080" name="Rectangle 37"/>
                <p:cNvSpPr>
                  <a:spLocks noChangeArrowheads="1"/>
                </p:cNvSpPr>
                <p:nvPr/>
              </p:nvSpPr>
              <p:spPr bwMode="auto">
                <a:xfrm>
                  <a:off x="1725" y="3893"/>
                  <a:ext cx="682" cy="214"/>
                </a:xfrm>
                <a:prstGeom prst="rect">
                  <a:avLst/>
                </a:prstGeom>
                <a:noFill/>
                <a:ln w="2540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0" rIns="0" bIns="0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ts val="500"/>
                    </a:spcBef>
                    <a:spcAft>
                      <a:spcPts val="300"/>
                    </a:spcAft>
                  </a:pPr>
                  <a:r>
                    <a:rPr lang="hu-HU" altLang="hu-HU" sz="1800"/>
                    <a:t>Un+1</a:t>
                  </a:r>
                </a:p>
              </p:txBody>
            </p:sp>
            <p:sp>
              <p:nvSpPr>
                <p:cNvPr id="45081" name="Line 38"/>
                <p:cNvSpPr>
                  <a:spLocks noChangeShapeType="1"/>
                </p:cNvSpPr>
                <p:nvPr/>
              </p:nvSpPr>
              <p:spPr bwMode="auto">
                <a:xfrm>
                  <a:off x="2036" y="4108"/>
                  <a:ext cx="1" cy="164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45082" name="Rectangle 39"/>
                <p:cNvSpPr>
                  <a:spLocks noChangeArrowheads="1"/>
                </p:cNvSpPr>
                <p:nvPr/>
              </p:nvSpPr>
              <p:spPr bwMode="auto">
                <a:xfrm>
                  <a:off x="2227" y="2240"/>
                  <a:ext cx="472" cy="21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2700" tIns="12700" rIns="12700" bIns="12700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ts val="500"/>
                    </a:spcBef>
                    <a:spcAft>
                      <a:spcPts val="300"/>
                    </a:spcAft>
                  </a:pPr>
                  <a:r>
                    <a:rPr lang="hu-HU" altLang="hu-HU" sz="1800"/>
                    <a:t>Igaz</a:t>
                  </a:r>
                </a:p>
              </p:txBody>
            </p:sp>
            <p:sp>
              <p:nvSpPr>
                <p:cNvPr id="45083" name="Rectangle 40"/>
                <p:cNvSpPr>
                  <a:spLocks noChangeArrowheads="1"/>
                </p:cNvSpPr>
                <p:nvPr/>
              </p:nvSpPr>
              <p:spPr bwMode="auto">
                <a:xfrm>
                  <a:off x="2659" y="2366"/>
                  <a:ext cx="682" cy="214"/>
                </a:xfrm>
                <a:prstGeom prst="rect">
                  <a:avLst/>
                </a:prstGeom>
                <a:noFill/>
                <a:ln w="2540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0" rIns="0" bIns="0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ts val="500"/>
                    </a:spcBef>
                    <a:spcAft>
                      <a:spcPts val="300"/>
                    </a:spcAft>
                  </a:pPr>
                  <a:r>
                    <a:rPr lang="hu-HU" altLang="hu-HU" sz="1800"/>
                    <a:t>U1</a:t>
                  </a:r>
                </a:p>
              </p:txBody>
            </p:sp>
            <p:sp>
              <p:nvSpPr>
                <p:cNvPr id="45084" name="Line 41"/>
                <p:cNvSpPr>
                  <a:spLocks noChangeShapeType="1"/>
                </p:cNvSpPr>
                <p:nvPr/>
              </p:nvSpPr>
              <p:spPr bwMode="auto">
                <a:xfrm>
                  <a:off x="2324" y="2456"/>
                  <a:ext cx="335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45085" name="Rectangle 42"/>
                <p:cNvSpPr>
                  <a:spLocks noChangeArrowheads="1"/>
                </p:cNvSpPr>
                <p:nvPr/>
              </p:nvSpPr>
              <p:spPr bwMode="auto">
                <a:xfrm>
                  <a:off x="1462" y="3673"/>
                  <a:ext cx="575" cy="2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2700" tIns="12700" rIns="12700" bIns="12700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ts val="500"/>
                    </a:spcBef>
                    <a:spcAft>
                      <a:spcPts val="300"/>
                    </a:spcAft>
                  </a:pPr>
                  <a:r>
                    <a:rPr lang="hu-HU" altLang="hu-HU" sz="1800"/>
                    <a:t>Hamis</a:t>
                  </a:r>
                </a:p>
              </p:txBody>
            </p:sp>
            <p:sp>
              <p:nvSpPr>
                <p:cNvPr id="45086" name="Rectangle 43"/>
                <p:cNvSpPr>
                  <a:spLocks noChangeArrowheads="1"/>
                </p:cNvSpPr>
                <p:nvPr/>
              </p:nvSpPr>
              <p:spPr bwMode="auto">
                <a:xfrm>
                  <a:off x="1461" y="2949"/>
                  <a:ext cx="576" cy="2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2700" tIns="12700" rIns="12700" bIns="12700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ts val="500"/>
                    </a:spcBef>
                    <a:spcAft>
                      <a:spcPts val="300"/>
                    </a:spcAft>
                  </a:pPr>
                  <a:r>
                    <a:rPr lang="hu-HU" altLang="hu-HU" sz="1800"/>
                    <a:t>Hamis</a:t>
                  </a:r>
                </a:p>
              </p:txBody>
            </p:sp>
            <p:sp>
              <p:nvSpPr>
                <p:cNvPr id="45087" name="Rectangle 44"/>
                <p:cNvSpPr>
                  <a:spLocks noChangeArrowheads="1"/>
                </p:cNvSpPr>
                <p:nvPr/>
              </p:nvSpPr>
              <p:spPr bwMode="auto">
                <a:xfrm>
                  <a:off x="2228" y="2674"/>
                  <a:ext cx="472" cy="21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2700" tIns="12700" rIns="12700" bIns="12700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ts val="500"/>
                    </a:spcBef>
                    <a:spcAft>
                      <a:spcPts val="300"/>
                    </a:spcAft>
                  </a:pPr>
                  <a:r>
                    <a:rPr lang="hu-HU" altLang="hu-HU" sz="1800"/>
                    <a:t>Igaz</a:t>
                  </a:r>
                </a:p>
              </p:txBody>
            </p:sp>
            <p:sp>
              <p:nvSpPr>
                <p:cNvPr id="45088" name="Rectangle 45"/>
                <p:cNvSpPr>
                  <a:spLocks noChangeArrowheads="1"/>
                </p:cNvSpPr>
                <p:nvPr/>
              </p:nvSpPr>
              <p:spPr bwMode="auto">
                <a:xfrm>
                  <a:off x="2659" y="2799"/>
                  <a:ext cx="682" cy="214"/>
                </a:xfrm>
                <a:prstGeom prst="rect">
                  <a:avLst/>
                </a:prstGeom>
                <a:noFill/>
                <a:ln w="2540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0" rIns="0" bIns="0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ts val="500"/>
                    </a:spcBef>
                    <a:spcAft>
                      <a:spcPts val="300"/>
                    </a:spcAft>
                  </a:pPr>
                  <a:r>
                    <a:rPr lang="hu-HU" altLang="hu-HU" sz="1800"/>
                    <a:t>U2</a:t>
                  </a:r>
                </a:p>
              </p:txBody>
            </p:sp>
            <p:sp>
              <p:nvSpPr>
                <p:cNvPr id="45089" name="Line 46"/>
                <p:cNvSpPr>
                  <a:spLocks noChangeShapeType="1"/>
                </p:cNvSpPr>
                <p:nvPr/>
              </p:nvSpPr>
              <p:spPr bwMode="auto">
                <a:xfrm>
                  <a:off x="2324" y="2890"/>
                  <a:ext cx="336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45090" name="Rectangle 47"/>
                <p:cNvSpPr>
                  <a:spLocks noChangeArrowheads="1"/>
                </p:cNvSpPr>
                <p:nvPr/>
              </p:nvSpPr>
              <p:spPr bwMode="auto">
                <a:xfrm>
                  <a:off x="2228" y="3382"/>
                  <a:ext cx="472" cy="21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2700" tIns="12700" rIns="12700" bIns="12700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ts val="500"/>
                    </a:spcBef>
                    <a:spcAft>
                      <a:spcPts val="300"/>
                    </a:spcAft>
                  </a:pPr>
                  <a:r>
                    <a:rPr lang="hu-HU" altLang="hu-HU" sz="1800"/>
                    <a:t>Igaz</a:t>
                  </a:r>
                </a:p>
              </p:txBody>
            </p:sp>
            <p:sp>
              <p:nvSpPr>
                <p:cNvPr id="45091" name="Rectangle 48"/>
                <p:cNvSpPr>
                  <a:spLocks noChangeArrowheads="1"/>
                </p:cNvSpPr>
                <p:nvPr/>
              </p:nvSpPr>
              <p:spPr bwMode="auto">
                <a:xfrm>
                  <a:off x="2659" y="3508"/>
                  <a:ext cx="682" cy="214"/>
                </a:xfrm>
                <a:prstGeom prst="rect">
                  <a:avLst/>
                </a:prstGeom>
                <a:noFill/>
                <a:ln w="2540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0" rIns="0" bIns="0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ts val="500"/>
                    </a:spcBef>
                    <a:spcAft>
                      <a:spcPts val="300"/>
                    </a:spcAft>
                  </a:pPr>
                  <a:r>
                    <a:rPr lang="hu-HU" altLang="hu-HU" sz="1800"/>
                    <a:t>Un</a:t>
                  </a:r>
                </a:p>
              </p:txBody>
            </p:sp>
            <p:sp>
              <p:nvSpPr>
                <p:cNvPr id="45092" name="Line 49"/>
                <p:cNvSpPr>
                  <a:spLocks noChangeShapeType="1"/>
                </p:cNvSpPr>
                <p:nvPr/>
              </p:nvSpPr>
              <p:spPr bwMode="auto">
                <a:xfrm>
                  <a:off x="2324" y="3598"/>
                  <a:ext cx="336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45093" name="Line 50"/>
                <p:cNvSpPr>
                  <a:spLocks noChangeShapeType="1"/>
                </p:cNvSpPr>
                <p:nvPr/>
              </p:nvSpPr>
              <p:spPr bwMode="auto">
                <a:xfrm>
                  <a:off x="3353" y="2910"/>
                  <a:ext cx="336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45094" name="Line 51"/>
                <p:cNvSpPr>
                  <a:spLocks noChangeShapeType="1"/>
                </p:cNvSpPr>
                <p:nvPr/>
              </p:nvSpPr>
              <p:spPr bwMode="auto">
                <a:xfrm flipH="1">
                  <a:off x="2036" y="4181"/>
                  <a:ext cx="1653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45095" name="Line 52"/>
                <p:cNvSpPr>
                  <a:spLocks noChangeShapeType="1"/>
                </p:cNvSpPr>
                <p:nvPr/>
              </p:nvSpPr>
              <p:spPr bwMode="auto">
                <a:xfrm>
                  <a:off x="3688" y="3527"/>
                  <a:ext cx="1" cy="654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45096" name="Rectangle 53"/>
                <p:cNvSpPr>
                  <a:spLocks noChangeArrowheads="1"/>
                </p:cNvSpPr>
                <p:nvPr/>
              </p:nvSpPr>
              <p:spPr bwMode="auto">
                <a:xfrm>
                  <a:off x="2084" y="3146"/>
                  <a:ext cx="265" cy="1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/>
                  <a:r>
                    <a:rPr lang="en-AU" altLang="hu-HU" sz="1800"/>
                    <a:t>...</a:t>
                  </a:r>
                </a:p>
              </p:txBody>
            </p:sp>
          </p:grpSp>
        </p:grpSp>
        <p:sp>
          <p:nvSpPr>
            <p:cNvPr id="45063" name="AutoShape 7"/>
            <p:cNvSpPr>
              <a:spLocks noChangeArrowheads="1"/>
            </p:cNvSpPr>
            <p:nvPr/>
          </p:nvSpPr>
          <p:spPr bwMode="auto">
            <a:xfrm>
              <a:off x="1592" y="3753"/>
              <a:ext cx="1344" cy="432"/>
            </a:xfrm>
            <a:prstGeom prst="wedgeRoundRectCallout">
              <a:avLst>
                <a:gd name="adj1" fmla="val -68005"/>
                <a:gd name="adj2" fmla="val -16435"/>
                <a:gd name="adj3" fmla="val 16667"/>
              </a:avLst>
            </a:prstGeom>
            <a:solidFill>
              <a:srgbClr val="DACFBE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marL="342900" indent="-3429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hu-HU" sz="2800" dirty="0" err="1">
                  <a:solidFill>
                    <a:srgbClr val="000000"/>
                  </a:solidFill>
                </a:rPr>
                <a:t>Folyamatábra</a:t>
              </a:r>
              <a:endParaRPr lang="en-US" altLang="hu-HU" sz="2800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4035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Dia számának helye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E97EA1A-844F-4476-B3C0-32B31D58CC43}" type="slidenum">
              <a:rPr lang="hu-HU" altLang="hu-HU" sz="1400"/>
              <a:pPr/>
              <a:t>8</a:t>
            </a:fld>
            <a:endParaRPr lang="hu-HU" altLang="hu-HU" sz="1400"/>
          </a:p>
        </p:txBody>
      </p:sp>
      <p:sp>
        <p:nvSpPr>
          <p:cNvPr id="45059" name="Rectangle 2"/>
          <p:cNvSpPr>
            <a:spLocks noChangeArrowheads="1"/>
          </p:cNvSpPr>
          <p:nvPr/>
        </p:nvSpPr>
        <p:spPr bwMode="auto">
          <a:xfrm>
            <a:off x="250825" y="142875"/>
            <a:ext cx="5545138" cy="306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444" tIns="43722" rIns="87444" bIns="43722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u-HU" sz="3600" b="1" dirty="0" err="1">
                <a:solidFill>
                  <a:schemeClr val="tx2"/>
                </a:solidFill>
              </a:rPr>
              <a:t>Többágú</a:t>
            </a:r>
            <a:r>
              <a:rPr lang="en-US" altLang="hu-HU" sz="3600" b="1" dirty="0">
                <a:solidFill>
                  <a:schemeClr val="tx2"/>
                </a:solidFill>
              </a:rPr>
              <a:t> </a:t>
            </a:r>
            <a:r>
              <a:rPr lang="en-US" altLang="hu-HU" sz="3600" b="1" dirty="0" err="1">
                <a:solidFill>
                  <a:schemeClr val="tx2"/>
                </a:solidFill>
              </a:rPr>
              <a:t>elágazás</a:t>
            </a:r>
            <a:r>
              <a:rPr lang="en-US" altLang="hu-HU" sz="3200" dirty="0">
                <a:solidFill>
                  <a:schemeClr val="tx2"/>
                </a:solidFill>
              </a:rPr>
              <a:t> - </a:t>
            </a:r>
            <a:br>
              <a:rPr lang="en-US" altLang="hu-HU" sz="3200" dirty="0">
                <a:solidFill>
                  <a:schemeClr val="tx2"/>
                </a:solidFill>
              </a:rPr>
            </a:br>
            <a:r>
              <a:rPr lang="hu-HU" altLang="hu-HU" sz="3200" dirty="0">
                <a:solidFill>
                  <a:schemeClr val="tx2"/>
                </a:solidFill>
              </a:rPr>
              <a:t>i</a:t>
            </a:r>
            <a:r>
              <a:rPr lang="en-US" altLang="hu-HU" sz="3200" dirty="0">
                <a:solidFill>
                  <a:schemeClr val="tx2"/>
                </a:solidFill>
              </a:rPr>
              <a:t>f </a:t>
            </a:r>
            <a:r>
              <a:rPr lang="hu-HU" altLang="hu-HU" sz="3200" dirty="0">
                <a:solidFill>
                  <a:schemeClr val="tx2"/>
                </a:solidFill>
              </a:rPr>
              <a:t>(kifejezés1) utasítás1;</a:t>
            </a:r>
            <a:br>
              <a:rPr lang="hu-HU" altLang="hu-HU" sz="3200" dirty="0">
                <a:solidFill>
                  <a:schemeClr val="tx2"/>
                </a:solidFill>
              </a:rPr>
            </a:br>
            <a:r>
              <a:rPr lang="hu-HU" altLang="hu-HU" sz="3200" dirty="0">
                <a:solidFill>
                  <a:schemeClr val="tx2"/>
                </a:solidFill>
              </a:rPr>
              <a:t>e</a:t>
            </a:r>
            <a:r>
              <a:rPr lang="en-US" altLang="hu-HU" sz="3200" dirty="0" err="1">
                <a:solidFill>
                  <a:schemeClr val="tx2"/>
                </a:solidFill>
              </a:rPr>
              <a:t>lse</a:t>
            </a:r>
            <a:r>
              <a:rPr lang="hu-HU" altLang="hu-HU" sz="3200" dirty="0">
                <a:solidFill>
                  <a:schemeClr val="tx2"/>
                </a:solidFill>
              </a:rPr>
              <a:t>  {</a:t>
            </a:r>
            <a:br>
              <a:rPr lang="hu-HU" altLang="hu-HU" sz="3200" dirty="0">
                <a:solidFill>
                  <a:schemeClr val="tx2"/>
                </a:solidFill>
              </a:rPr>
            </a:br>
            <a:r>
              <a:rPr lang="hu-HU" altLang="hu-HU" sz="3200" dirty="0">
                <a:solidFill>
                  <a:schemeClr val="tx2"/>
                </a:solidFill>
              </a:rPr>
              <a:t>   	</a:t>
            </a:r>
            <a:r>
              <a:rPr lang="hu-HU" altLang="hu-HU" sz="3200" dirty="0" err="1">
                <a:solidFill>
                  <a:schemeClr val="tx2"/>
                </a:solidFill>
              </a:rPr>
              <a:t>if</a:t>
            </a:r>
            <a:r>
              <a:rPr lang="hu-HU" altLang="hu-HU" sz="3200" dirty="0">
                <a:solidFill>
                  <a:schemeClr val="tx2"/>
                </a:solidFill>
              </a:rPr>
              <a:t> (kifejezés2)</a:t>
            </a:r>
            <a:br>
              <a:rPr lang="hu-HU" altLang="hu-HU" sz="3200" dirty="0">
                <a:solidFill>
                  <a:schemeClr val="tx2"/>
                </a:solidFill>
              </a:rPr>
            </a:br>
            <a:r>
              <a:rPr lang="hu-HU" altLang="hu-HU" sz="3200" dirty="0">
                <a:solidFill>
                  <a:schemeClr val="tx2"/>
                </a:solidFill>
              </a:rPr>
              <a:t>		utasítás2;</a:t>
            </a:r>
            <a:br>
              <a:rPr lang="hu-HU" altLang="hu-HU" sz="3200" dirty="0">
                <a:solidFill>
                  <a:schemeClr val="tx2"/>
                </a:solidFill>
              </a:rPr>
            </a:br>
            <a:r>
              <a:rPr lang="hu-HU" altLang="hu-HU" sz="3200" dirty="0">
                <a:solidFill>
                  <a:schemeClr val="tx2"/>
                </a:solidFill>
              </a:rPr>
              <a:t>	</a:t>
            </a:r>
            <a:r>
              <a:rPr lang="hu-HU" altLang="hu-HU" sz="3200" dirty="0" err="1">
                <a:solidFill>
                  <a:schemeClr val="tx2"/>
                </a:solidFill>
              </a:rPr>
              <a:t>else</a:t>
            </a:r>
            <a:r>
              <a:rPr lang="hu-HU" altLang="hu-HU" sz="3200" dirty="0">
                <a:solidFill>
                  <a:schemeClr val="tx2"/>
                </a:solidFill>
              </a:rPr>
              <a:t> utasítás3;  }</a:t>
            </a:r>
            <a:endParaRPr lang="en-US" altLang="hu-HU" sz="3200" dirty="0">
              <a:solidFill>
                <a:schemeClr val="tx2"/>
              </a:solidFill>
            </a:endParaRPr>
          </a:p>
        </p:txBody>
      </p:sp>
      <p:grpSp>
        <p:nvGrpSpPr>
          <p:cNvPr id="2" name="Group 55"/>
          <p:cNvGrpSpPr>
            <a:grpSpLocks/>
          </p:cNvGrpSpPr>
          <p:nvPr/>
        </p:nvGrpSpPr>
        <p:grpSpPr bwMode="auto">
          <a:xfrm>
            <a:off x="4771131" y="201613"/>
            <a:ext cx="4140200" cy="6597650"/>
            <a:chOff x="3152" y="164"/>
            <a:chExt cx="2608" cy="4156"/>
          </a:xfrm>
        </p:grpSpPr>
        <p:sp>
          <p:nvSpPr>
            <p:cNvPr id="45109" name="Text Box 5"/>
            <p:cNvSpPr txBox="1">
              <a:spLocks noChangeArrowheads="1"/>
            </p:cNvSpPr>
            <p:nvPr/>
          </p:nvSpPr>
          <p:spPr bwMode="auto">
            <a:xfrm>
              <a:off x="3152" y="164"/>
              <a:ext cx="2608" cy="3222"/>
            </a:xfrm>
            <a:prstGeom prst="rect">
              <a:avLst/>
            </a:prstGeom>
            <a:solidFill>
              <a:srgbClr val="CC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marL="92075" defTabSz="762000">
                <a:tabLst>
                  <a:tab pos="198438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>
                <a:tabLst>
                  <a:tab pos="198438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>
                <a:tabLst>
                  <a:tab pos="198438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>
                <a:tabLst>
                  <a:tab pos="198438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tabLst>
                  <a:tab pos="198438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98438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98438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98438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98438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da-DK" altLang="hu-HU" b="1" dirty="0"/>
                <a:t>	</a:t>
              </a:r>
              <a:r>
                <a:rPr lang="hu-HU" altLang="hu-HU" b="1" dirty="0"/>
                <a:t>i</a:t>
              </a:r>
              <a:r>
                <a:rPr lang="da-DK" altLang="hu-HU" b="1" dirty="0"/>
                <a:t>f </a:t>
              </a:r>
              <a:r>
                <a:rPr lang="hu-HU" altLang="hu-HU" b="1" dirty="0"/>
                <a:t>(kifejezés1)</a:t>
              </a:r>
              <a:br>
                <a:rPr lang="da-DK" altLang="hu-HU" b="1" dirty="0"/>
              </a:br>
              <a:r>
                <a:rPr lang="hu-HU" altLang="hu-HU" b="1" dirty="0"/>
                <a:t>	{</a:t>
              </a:r>
              <a:r>
                <a:rPr lang="da-DK" altLang="hu-HU" b="1" dirty="0"/>
                <a:t>		</a:t>
              </a:r>
              <a:endParaRPr lang="hu-HU" altLang="hu-HU" b="1" dirty="0"/>
            </a:p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hu-HU" altLang="hu-HU" b="1" dirty="0"/>
                <a:t>		</a:t>
              </a:r>
              <a:r>
                <a:rPr lang="da-DK" altLang="hu-HU" b="1" dirty="0"/>
                <a:t>U1</a:t>
              </a:r>
              <a:r>
                <a:rPr lang="hu-HU" altLang="hu-HU" b="1" dirty="0"/>
                <a:t>;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hu-HU" altLang="hu-HU" b="1" dirty="0"/>
                <a:t> }</a:t>
              </a:r>
              <a:br>
                <a:rPr lang="da-DK" altLang="hu-HU" b="1" dirty="0"/>
              </a:br>
              <a:r>
                <a:rPr lang="da-DK" altLang="hu-HU" b="1" dirty="0"/>
                <a:t>	</a:t>
              </a:r>
              <a:r>
                <a:rPr lang="hu-HU" altLang="hu-HU" b="1" dirty="0"/>
                <a:t>e</a:t>
              </a:r>
              <a:r>
                <a:rPr lang="da-DK" altLang="hu-HU" b="1" dirty="0"/>
                <a:t>lse </a:t>
              </a:r>
              <a:r>
                <a:rPr lang="hu-HU" altLang="hu-HU" b="1" dirty="0"/>
                <a:t>i</a:t>
              </a:r>
              <a:r>
                <a:rPr lang="da-DK" altLang="hu-HU" b="1" dirty="0"/>
                <a:t>f </a:t>
              </a:r>
              <a:r>
                <a:rPr lang="hu-HU" altLang="hu-HU" b="1" dirty="0"/>
                <a:t>(kifejezés2)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hu-HU" altLang="hu-HU" b="1" dirty="0"/>
                <a:t> {</a:t>
              </a:r>
              <a:br>
                <a:rPr lang="da-DK" altLang="hu-HU" b="1" dirty="0"/>
              </a:br>
              <a:r>
                <a:rPr lang="da-DK" altLang="hu-HU" b="1" dirty="0"/>
                <a:t>	</a:t>
              </a:r>
              <a:r>
                <a:rPr lang="hu-HU" altLang="hu-HU" b="1" dirty="0"/>
                <a:t>	</a:t>
              </a:r>
              <a:r>
                <a:rPr lang="da-DK" altLang="hu-HU" b="1" dirty="0"/>
                <a:t>U2</a:t>
              </a:r>
              <a:r>
                <a:rPr lang="hu-HU" altLang="hu-HU" b="1" dirty="0"/>
                <a:t>;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hu-HU" altLang="hu-HU" b="1" dirty="0"/>
                <a:t> }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hu-HU" altLang="hu-HU" b="1" dirty="0"/>
                <a:t>	</a:t>
              </a:r>
              <a:r>
                <a:rPr lang="hu-HU" altLang="hu-HU" b="1" dirty="0" err="1"/>
                <a:t>else</a:t>
              </a:r>
              <a:endParaRPr lang="hu-HU" altLang="hu-HU" b="1" dirty="0"/>
            </a:p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hu-HU" altLang="hu-HU" b="1" dirty="0"/>
                <a:t> {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hu-HU" altLang="hu-HU" b="1" dirty="0"/>
                <a:t>		U3;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hu-HU" altLang="hu-HU" b="1" dirty="0"/>
                <a:t>	}</a:t>
              </a:r>
            </a:p>
          </p:txBody>
        </p:sp>
        <p:sp>
          <p:nvSpPr>
            <p:cNvPr id="45110" name="AutoShape 4"/>
            <p:cNvSpPr>
              <a:spLocks noChangeArrowheads="1"/>
            </p:cNvSpPr>
            <p:nvPr/>
          </p:nvSpPr>
          <p:spPr bwMode="auto">
            <a:xfrm>
              <a:off x="4003" y="3888"/>
              <a:ext cx="1757" cy="432"/>
            </a:xfrm>
            <a:prstGeom prst="wedgeRoundRectCallout">
              <a:avLst>
                <a:gd name="adj1" fmla="val 315"/>
                <a:gd name="adj2" fmla="val -261574"/>
                <a:gd name="adj3" fmla="val 16667"/>
              </a:avLst>
            </a:prstGeom>
            <a:solidFill>
              <a:srgbClr val="DACFBE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marL="342900" indent="-3429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hu-HU" altLang="hu-HU" sz="2800">
                  <a:solidFill>
                    <a:srgbClr val="000000"/>
                  </a:solidFill>
                </a:rPr>
                <a:t>C#</a:t>
              </a:r>
              <a:r>
                <a:rPr lang="en-US" altLang="hu-HU" sz="2800">
                  <a:solidFill>
                    <a:srgbClr val="000000"/>
                  </a:solidFill>
                </a:rPr>
                <a:t> kód</a:t>
              </a:r>
            </a:p>
          </p:txBody>
        </p:sp>
      </p:grpSp>
      <p:grpSp>
        <p:nvGrpSpPr>
          <p:cNvPr id="3" name="Group 54"/>
          <p:cNvGrpSpPr>
            <a:grpSpLocks/>
          </p:cNvGrpSpPr>
          <p:nvPr/>
        </p:nvGrpSpPr>
        <p:grpSpPr bwMode="auto">
          <a:xfrm>
            <a:off x="250825" y="3284538"/>
            <a:ext cx="4725988" cy="3422650"/>
            <a:chOff x="158" y="2069"/>
            <a:chExt cx="2977" cy="2156"/>
          </a:xfrm>
        </p:grpSpPr>
        <p:grpSp>
          <p:nvGrpSpPr>
            <p:cNvPr id="45062" name="Group 8"/>
            <p:cNvGrpSpPr>
              <a:grpSpLocks/>
            </p:cNvGrpSpPr>
            <p:nvPr/>
          </p:nvGrpSpPr>
          <p:grpSpPr bwMode="auto">
            <a:xfrm>
              <a:off x="158" y="2069"/>
              <a:ext cx="2139" cy="2106"/>
              <a:chOff x="1438" y="2166"/>
              <a:chExt cx="2258" cy="2106"/>
            </a:xfrm>
          </p:grpSpPr>
          <p:sp>
            <p:nvSpPr>
              <p:cNvPr id="45064" name="Rectangle 9"/>
              <p:cNvSpPr>
                <a:spLocks noChangeArrowheads="1"/>
              </p:cNvSpPr>
              <p:nvPr/>
            </p:nvSpPr>
            <p:spPr bwMode="auto">
              <a:xfrm>
                <a:off x="1438" y="2565"/>
                <a:ext cx="575" cy="2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ts val="500"/>
                  </a:spcBef>
                  <a:spcAft>
                    <a:spcPts val="300"/>
                  </a:spcAft>
                </a:pPr>
                <a:r>
                  <a:rPr lang="hu-HU" altLang="hu-HU" sz="1800"/>
                  <a:t>Hamis</a:t>
                </a:r>
              </a:p>
            </p:txBody>
          </p:sp>
          <p:grpSp>
            <p:nvGrpSpPr>
              <p:cNvPr id="45065" name="Group 10"/>
              <p:cNvGrpSpPr>
                <a:grpSpLocks/>
              </p:cNvGrpSpPr>
              <p:nvPr/>
            </p:nvGrpSpPr>
            <p:grpSpPr bwMode="auto">
              <a:xfrm>
                <a:off x="1461" y="2166"/>
                <a:ext cx="2235" cy="2106"/>
                <a:chOff x="1461" y="2166"/>
                <a:chExt cx="2235" cy="2106"/>
              </a:xfrm>
            </p:grpSpPr>
            <p:sp>
              <p:nvSpPr>
                <p:cNvPr id="45066" name="Line 11"/>
                <p:cNvSpPr>
                  <a:spLocks noChangeShapeType="1"/>
                </p:cNvSpPr>
                <p:nvPr/>
              </p:nvSpPr>
              <p:spPr bwMode="auto">
                <a:xfrm>
                  <a:off x="3350" y="3632"/>
                  <a:ext cx="346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45067" name="Line 12"/>
                <p:cNvSpPr>
                  <a:spLocks noChangeShapeType="1"/>
                </p:cNvSpPr>
                <p:nvPr/>
              </p:nvSpPr>
              <p:spPr bwMode="auto">
                <a:xfrm>
                  <a:off x="3353" y="2456"/>
                  <a:ext cx="336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45068" name="Line 13"/>
                <p:cNvSpPr>
                  <a:spLocks noChangeShapeType="1"/>
                </p:cNvSpPr>
                <p:nvPr/>
              </p:nvSpPr>
              <p:spPr bwMode="auto">
                <a:xfrm>
                  <a:off x="3688" y="2456"/>
                  <a:ext cx="1" cy="654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45069" name="Line 14"/>
                <p:cNvSpPr>
                  <a:spLocks noChangeShapeType="1"/>
                </p:cNvSpPr>
                <p:nvPr/>
              </p:nvSpPr>
              <p:spPr bwMode="auto">
                <a:xfrm>
                  <a:off x="2044" y="2166"/>
                  <a:ext cx="1" cy="137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45070" name="Rectangle 15"/>
                <p:cNvSpPr>
                  <a:spLocks noChangeArrowheads="1"/>
                </p:cNvSpPr>
                <p:nvPr/>
              </p:nvSpPr>
              <p:spPr bwMode="auto">
                <a:xfrm>
                  <a:off x="1884" y="2379"/>
                  <a:ext cx="296" cy="16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2700" tIns="12700" rIns="12700" bIns="12700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/>
                  <a:r>
                    <a:rPr lang="hu-HU" altLang="hu-HU" sz="1800"/>
                    <a:t>kif.</a:t>
                  </a:r>
                  <a:endParaRPr lang="en-AU" altLang="hu-HU" sz="1800"/>
                </a:p>
              </p:txBody>
            </p:sp>
            <p:grpSp>
              <p:nvGrpSpPr>
                <p:cNvPr id="45071" name="Group 16"/>
                <p:cNvGrpSpPr>
                  <a:grpSpLocks/>
                </p:cNvGrpSpPr>
                <p:nvPr/>
              </p:nvGrpSpPr>
              <p:grpSpPr bwMode="auto">
                <a:xfrm>
                  <a:off x="1749" y="2302"/>
                  <a:ext cx="575" cy="305"/>
                  <a:chOff x="0" y="0"/>
                  <a:chExt cx="20000" cy="20000"/>
                </a:xfrm>
              </p:grpSpPr>
              <p:sp>
                <p:nvSpPr>
                  <p:cNvPr id="45105" name="Line 1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0" y="0"/>
                    <a:ext cx="10000" cy="10012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hu-HU"/>
                  </a:p>
                </p:txBody>
              </p:sp>
              <p:sp>
                <p:nvSpPr>
                  <p:cNvPr id="45106" name="Line 18"/>
                  <p:cNvSpPr>
                    <a:spLocks noChangeShapeType="1"/>
                  </p:cNvSpPr>
                  <p:nvPr/>
                </p:nvSpPr>
                <p:spPr bwMode="auto">
                  <a:xfrm>
                    <a:off x="10000" y="0"/>
                    <a:ext cx="10000" cy="10012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hu-HU"/>
                  </a:p>
                </p:txBody>
              </p:sp>
              <p:sp>
                <p:nvSpPr>
                  <p:cNvPr id="45107" name="Line 1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000" y="9988"/>
                    <a:ext cx="10000" cy="10012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hu-HU"/>
                  </a:p>
                </p:txBody>
              </p:sp>
              <p:sp>
                <p:nvSpPr>
                  <p:cNvPr id="45108" name="Line 20"/>
                  <p:cNvSpPr>
                    <a:spLocks noChangeShapeType="1"/>
                  </p:cNvSpPr>
                  <p:nvPr/>
                </p:nvSpPr>
                <p:spPr bwMode="auto">
                  <a:xfrm>
                    <a:off x="0" y="9988"/>
                    <a:ext cx="10000" cy="10012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hu-HU"/>
                  </a:p>
                </p:txBody>
              </p:sp>
            </p:grpSp>
            <p:sp>
              <p:nvSpPr>
                <p:cNvPr id="45072" name="Line 21"/>
                <p:cNvSpPr>
                  <a:spLocks noChangeShapeType="1"/>
                </p:cNvSpPr>
                <p:nvPr/>
              </p:nvSpPr>
              <p:spPr bwMode="auto">
                <a:xfrm>
                  <a:off x="2044" y="2607"/>
                  <a:ext cx="1" cy="137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45073" name="Rectangle 22"/>
                <p:cNvSpPr>
                  <a:spLocks noChangeArrowheads="1"/>
                </p:cNvSpPr>
                <p:nvPr/>
              </p:nvSpPr>
              <p:spPr bwMode="auto">
                <a:xfrm>
                  <a:off x="1884" y="2820"/>
                  <a:ext cx="296" cy="1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2700" tIns="12700" rIns="12700" bIns="12700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/>
                  <a:r>
                    <a:rPr lang="hu-HU" altLang="hu-HU" sz="1800"/>
                    <a:t>kif.</a:t>
                  </a:r>
                  <a:endParaRPr lang="en-AU" altLang="hu-HU" sz="1800"/>
                </a:p>
              </p:txBody>
            </p:sp>
            <p:grpSp>
              <p:nvGrpSpPr>
                <p:cNvPr id="45074" name="Group 23"/>
                <p:cNvGrpSpPr>
                  <a:grpSpLocks/>
                </p:cNvGrpSpPr>
                <p:nvPr/>
              </p:nvGrpSpPr>
              <p:grpSpPr bwMode="auto">
                <a:xfrm>
                  <a:off x="1749" y="2743"/>
                  <a:ext cx="575" cy="305"/>
                  <a:chOff x="0" y="0"/>
                  <a:chExt cx="20000" cy="20000"/>
                </a:xfrm>
              </p:grpSpPr>
              <p:sp>
                <p:nvSpPr>
                  <p:cNvPr id="45101" name="Line 2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0" y="0"/>
                    <a:ext cx="10000" cy="10012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hu-HU"/>
                  </a:p>
                </p:txBody>
              </p:sp>
              <p:sp>
                <p:nvSpPr>
                  <p:cNvPr id="45102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10000" y="0"/>
                    <a:ext cx="10000" cy="10012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hu-HU"/>
                  </a:p>
                </p:txBody>
              </p:sp>
              <p:sp>
                <p:nvSpPr>
                  <p:cNvPr id="45103" name="Line 2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000" y="9988"/>
                    <a:ext cx="10000" cy="10012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hu-HU"/>
                  </a:p>
                </p:txBody>
              </p:sp>
              <p:sp>
                <p:nvSpPr>
                  <p:cNvPr id="45104" name="Line 27"/>
                  <p:cNvSpPr>
                    <a:spLocks noChangeShapeType="1"/>
                  </p:cNvSpPr>
                  <p:nvPr/>
                </p:nvSpPr>
                <p:spPr bwMode="auto">
                  <a:xfrm>
                    <a:off x="0" y="9988"/>
                    <a:ext cx="10000" cy="10012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hu-HU"/>
                  </a:p>
                </p:txBody>
              </p:sp>
            </p:grpSp>
            <p:sp>
              <p:nvSpPr>
                <p:cNvPr id="45075" name="Line 28"/>
                <p:cNvSpPr>
                  <a:spLocks noChangeShapeType="1"/>
                </p:cNvSpPr>
                <p:nvPr/>
              </p:nvSpPr>
              <p:spPr bwMode="auto">
                <a:xfrm>
                  <a:off x="2044" y="3309"/>
                  <a:ext cx="0" cy="137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45076" name="Rectangle 29"/>
                <p:cNvSpPr>
                  <a:spLocks noChangeArrowheads="1"/>
                </p:cNvSpPr>
                <p:nvPr/>
              </p:nvSpPr>
              <p:spPr bwMode="auto">
                <a:xfrm>
                  <a:off x="1883" y="3523"/>
                  <a:ext cx="296" cy="1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2700" tIns="12700" rIns="12700" bIns="12700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/>
                  <a:r>
                    <a:rPr lang="hu-HU" altLang="hu-HU" sz="1800"/>
                    <a:t>kif.</a:t>
                  </a:r>
                  <a:endParaRPr lang="en-AU" altLang="hu-HU" sz="1800"/>
                </a:p>
              </p:txBody>
            </p:sp>
            <p:grpSp>
              <p:nvGrpSpPr>
                <p:cNvPr id="45077" name="Group 30"/>
                <p:cNvGrpSpPr>
                  <a:grpSpLocks/>
                </p:cNvGrpSpPr>
                <p:nvPr/>
              </p:nvGrpSpPr>
              <p:grpSpPr bwMode="auto">
                <a:xfrm>
                  <a:off x="1749" y="3445"/>
                  <a:ext cx="575" cy="305"/>
                  <a:chOff x="0" y="0"/>
                  <a:chExt cx="20000" cy="19999"/>
                </a:xfrm>
              </p:grpSpPr>
              <p:sp>
                <p:nvSpPr>
                  <p:cNvPr id="45097" name="Line 3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0" y="0"/>
                    <a:ext cx="10000" cy="10012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hu-HU"/>
                  </a:p>
                </p:txBody>
              </p:sp>
              <p:sp>
                <p:nvSpPr>
                  <p:cNvPr id="45098" name="Line 32"/>
                  <p:cNvSpPr>
                    <a:spLocks noChangeShapeType="1"/>
                  </p:cNvSpPr>
                  <p:nvPr/>
                </p:nvSpPr>
                <p:spPr bwMode="auto">
                  <a:xfrm>
                    <a:off x="10000" y="0"/>
                    <a:ext cx="10000" cy="10012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hu-HU"/>
                  </a:p>
                </p:txBody>
              </p:sp>
              <p:sp>
                <p:nvSpPr>
                  <p:cNvPr id="45099" name="Line 3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000" y="9987"/>
                    <a:ext cx="10000" cy="10012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hu-HU"/>
                  </a:p>
                </p:txBody>
              </p:sp>
              <p:sp>
                <p:nvSpPr>
                  <p:cNvPr id="45100" name="Line 34"/>
                  <p:cNvSpPr>
                    <a:spLocks noChangeShapeType="1"/>
                  </p:cNvSpPr>
                  <p:nvPr/>
                </p:nvSpPr>
                <p:spPr bwMode="auto">
                  <a:xfrm>
                    <a:off x="0" y="9987"/>
                    <a:ext cx="10000" cy="10012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hu-HU"/>
                  </a:p>
                </p:txBody>
              </p:sp>
            </p:grpSp>
            <p:sp>
              <p:nvSpPr>
                <p:cNvPr id="45078" name="Line 35"/>
                <p:cNvSpPr>
                  <a:spLocks noChangeShapeType="1"/>
                </p:cNvSpPr>
                <p:nvPr/>
              </p:nvSpPr>
              <p:spPr bwMode="auto">
                <a:xfrm>
                  <a:off x="2045" y="3050"/>
                  <a:ext cx="0" cy="137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45079" name="Line 36"/>
                <p:cNvSpPr>
                  <a:spLocks noChangeShapeType="1"/>
                </p:cNvSpPr>
                <p:nvPr/>
              </p:nvSpPr>
              <p:spPr bwMode="auto">
                <a:xfrm>
                  <a:off x="2045" y="3751"/>
                  <a:ext cx="0" cy="138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45080" name="Rectangle 37"/>
                <p:cNvSpPr>
                  <a:spLocks noChangeArrowheads="1"/>
                </p:cNvSpPr>
                <p:nvPr/>
              </p:nvSpPr>
              <p:spPr bwMode="auto">
                <a:xfrm>
                  <a:off x="1725" y="3893"/>
                  <a:ext cx="682" cy="214"/>
                </a:xfrm>
                <a:prstGeom prst="rect">
                  <a:avLst/>
                </a:prstGeom>
                <a:noFill/>
                <a:ln w="2540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0" rIns="0" bIns="0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ts val="500"/>
                    </a:spcBef>
                    <a:spcAft>
                      <a:spcPts val="300"/>
                    </a:spcAft>
                  </a:pPr>
                  <a:r>
                    <a:rPr lang="hu-HU" altLang="hu-HU" sz="1800"/>
                    <a:t>Un+1</a:t>
                  </a:r>
                </a:p>
              </p:txBody>
            </p:sp>
            <p:sp>
              <p:nvSpPr>
                <p:cNvPr id="45081" name="Line 38"/>
                <p:cNvSpPr>
                  <a:spLocks noChangeShapeType="1"/>
                </p:cNvSpPr>
                <p:nvPr/>
              </p:nvSpPr>
              <p:spPr bwMode="auto">
                <a:xfrm>
                  <a:off x="2036" y="4108"/>
                  <a:ext cx="1" cy="164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45082" name="Rectangle 39"/>
                <p:cNvSpPr>
                  <a:spLocks noChangeArrowheads="1"/>
                </p:cNvSpPr>
                <p:nvPr/>
              </p:nvSpPr>
              <p:spPr bwMode="auto">
                <a:xfrm>
                  <a:off x="2227" y="2240"/>
                  <a:ext cx="472" cy="21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2700" tIns="12700" rIns="12700" bIns="12700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ts val="500"/>
                    </a:spcBef>
                    <a:spcAft>
                      <a:spcPts val="300"/>
                    </a:spcAft>
                  </a:pPr>
                  <a:r>
                    <a:rPr lang="hu-HU" altLang="hu-HU" sz="1800"/>
                    <a:t>Igaz</a:t>
                  </a:r>
                </a:p>
              </p:txBody>
            </p:sp>
            <p:sp>
              <p:nvSpPr>
                <p:cNvPr id="45083" name="Rectangle 40"/>
                <p:cNvSpPr>
                  <a:spLocks noChangeArrowheads="1"/>
                </p:cNvSpPr>
                <p:nvPr/>
              </p:nvSpPr>
              <p:spPr bwMode="auto">
                <a:xfrm>
                  <a:off x="2659" y="2366"/>
                  <a:ext cx="682" cy="214"/>
                </a:xfrm>
                <a:prstGeom prst="rect">
                  <a:avLst/>
                </a:prstGeom>
                <a:noFill/>
                <a:ln w="2540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0" rIns="0" bIns="0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ts val="500"/>
                    </a:spcBef>
                    <a:spcAft>
                      <a:spcPts val="300"/>
                    </a:spcAft>
                  </a:pPr>
                  <a:r>
                    <a:rPr lang="hu-HU" altLang="hu-HU" sz="1800"/>
                    <a:t>U1</a:t>
                  </a:r>
                </a:p>
              </p:txBody>
            </p:sp>
            <p:sp>
              <p:nvSpPr>
                <p:cNvPr id="45084" name="Line 41"/>
                <p:cNvSpPr>
                  <a:spLocks noChangeShapeType="1"/>
                </p:cNvSpPr>
                <p:nvPr/>
              </p:nvSpPr>
              <p:spPr bwMode="auto">
                <a:xfrm>
                  <a:off x="2324" y="2456"/>
                  <a:ext cx="335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45085" name="Rectangle 42"/>
                <p:cNvSpPr>
                  <a:spLocks noChangeArrowheads="1"/>
                </p:cNvSpPr>
                <p:nvPr/>
              </p:nvSpPr>
              <p:spPr bwMode="auto">
                <a:xfrm>
                  <a:off x="1462" y="3673"/>
                  <a:ext cx="575" cy="2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2700" tIns="12700" rIns="12700" bIns="12700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ts val="500"/>
                    </a:spcBef>
                    <a:spcAft>
                      <a:spcPts val="300"/>
                    </a:spcAft>
                  </a:pPr>
                  <a:r>
                    <a:rPr lang="hu-HU" altLang="hu-HU" sz="1800"/>
                    <a:t>Hamis</a:t>
                  </a:r>
                </a:p>
              </p:txBody>
            </p:sp>
            <p:sp>
              <p:nvSpPr>
                <p:cNvPr id="45086" name="Rectangle 43"/>
                <p:cNvSpPr>
                  <a:spLocks noChangeArrowheads="1"/>
                </p:cNvSpPr>
                <p:nvPr/>
              </p:nvSpPr>
              <p:spPr bwMode="auto">
                <a:xfrm>
                  <a:off x="1461" y="2949"/>
                  <a:ext cx="576" cy="2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2700" tIns="12700" rIns="12700" bIns="12700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ts val="500"/>
                    </a:spcBef>
                    <a:spcAft>
                      <a:spcPts val="300"/>
                    </a:spcAft>
                  </a:pPr>
                  <a:r>
                    <a:rPr lang="hu-HU" altLang="hu-HU" sz="1800"/>
                    <a:t>Hamis</a:t>
                  </a:r>
                </a:p>
              </p:txBody>
            </p:sp>
            <p:sp>
              <p:nvSpPr>
                <p:cNvPr id="45087" name="Rectangle 44"/>
                <p:cNvSpPr>
                  <a:spLocks noChangeArrowheads="1"/>
                </p:cNvSpPr>
                <p:nvPr/>
              </p:nvSpPr>
              <p:spPr bwMode="auto">
                <a:xfrm>
                  <a:off x="2228" y="2674"/>
                  <a:ext cx="472" cy="21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2700" tIns="12700" rIns="12700" bIns="12700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ts val="500"/>
                    </a:spcBef>
                    <a:spcAft>
                      <a:spcPts val="300"/>
                    </a:spcAft>
                  </a:pPr>
                  <a:r>
                    <a:rPr lang="hu-HU" altLang="hu-HU" sz="1800"/>
                    <a:t>Igaz</a:t>
                  </a:r>
                </a:p>
              </p:txBody>
            </p:sp>
            <p:sp>
              <p:nvSpPr>
                <p:cNvPr id="45088" name="Rectangle 45"/>
                <p:cNvSpPr>
                  <a:spLocks noChangeArrowheads="1"/>
                </p:cNvSpPr>
                <p:nvPr/>
              </p:nvSpPr>
              <p:spPr bwMode="auto">
                <a:xfrm>
                  <a:off x="2659" y="2799"/>
                  <a:ext cx="682" cy="214"/>
                </a:xfrm>
                <a:prstGeom prst="rect">
                  <a:avLst/>
                </a:prstGeom>
                <a:noFill/>
                <a:ln w="2540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0" rIns="0" bIns="0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ts val="500"/>
                    </a:spcBef>
                    <a:spcAft>
                      <a:spcPts val="300"/>
                    </a:spcAft>
                  </a:pPr>
                  <a:r>
                    <a:rPr lang="hu-HU" altLang="hu-HU" sz="1800"/>
                    <a:t>U2</a:t>
                  </a:r>
                </a:p>
              </p:txBody>
            </p:sp>
            <p:sp>
              <p:nvSpPr>
                <p:cNvPr id="45089" name="Line 46"/>
                <p:cNvSpPr>
                  <a:spLocks noChangeShapeType="1"/>
                </p:cNvSpPr>
                <p:nvPr/>
              </p:nvSpPr>
              <p:spPr bwMode="auto">
                <a:xfrm>
                  <a:off x="2324" y="2890"/>
                  <a:ext cx="336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45090" name="Rectangle 47"/>
                <p:cNvSpPr>
                  <a:spLocks noChangeArrowheads="1"/>
                </p:cNvSpPr>
                <p:nvPr/>
              </p:nvSpPr>
              <p:spPr bwMode="auto">
                <a:xfrm>
                  <a:off x="2228" y="3382"/>
                  <a:ext cx="472" cy="21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2700" tIns="12700" rIns="12700" bIns="12700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ts val="500"/>
                    </a:spcBef>
                    <a:spcAft>
                      <a:spcPts val="300"/>
                    </a:spcAft>
                  </a:pPr>
                  <a:r>
                    <a:rPr lang="hu-HU" altLang="hu-HU" sz="1800"/>
                    <a:t>Igaz</a:t>
                  </a:r>
                </a:p>
              </p:txBody>
            </p:sp>
            <p:sp>
              <p:nvSpPr>
                <p:cNvPr id="45091" name="Rectangle 48"/>
                <p:cNvSpPr>
                  <a:spLocks noChangeArrowheads="1"/>
                </p:cNvSpPr>
                <p:nvPr/>
              </p:nvSpPr>
              <p:spPr bwMode="auto">
                <a:xfrm>
                  <a:off x="2659" y="3508"/>
                  <a:ext cx="682" cy="214"/>
                </a:xfrm>
                <a:prstGeom prst="rect">
                  <a:avLst/>
                </a:prstGeom>
                <a:noFill/>
                <a:ln w="2540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0" rIns="0" bIns="0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ts val="500"/>
                    </a:spcBef>
                    <a:spcAft>
                      <a:spcPts val="300"/>
                    </a:spcAft>
                  </a:pPr>
                  <a:r>
                    <a:rPr lang="hu-HU" altLang="hu-HU" sz="1800"/>
                    <a:t>Un</a:t>
                  </a:r>
                </a:p>
              </p:txBody>
            </p:sp>
            <p:sp>
              <p:nvSpPr>
                <p:cNvPr id="45092" name="Line 49"/>
                <p:cNvSpPr>
                  <a:spLocks noChangeShapeType="1"/>
                </p:cNvSpPr>
                <p:nvPr/>
              </p:nvSpPr>
              <p:spPr bwMode="auto">
                <a:xfrm>
                  <a:off x="2324" y="3598"/>
                  <a:ext cx="336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45093" name="Line 50"/>
                <p:cNvSpPr>
                  <a:spLocks noChangeShapeType="1"/>
                </p:cNvSpPr>
                <p:nvPr/>
              </p:nvSpPr>
              <p:spPr bwMode="auto">
                <a:xfrm>
                  <a:off x="3353" y="2910"/>
                  <a:ext cx="336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45094" name="Line 51"/>
                <p:cNvSpPr>
                  <a:spLocks noChangeShapeType="1"/>
                </p:cNvSpPr>
                <p:nvPr/>
              </p:nvSpPr>
              <p:spPr bwMode="auto">
                <a:xfrm flipH="1">
                  <a:off x="2036" y="4181"/>
                  <a:ext cx="1653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45095" name="Line 52"/>
                <p:cNvSpPr>
                  <a:spLocks noChangeShapeType="1"/>
                </p:cNvSpPr>
                <p:nvPr/>
              </p:nvSpPr>
              <p:spPr bwMode="auto">
                <a:xfrm>
                  <a:off x="3688" y="3527"/>
                  <a:ext cx="1" cy="654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45096" name="Rectangle 53"/>
                <p:cNvSpPr>
                  <a:spLocks noChangeArrowheads="1"/>
                </p:cNvSpPr>
                <p:nvPr/>
              </p:nvSpPr>
              <p:spPr bwMode="auto">
                <a:xfrm>
                  <a:off x="2084" y="3146"/>
                  <a:ext cx="265" cy="1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/>
                  <a:r>
                    <a:rPr lang="en-AU" altLang="hu-HU" sz="1800"/>
                    <a:t>...</a:t>
                  </a:r>
                </a:p>
              </p:txBody>
            </p:sp>
          </p:grpSp>
        </p:grpSp>
        <p:sp>
          <p:nvSpPr>
            <p:cNvPr id="45063" name="AutoShape 7"/>
            <p:cNvSpPr>
              <a:spLocks noChangeArrowheads="1"/>
            </p:cNvSpPr>
            <p:nvPr/>
          </p:nvSpPr>
          <p:spPr bwMode="auto">
            <a:xfrm>
              <a:off x="1791" y="3793"/>
              <a:ext cx="1344" cy="432"/>
            </a:xfrm>
            <a:prstGeom prst="wedgeRoundRectCallout">
              <a:avLst>
                <a:gd name="adj1" fmla="val -68005"/>
                <a:gd name="adj2" fmla="val -16435"/>
                <a:gd name="adj3" fmla="val 16667"/>
              </a:avLst>
            </a:prstGeom>
            <a:solidFill>
              <a:srgbClr val="DACFBE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marL="342900" indent="-3429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hu-HU" sz="2800">
                  <a:solidFill>
                    <a:srgbClr val="000000"/>
                  </a:solidFill>
                </a:rPr>
                <a:t>Folyamatábra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2797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0" y="250366"/>
            <a:ext cx="7772400" cy="1143000"/>
          </a:xfrm>
        </p:spPr>
        <p:txBody>
          <a:bodyPr/>
          <a:lstStyle/>
          <a:p>
            <a:r>
              <a:rPr lang="hu-HU" b="1" dirty="0"/>
              <a:t>Logikai operátorok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1393366"/>
            <a:ext cx="8229600" cy="883506"/>
          </a:xfrm>
        </p:spPr>
        <p:txBody>
          <a:bodyPr/>
          <a:lstStyle/>
          <a:p>
            <a:pPr marL="0" indent="0">
              <a:buNone/>
            </a:pPr>
            <a:r>
              <a:rPr lang="hu-HU" sz="3600" u="sng" dirty="0"/>
              <a:t>A cél:</a:t>
            </a:r>
            <a:r>
              <a:rPr lang="hu-HU" sz="3600" dirty="0"/>
              <a:t> hogy </a:t>
            </a:r>
            <a:r>
              <a:rPr lang="hu-HU" sz="3600" b="1" dirty="0"/>
              <a:t>összetett</a:t>
            </a:r>
            <a:r>
              <a:rPr lang="hu-HU" sz="3600" dirty="0"/>
              <a:t> feltételeket írjunk.</a:t>
            </a:r>
          </a:p>
        </p:txBody>
      </p:sp>
      <p:graphicFrame>
        <p:nvGraphicFramePr>
          <p:cNvPr id="4" name="Tartalom helye 3"/>
          <p:cNvGraphicFramePr>
            <a:graphicFrameLocks/>
          </p:cNvGraphicFramePr>
          <p:nvPr/>
        </p:nvGraphicFramePr>
        <p:xfrm>
          <a:off x="972716" y="2276872"/>
          <a:ext cx="7198568" cy="388843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796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18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96144">
                <a:tc>
                  <a:txBody>
                    <a:bodyPr/>
                    <a:lstStyle/>
                    <a:p>
                      <a:pPr algn="ctr">
                        <a:spcBef>
                          <a:spcPts val="2400"/>
                        </a:spcBef>
                      </a:pPr>
                      <a:r>
                        <a:rPr lang="hu-HU" sz="28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&amp;&amp;</a:t>
                      </a:r>
                      <a:endParaRPr lang="hu-HU" sz="28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logikai</a:t>
                      </a:r>
                      <a:r>
                        <a:rPr lang="hu-HU" sz="28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ÉS</a:t>
                      </a:r>
                      <a:endParaRPr lang="hu-HU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hu-HU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hu-HU" sz="2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konjunkció</a:t>
                      </a:r>
                      <a:r>
                        <a:rPr lang="hu-HU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hu-HU" sz="28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6144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</a:pPr>
                      <a:r>
                        <a:rPr lang="hu-HU" sz="28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||</a:t>
                      </a:r>
                      <a:endParaRPr lang="hu-HU" sz="28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logikai</a:t>
                      </a:r>
                      <a:r>
                        <a:rPr lang="hu-HU" sz="28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VAGY</a:t>
                      </a:r>
                      <a:r>
                        <a:rPr lang="hu-HU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algn="ctr"/>
                      <a:r>
                        <a:rPr lang="hu-HU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hu-HU" sz="2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diszjunkció</a:t>
                      </a:r>
                      <a:r>
                        <a:rPr lang="hu-HU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hu-HU" sz="28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6144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</a:pPr>
                      <a:r>
                        <a:rPr lang="hu-HU" sz="28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!</a:t>
                      </a:r>
                      <a:endParaRPr lang="hu-HU" sz="28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NEM </a:t>
                      </a:r>
                    </a:p>
                    <a:p>
                      <a:pPr algn="ctr"/>
                      <a:r>
                        <a:rPr lang="hu-HU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(negáció)</a:t>
                      </a:r>
                      <a:endParaRPr lang="hu-HU" sz="28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0766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251520" y="3789040"/>
            <a:ext cx="3711308" cy="1143000"/>
          </a:xfrm>
        </p:spPr>
        <p:txBody>
          <a:bodyPr>
            <a:normAutofit fontScale="90000"/>
          </a:bodyPr>
          <a:lstStyle/>
          <a:p>
            <a:r>
              <a:rPr lang="hu-HU" b="1" dirty="0"/>
              <a:t>Logikai ÉS</a:t>
            </a:r>
            <a:br>
              <a:rPr lang="hu-HU" b="1" dirty="0"/>
            </a:br>
            <a:r>
              <a:rPr lang="hu-HU" b="1" dirty="0"/>
              <a:t>igazságtáblája</a:t>
            </a:r>
          </a:p>
        </p:txBody>
      </p:sp>
      <p:graphicFrame>
        <p:nvGraphicFramePr>
          <p:cNvPr id="4" name="Tartalom helye 3"/>
          <p:cNvGraphicFramePr>
            <a:graphicFrameLocks/>
          </p:cNvGraphicFramePr>
          <p:nvPr/>
        </p:nvGraphicFramePr>
        <p:xfrm>
          <a:off x="467544" y="476672"/>
          <a:ext cx="8229600" cy="26613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237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7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86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28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28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&amp;&amp; B</a:t>
                      </a:r>
                      <a:endParaRPr lang="hu-HU" sz="2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</a:pPr>
                      <a:r>
                        <a:rPr lang="hu-HU" sz="2800" b="1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endParaRPr lang="hu-HU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800" b="1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endParaRPr lang="hu-HU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800" b="1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endParaRPr lang="hu-HU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</a:pPr>
                      <a:r>
                        <a:rPr lang="hu-HU" sz="28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endParaRPr lang="hu-HU" sz="2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8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  <a:endParaRPr lang="hu-HU" sz="2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8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  <a:endParaRPr lang="hu-HU" sz="2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</a:pPr>
                      <a:r>
                        <a:rPr lang="hu-HU" sz="28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  <a:endParaRPr lang="hu-HU" sz="2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8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endParaRPr lang="hu-HU" sz="2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8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  <a:endParaRPr lang="hu-HU" sz="2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6789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</a:pPr>
                      <a:r>
                        <a:rPr lang="hu-HU" sz="28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  <a:endParaRPr lang="hu-HU" sz="2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8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  <a:endParaRPr lang="hu-HU" sz="2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8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  <a:endParaRPr lang="hu-HU" sz="2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8738814"/>
                  </a:ext>
                </a:extLst>
              </a:tr>
            </a:tbl>
          </a:graphicData>
        </a:graphic>
      </p:graphicFrame>
      <p:pic>
        <p:nvPicPr>
          <p:cNvPr id="3" name="Kép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3673893"/>
            <a:ext cx="4881801" cy="2995467"/>
          </a:xfrm>
          <a:prstGeom prst="rect">
            <a:avLst/>
          </a:prstGeom>
          <a:solidFill>
            <a:srgbClr val="CCFF99"/>
          </a:solid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78773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68023" y="3429000"/>
            <a:ext cx="4283968" cy="2357222"/>
          </a:xfrm>
        </p:spPr>
        <p:txBody>
          <a:bodyPr/>
          <a:lstStyle/>
          <a:p>
            <a:r>
              <a:rPr lang="hu-HU" sz="3600" b="1" dirty="0"/>
              <a:t>Logikai VAGY</a:t>
            </a:r>
            <a:br>
              <a:rPr lang="hu-HU" sz="3600" b="1" dirty="0"/>
            </a:br>
            <a:r>
              <a:rPr lang="hu-HU" sz="3600" b="1" dirty="0"/>
              <a:t> igazságtáblája</a:t>
            </a:r>
            <a:br>
              <a:rPr lang="hu-HU" sz="3600" b="1" dirty="0"/>
            </a:br>
            <a:r>
              <a:rPr lang="hu-HU" sz="3600" b="1" dirty="0"/>
              <a:t>(megengedő VAGY)</a:t>
            </a:r>
          </a:p>
        </p:txBody>
      </p:sp>
      <p:graphicFrame>
        <p:nvGraphicFramePr>
          <p:cNvPr id="4" name="Tartalom helye 3"/>
          <p:cNvGraphicFramePr>
            <a:graphicFrameLocks/>
          </p:cNvGraphicFramePr>
          <p:nvPr/>
        </p:nvGraphicFramePr>
        <p:xfrm>
          <a:off x="467544" y="623664"/>
          <a:ext cx="8229600" cy="26613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237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7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86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28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28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|| B</a:t>
                      </a:r>
                      <a:endParaRPr lang="hu-HU" sz="2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</a:pPr>
                      <a:r>
                        <a:rPr lang="hu-HU" sz="2800" b="1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endParaRPr lang="hu-HU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800" b="1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endParaRPr lang="hu-HU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800" b="1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endParaRPr lang="hu-HU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</a:pPr>
                      <a:r>
                        <a:rPr lang="hu-HU" sz="2800" b="1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endParaRPr lang="hu-HU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800" b="1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  <a:endParaRPr lang="hu-HU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800" b="1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endParaRPr lang="hu-HU" sz="2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</a:pPr>
                      <a:r>
                        <a:rPr lang="hu-HU" sz="2800" b="1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  <a:endParaRPr lang="hu-HU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800" b="1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endParaRPr lang="hu-HU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800" b="1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endParaRPr lang="hu-HU" sz="2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6789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</a:pPr>
                      <a:r>
                        <a:rPr lang="hu-HU" sz="28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  <a:endParaRPr lang="hu-HU" sz="2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8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  <a:endParaRPr lang="hu-HU" sz="2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8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  <a:endParaRPr lang="hu-HU" sz="2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8738814"/>
                  </a:ext>
                </a:extLst>
              </a:tr>
            </a:tbl>
          </a:graphicData>
        </a:graphic>
      </p:graphicFrame>
      <p:pic>
        <p:nvPicPr>
          <p:cNvPr id="3" name="Kép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6464" y="3705724"/>
            <a:ext cx="4788024" cy="29636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88769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11560" y="188640"/>
            <a:ext cx="7772400" cy="950946"/>
          </a:xfrm>
        </p:spPr>
        <p:txBody>
          <a:bodyPr/>
          <a:lstStyle/>
          <a:p>
            <a:r>
              <a:rPr lang="hu-HU" b="1" dirty="0"/>
              <a:t>Logikai NEM igazságtáblája</a:t>
            </a:r>
          </a:p>
        </p:txBody>
      </p:sp>
      <p:graphicFrame>
        <p:nvGraphicFramePr>
          <p:cNvPr id="4" name="Tartalom helye 3"/>
          <p:cNvGraphicFramePr>
            <a:graphicFrameLocks/>
          </p:cNvGraphicFramePr>
          <p:nvPr/>
        </p:nvGraphicFramePr>
        <p:xfrm>
          <a:off x="1835696" y="1268760"/>
          <a:ext cx="4474840" cy="16250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237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7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86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28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!A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</a:pPr>
                      <a:r>
                        <a:rPr lang="hu-HU" sz="28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endParaRPr lang="hu-HU" sz="2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8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  <a:endParaRPr lang="hu-HU" sz="2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</a:pPr>
                      <a:r>
                        <a:rPr lang="hu-HU" sz="28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  <a:endParaRPr lang="hu-HU" sz="2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8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endParaRPr lang="hu-HU" sz="2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6789293"/>
                  </a:ext>
                </a:extLst>
              </a:tr>
            </a:tbl>
          </a:graphicData>
        </a:graphic>
      </p:graphicFrame>
      <p:pic>
        <p:nvPicPr>
          <p:cNvPr id="3" name="Kép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3166950"/>
            <a:ext cx="5472608" cy="352719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02280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11560" y="223665"/>
            <a:ext cx="7772400" cy="1143000"/>
          </a:xfrm>
        </p:spPr>
        <p:txBody>
          <a:bodyPr/>
          <a:lstStyle/>
          <a:p>
            <a:r>
              <a:rPr lang="hu-HU" dirty="0"/>
              <a:t>Feltétel kiértékelése</a:t>
            </a:r>
          </a:p>
        </p:txBody>
      </p:sp>
      <p:sp>
        <p:nvSpPr>
          <p:cNvPr id="5" name="Rectangle 15"/>
          <p:cNvSpPr>
            <a:spLocks noChangeArrowheads="1"/>
          </p:cNvSpPr>
          <p:nvPr/>
        </p:nvSpPr>
        <p:spPr bwMode="auto">
          <a:xfrm>
            <a:off x="448730" y="1305905"/>
            <a:ext cx="2818656" cy="833263"/>
          </a:xfrm>
          <a:prstGeom prst="rect">
            <a:avLst/>
          </a:prstGeom>
          <a:solidFill>
            <a:srgbClr val="CCFF99"/>
          </a:solidFill>
          <a:ln>
            <a:noFill/>
          </a:ln>
          <a:effectLst>
            <a:outerShdw dist="45791" dir="3378596" algn="ctr" rotWithShape="0">
              <a:schemeClr val="tx1"/>
            </a:outerShdw>
          </a:effectLst>
        </p:spPr>
        <p:txBody>
          <a:bodyPr anchor="ctr"/>
          <a:lstStyle/>
          <a:p>
            <a:pPr>
              <a:spcBef>
                <a:spcPct val="20000"/>
              </a:spcBef>
            </a:pPr>
            <a:r>
              <a:rPr lang="hu-HU" altLang="hu-HU" sz="2000" dirty="0">
                <a:latin typeface="Arial Black" panose="020B0A04020102020204" pitchFamily="34" charset="0"/>
                <a:cs typeface="Courier New" panose="02070309020205020404" pitchFamily="49" charset="0"/>
              </a:rPr>
              <a:t>int a = -1;</a:t>
            </a:r>
          </a:p>
          <a:p>
            <a:pPr>
              <a:spcBef>
                <a:spcPct val="20000"/>
              </a:spcBef>
            </a:pPr>
            <a:r>
              <a:rPr lang="hu-HU" altLang="hu-HU" sz="2000" dirty="0">
                <a:latin typeface="Arial Black" panose="020B0A04020102020204" pitchFamily="34" charset="0"/>
                <a:cs typeface="Courier New" panose="02070309020205020404" pitchFamily="49" charset="0"/>
              </a:rPr>
              <a:t>int b = 10;</a:t>
            </a:r>
          </a:p>
        </p:txBody>
      </p:sp>
      <p:sp>
        <p:nvSpPr>
          <p:cNvPr id="6" name="Rectangle 16"/>
          <p:cNvSpPr>
            <a:spLocks noChangeArrowheads="1"/>
          </p:cNvSpPr>
          <p:nvPr/>
        </p:nvSpPr>
        <p:spPr bwMode="auto">
          <a:xfrm>
            <a:off x="467667" y="2642479"/>
            <a:ext cx="4824413" cy="647700"/>
          </a:xfrm>
          <a:prstGeom prst="rect">
            <a:avLst/>
          </a:prstGeom>
          <a:solidFill>
            <a:srgbClr val="CCFF99"/>
          </a:solidFill>
          <a:ln>
            <a:noFill/>
          </a:ln>
          <a:effectLst>
            <a:outerShdw dist="45791" dir="3378596" algn="ctr" rotWithShape="0">
              <a:schemeClr val="tx1"/>
            </a:outerShdw>
          </a:effectLst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hu-HU" altLang="hu-HU" sz="2400" b="1" dirty="0" err="1">
                <a:solidFill>
                  <a:srgbClr val="003300"/>
                </a:solidFill>
                <a:latin typeface="Arial Black" panose="020B0A04020102020204" pitchFamily="34" charset="0"/>
                <a:cs typeface="Courier New" panose="02070309020205020404" pitchFamily="49" charset="0"/>
              </a:rPr>
              <a:t>if</a:t>
            </a:r>
            <a:r>
              <a:rPr lang="hu-HU" altLang="hu-HU" sz="2400" b="1" dirty="0">
                <a:solidFill>
                  <a:srgbClr val="003300"/>
                </a:solidFill>
                <a:latin typeface="Arial Black" panose="020B0A04020102020204" pitchFamily="34" charset="0"/>
                <a:cs typeface="Courier New" panose="02070309020205020404" pitchFamily="49" charset="0"/>
              </a:rPr>
              <a:t> ( a&lt;0  &amp;&amp;  b!=100 )  …</a:t>
            </a: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1043608" y="3442445"/>
            <a:ext cx="936104" cy="468000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hu-HU" altLang="hu-HU" b="1" dirty="0" err="1">
                <a:solidFill>
                  <a:schemeClr val="bg1"/>
                </a:solidFill>
              </a:rPr>
              <a:t>true</a:t>
            </a:r>
            <a:endParaRPr lang="hu-HU" altLang="hu-HU" b="1" dirty="0">
              <a:solidFill>
                <a:schemeClr val="bg1"/>
              </a:solidFill>
            </a:endParaRPr>
          </a:p>
        </p:txBody>
      </p:sp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2655405" y="3459741"/>
            <a:ext cx="1223963" cy="468000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hu-HU" altLang="hu-HU" b="1" dirty="0" err="1">
                <a:solidFill>
                  <a:schemeClr val="bg1"/>
                </a:solidFill>
              </a:rPr>
              <a:t>true</a:t>
            </a:r>
            <a:endParaRPr lang="hu-HU" altLang="hu-HU" b="1" dirty="0">
              <a:solidFill>
                <a:schemeClr val="bg1"/>
              </a:solidFill>
            </a:endParaRP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1043608" y="4044765"/>
            <a:ext cx="2879725" cy="468000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hu-HU" altLang="hu-HU" b="1" dirty="0" err="1">
                <a:solidFill>
                  <a:schemeClr val="bg1"/>
                </a:solidFill>
              </a:rPr>
              <a:t>true</a:t>
            </a:r>
            <a:endParaRPr lang="hu-HU" altLang="hu-HU" b="1" dirty="0">
              <a:solidFill>
                <a:schemeClr val="bg1"/>
              </a:solidFill>
            </a:endParaRPr>
          </a:p>
        </p:txBody>
      </p:sp>
      <p:sp>
        <p:nvSpPr>
          <p:cNvPr id="10" name="Rectangle 16"/>
          <p:cNvSpPr>
            <a:spLocks noChangeArrowheads="1"/>
          </p:cNvSpPr>
          <p:nvPr/>
        </p:nvSpPr>
        <p:spPr bwMode="auto">
          <a:xfrm>
            <a:off x="457201" y="4666070"/>
            <a:ext cx="4824413" cy="647700"/>
          </a:xfrm>
          <a:prstGeom prst="rect">
            <a:avLst/>
          </a:prstGeom>
          <a:solidFill>
            <a:srgbClr val="CCFF99"/>
          </a:solidFill>
          <a:ln>
            <a:noFill/>
          </a:ln>
          <a:effectLst>
            <a:outerShdw dist="45791" dir="3378596" algn="ctr" rotWithShape="0">
              <a:schemeClr val="tx1"/>
            </a:outerShdw>
          </a:effectLst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hu-HU" altLang="hu-HU" sz="2400" b="1" dirty="0" err="1">
                <a:solidFill>
                  <a:srgbClr val="003300"/>
                </a:solidFill>
                <a:latin typeface="Arial Black" panose="020B0A04020102020204" pitchFamily="34" charset="0"/>
                <a:cs typeface="Courier New" panose="02070309020205020404" pitchFamily="49" charset="0"/>
              </a:rPr>
              <a:t>if</a:t>
            </a:r>
            <a:r>
              <a:rPr lang="hu-HU" altLang="hu-HU" sz="2400" b="1" dirty="0">
                <a:solidFill>
                  <a:srgbClr val="003300"/>
                </a:solidFill>
                <a:latin typeface="Arial Black" panose="020B0A04020102020204" pitchFamily="34" charset="0"/>
                <a:cs typeface="Courier New" panose="02070309020205020404" pitchFamily="49" charset="0"/>
              </a:rPr>
              <a:t> ( a&gt;0  &amp;&amp;  b!=100 )  …</a:t>
            </a: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1024721" y="5491157"/>
            <a:ext cx="936104" cy="468000"/>
          </a:xfrm>
          <a:prstGeom prst="rect">
            <a:avLst/>
          </a:prstGeom>
          <a:solidFill>
            <a:srgbClr val="C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hu-HU" altLang="hu-HU" b="1" dirty="0" err="1">
                <a:solidFill>
                  <a:schemeClr val="bg1"/>
                </a:solidFill>
              </a:rPr>
              <a:t>false</a:t>
            </a:r>
            <a:endParaRPr lang="hu-HU" altLang="hu-HU" b="1" dirty="0">
              <a:solidFill>
                <a:schemeClr val="bg1"/>
              </a:solidFill>
            </a:endParaRP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2628470" y="5491157"/>
            <a:ext cx="1223963" cy="468000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hu-HU" altLang="hu-HU" b="1" dirty="0" err="1">
                <a:solidFill>
                  <a:schemeClr val="bg1"/>
                </a:solidFill>
              </a:rPr>
              <a:t>true</a:t>
            </a:r>
            <a:endParaRPr lang="hu-HU" altLang="hu-HU" b="1" dirty="0">
              <a:solidFill>
                <a:schemeClr val="bg1"/>
              </a:solidFill>
            </a:endParaRP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1024721" y="6165304"/>
            <a:ext cx="2879725" cy="468000"/>
          </a:xfrm>
          <a:prstGeom prst="rect">
            <a:avLst/>
          </a:prstGeom>
          <a:solidFill>
            <a:srgbClr val="C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hu-HU" altLang="hu-HU" b="1" dirty="0" err="1">
                <a:solidFill>
                  <a:schemeClr val="bg1"/>
                </a:solidFill>
              </a:rPr>
              <a:t>false</a:t>
            </a:r>
            <a:endParaRPr lang="hu-HU" altLang="hu-H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0346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0" y="367251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u-HU" b="1" dirty="0"/>
              <a:t>Feltétel rövidzár kiértékelése</a:t>
            </a:r>
            <a:br>
              <a:rPr lang="hu-HU" b="1" dirty="0"/>
            </a:br>
            <a:r>
              <a:rPr lang="hu-HU" b="1" dirty="0"/>
              <a:t>(</a:t>
            </a:r>
            <a:r>
              <a:rPr lang="hu-HU" b="1" dirty="0" err="1"/>
              <a:t>shortcut</a:t>
            </a:r>
            <a:r>
              <a:rPr lang="hu-HU" b="1" dirty="0"/>
              <a:t>)</a:t>
            </a:r>
          </a:p>
        </p:txBody>
      </p:sp>
      <p:sp>
        <p:nvSpPr>
          <p:cNvPr id="10" name="Rectangle 16"/>
          <p:cNvSpPr>
            <a:spLocks noChangeArrowheads="1"/>
          </p:cNvSpPr>
          <p:nvPr/>
        </p:nvSpPr>
        <p:spPr bwMode="auto">
          <a:xfrm>
            <a:off x="542865" y="4370254"/>
            <a:ext cx="4824413" cy="647700"/>
          </a:xfrm>
          <a:prstGeom prst="rect">
            <a:avLst/>
          </a:prstGeom>
          <a:solidFill>
            <a:srgbClr val="CCFF99"/>
          </a:solidFill>
          <a:ln>
            <a:noFill/>
          </a:ln>
          <a:effectLst>
            <a:outerShdw dist="45791" dir="3378596" algn="ctr" rotWithShape="0">
              <a:schemeClr val="tx1"/>
            </a:outerShdw>
          </a:effectLst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hu-HU" altLang="hu-HU" sz="2400" b="1" dirty="0" err="1">
                <a:solidFill>
                  <a:srgbClr val="003300"/>
                </a:solidFill>
                <a:latin typeface="Arial Black" panose="020B0A04020102020204" pitchFamily="34" charset="0"/>
                <a:cs typeface="Courier New" panose="02070309020205020404" pitchFamily="49" charset="0"/>
              </a:rPr>
              <a:t>if</a:t>
            </a:r>
            <a:r>
              <a:rPr lang="hu-HU" altLang="hu-HU" sz="2400" b="1" dirty="0">
                <a:solidFill>
                  <a:srgbClr val="003300"/>
                </a:solidFill>
                <a:latin typeface="Arial Black" panose="020B0A04020102020204" pitchFamily="34" charset="0"/>
                <a:cs typeface="Courier New" panose="02070309020205020404" pitchFamily="49" charset="0"/>
              </a:rPr>
              <a:t> ( a&lt;0  ||  b!=100 )  …</a:t>
            </a: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2703045" y="5269450"/>
            <a:ext cx="1223963" cy="4680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hu-HU" altLang="hu-HU" b="1" dirty="0">
                <a:solidFill>
                  <a:schemeClr val="bg1"/>
                </a:solidFill>
              </a:rPr>
              <a:t>???</a:t>
            </a:r>
          </a:p>
        </p:txBody>
      </p:sp>
      <p:sp>
        <p:nvSpPr>
          <p:cNvPr id="14" name="Tartalom helye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404864"/>
          </a:xfrm>
        </p:spPr>
        <p:txBody>
          <a:bodyPr>
            <a:normAutofit lnSpcReduction="10000"/>
          </a:bodyPr>
          <a:lstStyle/>
          <a:p>
            <a:r>
              <a:rPr lang="hu-HU" dirty="0"/>
              <a:t>A logikai művelet eredménye sokszor előre kiszámítható.</a:t>
            </a:r>
          </a:p>
          <a:p>
            <a:r>
              <a:rPr lang="hu-HU" u="sng" dirty="0"/>
              <a:t>C#-</a:t>
            </a:r>
            <a:r>
              <a:rPr lang="hu-HU" u="sng" dirty="0" err="1"/>
              <a:t>ban</a:t>
            </a:r>
            <a:r>
              <a:rPr lang="hu-HU" u="sng" dirty="0"/>
              <a:t>:</a:t>
            </a:r>
            <a:r>
              <a:rPr lang="hu-HU" dirty="0"/>
              <a:t> a feltétel balról jobbra értékelődik ki, csak </a:t>
            </a:r>
            <a:r>
              <a:rPr lang="hu-HU" b="1" dirty="0"/>
              <a:t>addig a pontig</a:t>
            </a:r>
            <a:r>
              <a:rPr lang="hu-HU" dirty="0"/>
              <a:t>, ahol az érték már egyértelműen meghatározható.</a:t>
            </a:r>
          </a:p>
        </p:txBody>
      </p:sp>
      <p:sp>
        <p:nvSpPr>
          <p:cNvPr id="15" name="Text Box 9"/>
          <p:cNvSpPr txBox="1">
            <a:spLocks noChangeArrowheads="1"/>
          </p:cNvSpPr>
          <p:nvPr/>
        </p:nvSpPr>
        <p:spPr bwMode="auto">
          <a:xfrm>
            <a:off x="1047283" y="5285620"/>
            <a:ext cx="936104" cy="468000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hu-HU" altLang="hu-HU" b="1" dirty="0" err="1">
                <a:solidFill>
                  <a:schemeClr val="bg1"/>
                </a:solidFill>
              </a:rPr>
              <a:t>true</a:t>
            </a:r>
            <a:endParaRPr lang="hu-HU" altLang="hu-HU" b="1" dirty="0">
              <a:solidFill>
                <a:schemeClr val="bg1"/>
              </a:solidFill>
            </a:endParaRP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1047283" y="5985148"/>
            <a:ext cx="2879725" cy="468000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hu-HU" altLang="hu-HU" b="1" dirty="0" err="1">
                <a:solidFill>
                  <a:schemeClr val="bg1"/>
                </a:solidFill>
              </a:rPr>
              <a:t>true</a:t>
            </a:r>
            <a:endParaRPr lang="hu-HU" altLang="hu-H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7560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/>
          <a:lstStyle/>
          <a:p>
            <a:r>
              <a:rPr lang="hu-HU" b="1" dirty="0"/>
              <a:t>Feltétel rövidzár kiértékelése</a:t>
            </a:r>
          </a:p>
        </p:txBody>
      </p:sp>
      <p:sp>
        <p:nvSpPr>
          <p:cNvPr id="10" name="Rectangle 16"/>
          <p:cNvSpPr>
            <a:spLocks noChangeArrowheads="1"/>
          </p:cNvSpPr>
          <p:nvPr/>
        </p:nvSpPr>
        <p:spPr bwMode="auto">
          <a:xfrm>
            <a:off x="457200" y="3832448"/>
            <a:ext cx="7416701" cy="879922"/>
          </a:xfrm>
          <a:prstGeom prst="rect">
            <a:avLst/>
          </a:prstGeom>
          <a:solidFill>
            <a:srgbClr val="CCFF99"/>
          </a:solidFill>
          <a:ln>
            <a:noFill/>
          </a:ln>
          <a:effectLst>
            <a:outerShdw dist="45791" dir="3378596" algn="ctr" rotWithShape="0">
              <a:schemeClr val="tx1"/>
            </a:outerShdw>
          </a:effectLst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hu-HU" altLang="hu-HU" sz="2400" b="1" dirty="0" err="1">
                <a:solidFill>
                  <a:srgbClr val="003300"/>
                </a:solidFill>
                <a:latin typeface="Arial Black" panose="020B0A04020102020204" pitchFamily="34" charset="0"/>
                <a:cs typeface="Courier New" panose="02070309020205020404" pitchFamily="49" charset="0"/>
              </a:rPr>
              <a:t>if</a:t>
            </a:r>
            <a:r>
              <a:rPr lang="hu-HU" altLang="hu-HU" sz="2400" b="1" dirty="0">
                <a:solidFill>
                  <a:srgbClr val="003300"/>
                </a:solidFill>
                <a:latin typeface="Arial Black" panose="020B0A04020102020204" pitchFamily="34" charset="0"/>
                <a:cs typeface="Courier New" panose="02070309020205020404" pitchFamily="49" charset="0"/>
              </a:rPr>
              <a:t> ( db != 0  &amp;&amp;  </a:t>
            </a:r>
            <a:r>
              <a:rPr lang="hu-HU" altLang="hu-HU" sz="2400" b="1" dirty="0" err="1">
                <a:solidFill>
                  <a:srgbClr val="003300"/>
                </a:solidFill>
                <a:latin typeface="Arial Black" panose="020B0A04020102020204" pitchFamily="34" charset="0"/>
                <a:cs typeface="Courier New" panose="02070309020205020404" pitchFamily="49" charset="0"/>
              </a:rPr>
              <a:t>osszeg</a:t>
            </a:r>
            <a:r>
              <a:rPr lang="hu-HU" altLang="hu-HU" sz="2400" b="1" dirty="0">
                <a:solidFill>
                  <a:srgbClr val="003300"/>
                </a:solidFill>
                <a:latin typeface="Arial Black" panose="020B0A04020102020204" pitchFamily="34" charset="0"/>
                <a:cs typeface="Courier New" panose="02070309020205020404" pitchFamily="49" charset="0"/>
              </a:rPr>
              <a:t> / db &gt; 10 )  …</a:t>
            </a: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4356149" y="5057308"/>
            <a:ext cx="1223963" cy="4680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hu-HU" altLang="hu-HU" b="1" dirty="0">
                <a:solidFill>
                  <a:schemeClr val="bg1"/>
                </a:solidFill>
              </a:rPr>
              <a:t>???</a:t>
            </a:r>
          </a:p>
        </p:txBody>
      </p:sp>
      <p:sp>
        <p:nvSpPr>
          <p:cNvPr id="14" name="Tartalom helye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260848"/>
          </a:xfrm>
        </p:spPr>
        <p:txBody>
          <a:bodyPr>
            <a:normAutofit/>
          </a:bodyPr>
          <a:lstStyle/>
          <a:p>
            <a:r>
              <a:rPr lang="hu-HU" dirty="0"/>
              <a:t>Nagyon hasznos, amikor a feltétel 2. része hibát okozna.</a:t>
            </a:r>
          </a:p>
          <a:p>
            <a:r>
              <a:rPr lang="hu-HU" dirty="0"/>
              <a:t>A feltétel 1. részében le tudjuk kezelni a hibát.</a:t>
            </a:r>
          </a:p>
        </p:txBody>
      </p:sp>
      <p:sp>
        <p:nvSpPr>
          <p:cNvPr id="15" name="Text Box 9"/>
          <p:cNvSpPr txBox="1">
            <a:spLocks noChangeArrowheads="1"/>
          </p:cNvSpPr>
          <p:nvPr/>
        </p:nvSpPr>
        <p:spPr bwMode="auto">
          <a:xfrm>
            <a:off x="1115616" y="5057308"/>
            <a:ext cx="864096" cy="468000"/>
          </a:xfrm>
          <a:prstGeom prst="rect">
            <a:avLst/>
          </a:prstGeom>
          <a:solidFill>
            <a:srgbClr val="C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hu-HU" altLang="hu-HU" b="1" dirty="0" err="1">
                <a:solidFill>
                  <a:schemeClr val="bg1"/>
                </a:solidFill>
              </a:rPr>
              <a:t>false</a:t>
            </a:r>
            <a:endParaRPr lang="hu-HU" altLang="hu-HU" b="1" dirty="0">
              <a:solidFill>
                <a:schemeClr val="bg1"/>
              </a:solidFill>
            </a:endParaRP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1128011" y="5905176"/>
            <a:ext cx="4452101" cy="468000"/>
          </a:xfrm>
          <a:prstGeom prst="rect">
            <a:avLst/>
          </a:prstGeom>
          <a:solidFill>
            <a:srgbClr val="C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hu-HU" altLang="hu-HU" b="1" dirty="0" err="1">
                <a:solidFill>
                  <a:schemeClr val="bg1"/>
                </a:solidFill>
              </a:rPr>
              <a:t>false</a:t>
            </a:r>
            <a:endParaRPr lang="hu-HU" altLang="hu-H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4600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Dia számának helye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91272BD-5964-4EB0-8751-7C01D3D59BAD}" type="slidenum">
              <a:rPr lang="hu-HU" altLang="hu-HU" sz="1400"/>
              <a:pPr/>
              <a:t>16</a:t>
            </a:fld>
            <a:endParaRPr lang="hu-HU" altLang="hu-HU" sz="1400"/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1042988" y="2997200"/>
            <a:ext cx="8101012" cy="3500438"/>
            <a:chOff x="657" y="1888"/>
            <a:chExt cx="5103" cy="2205"/>
          </a:xfrm>
        </p:grpSpPr>
        <p:sp>
          <p:nvSpPr>
            <p:cNvPr id="46088" name="Text Box 3"/>
            <p:cNvSpPr txBox="1">
              <a:spLocks noChangeArrowheads="1"/>
            </p:cNvSpPr>
            <p:nvPr/>
          </p:nvSpPr>
          <p:spPr bwMode="auto">
            <a:xfrm>
              <a:off x="3360" y="1888"/>
              <a:ext cx="2400" cy="2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hu-HU" altLang="hu-HU" sz="3200" b="1"/>
                <a:t>Elágazás (kifejezés)</a:t>
              </a:r>
            </a:p>
            <a:p>
              <a:pPr>
                <a:spcBef>
                  <a:spcPct val="20000"/>
                </a:spcBef>
              </a:pPr>
              <a:r>
                <a:rPr lang="hu-HU" altLang="hu-HU" sz="3200" b="1"/>
                <a:t>  érték1 esetén U1</a:t>
              </a:r>
            </a:p>
            <a:p>
              <a:pPr>
                <a:spcBef>
                  <a:spcPct val="20000"/>
                </a:spcBef>
              </a:pPr>
              <a:r>
                <a:rPr lang="hu-HU" altLang="hu-HU" sz="3200" b="1"/>
                <a:t>  érték2 esetén U2</a:t>
              </a:r>
            </a:p>
            <a:p>
              <a:pPr>
                <a:spcBef>
                  <a:spcPct val="20000"/>
                </a:spcBef>
              </a:pPr>
              <a:r>
                <a:rPr lang="hu-HU" altLang="hu-HU" sz="3200" b="1"/>
                <a:t>  érték3 esetén U3</a:t>
              </a:r>
            </a:p>
            <a:p>
              <a:pPr>
                <a:spcBef>
                  <a:spcPct val="20000"/>
                </a:spcBef>
              </a:pPr>
              <a:r>
                <a:rPr lang="hu-HU" altLang="hu-HU" sz="3200" b="1"/>
                <a:t>  egyébként U_X</a:t>
              </a:r>
            </a:p>
            <a:p>
              <a:pPr>
                <a:spcBef>
                  <a:spcPct val="20000"/>
                </a:spcBef>
              </a:pPr>
              <a:r>
                <a:rPr lang="hu-HU" altLang="hu-HU" sz="3200" b="1"/>
                <a:t>Elágazás vége</a:t>
              </a:r>
              <a:endParaRPr lang="hu-HU" altLang="hu-HU"/>
            </a:p>
          </p:txBody>
        </p:sp>
        <p:sp>
          <p:nvSpPr>
            <p:cNvPr id="46089" name="AutoShape 4"/>
            <p:cNvSpPr>
              <a:spLocks noChangeArrowheads="1"/>
            </p:cNvSpPr>
            <p:nvPr/>
          </p:nvSpPr>
          <p:spPr bwMode="auto">
            <a:xfrm>
              <a:off x="657" y="3339"/>
              <a:ext cx="1824" cy="576"/>
            </a:xfrm>
            <a:prstGeom prst="wedgeRoundRectCallout">
              <a:avLst>
                <a:gd name="adj1" fmla="val 95120"/>
                <a:gd name="adj2" fmla="val -20486"/>
                <a:gd name="adj3" fmla="val 16667"/>
              </a:avLst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hu-HU" altLang="hu-HU" sz="2800"/>
                <a:t>Mondatszerű leírás</a:t>
              </a:r>
              <a:endParaRPr lang="hu-HU" altLang="hu-HU"/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250825" y="1412875"/>
            <a:ext cx="8405813" cy="3911600"/>
            <a:chOff x="158" y="890"/>
            <a:chExt cx="5295" cy="2464"/>
          </a:xfrm>
        </p:grpSpPr>
        <p:sp>
          <p:nvSpPr>
            <p:cNvPr id="46086" name="Rectangle 2"/>
            <p:cNvSpPr>
              <a:spLocks noChangeArrowheads="1"/>
            </p:cNvSpPr>
            <p:nvPr/>
          </p:nvSpPr>
          <p:spPr bwMode="auto">
            <a:xfrm>
              <a:off x="158" y="890"/>
              <a:ext cx="3130" cy="2464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ts val="500"/>
                </a:spcBef>
                <a:spcAft>
                  <a:spcPts val="500"/>
                </a:spcAft>
                <a:buFont typeface="Symbol" panose="05050102010706020507" pitchFamily="18" charset="2"/>
                <a:buNone/>
              </a:pPr>
              <a:r>
                <a:rPr lang="hu-HU" altLang="hu-HU" b="1" dirty="0" err="1"/>
                <a:t>switch</a:t>
              </a:r>
              <a:r>
                <a:rPr lang="hu-HU" altLang="hu-HU" b="1" dirty="0"/>
                <a:t> (kifejezés)</a:t>
              </a:r>
            </a:p>
            <a:p>
              <a:pPr>
                <a:spcBef>
                  <a:spcPts val="500"/>
                </a:spcBef>
                <a:spcAft>
                  <a:spcPts val="500"/>
                </a:spcAft>
                <a:buFont typeface="Symbol" panose="05050102010706020507" pitchFamily="18" charset="2"/>
                <a:buNone/>
              </a:pPr>
              <a:r>
                <a:rPr lang="hu-HU" altLang="hu-HU" b="1" dirty="0"/>
                <a:t>{</a:t>
              </a:r>
            </a:p>
            <a:p>
              <a:pPr>
                <a:spcBef>
                  <a:spcPts val="500"/>
                </a:spcBef>
                <a:spcAft>
                  <a:spcPts val="500"/>
                </a:spcAft>
                <a:buFont typeface="Symbol" panose="05050102010706020507" pitchFamily="18" charset="2"/>
                <a:buNone/>
              </a:pPr>
              <a:r>
                <a:rPr lang="hu-HU" altLang="hu-HU" b="1" dirty="0" err="1"/>
                <a:t>case</a:t>
              </a:r>
              <a:r>
                <a:rPr lang="hu-HU" altLang="hu-HU" b="1" dirty="0"/>
                <a:t> ertek1: utasítás1;break; </a:t>
              </a:r>
            </a:p>
            <a:p>
              <a:pPr>
                <a:spcBef>
                  <a:spcPts val="500"/>
                </a:spcBef>
                <a:spcAft>
                  <a:spcPts val="500"/>
                </a:spcAft>
                <a:buFont typeface="Symbol" panose="05050102010706020507" pitchFamily="18" charset="2"/>
                <a:buNone/>
              </a:pPr>
              <a:r>
                <a:rPr lang="hu-HU" altLang="hu-HU" b="1" dirty="0" err="1"/>
                <a:t>case</a:t>
              </a:r>
              <a:r>
                <a:rPr lang="hu-HU" altLang="hu-HU" b="1" dirty="0"/>
                <a:t> ertek2: utasítás2;break;</a:t>
              </a:r>
            </a:p>
            <a:p>
              <a:pPr>
                <a:spcBef>
                  <a:spcPts val="500"/>
                </a:spcBef>
                <a:spcAft>
                  <a:spcPts val="500"/>
                </a:spcAft>
                <a:buFont typeface="Symbol" panose="05050102010706020507" pitchFamily="18" charset="2"/>
                <a:buNone/>
              </a:pPr>
              <a:r>
                <a:rPr lang="hu-HU" altLang="hu-HU" b="1" dirty="0"/>
                <a:t>…</a:t>
              </a:r>
            </a:p>
            <a:p>
              <a:pPr>
                <a:spcBef>
                  <a:spcPts val="500"/>
                </a:spcBef>
                <a:spcAft>
                  <a:spcPts val="500"/>
                </a:spcAft>
                <a:buFont typeface="Symbol" panose="05050102010706020507" pitchFamily="18" charset="2"/>
                <a:buNone/>
              </a:pPr>
              <a:r>
                <a:rPr lang="hu-HU" altLang="hu-HU" b="1" dirty="0" err="1"/>
                <a:t>case</a:t>
              </a:r>
              <a:r>
                <a:rPr lang="hu-HU" altLang="hu-HU" b="1" dirty="0"/>
                <a:t> </a:t>
              </a:r>
              <a:r>
                <a:rPr lang="hu-HU" altLang="hu-HU" b="1" dirty="0" err="1"/>
                <a:t>ertek_x</a:t>
              </a:r>
              <a:r>
                <a:rPr lang="hu-HU" altLang="hu-HU" b="1" dirty="0"/>
                <a:t>: </a:t>
              </a:r>
              <a:r>
                <a:rPr lang="hu-HU" altLang="hu-HU" b="1" dirty="0" err="1"/>
                <a:t>utasítás_x;break</a:t>
              </a:r>
              <a:r>
                <a:rPr lang="hu-HU" altLang="hu-HU" b="1" dirty="0"/>
                <a:t>;</a:t>
              </a:r>
            </a:p>
            <a:p>
              <a:pPr>
                <a:spcBef>
                  <a:spcPts val="500"/>
                </a:spcBef>
                <a:spcAft>
                  <a:spcPts val="500"/>
                </a:spcAft>
                <a:buFont typeface="Symbol" panose="05050102010706020507" pitchFamily="18" charset="2"/>
                <a:buNone/>
              </a:pPr>
              <a:r>
                <a:rPr lang="hu-HU" altLang="hu-HU" b="1" dirty="0" err="1"/>
                <a:t>default</a:t>
              </a:r>
              <a:r>
                <a:rPr lang="hu-HU" altLang="hu-HU" b="1" dirty="0"/>
                <a:t>: </a:t>
              </a:r>
              <a:r>
                <a:rPr lang="hu-HU" altLang="hu-HU" b="1" dirty="0" err="1"/>
                <a:t>utasítás;break</a:t>
              </a:r>
              <a:r>
                <a:rPr lang="hu-HU" altLang="hu-HU" b="1" dirty="0"/>
                <a:t>;</a:t>
              </a:r>
            </a:p>
            <a:p>
              <a:pPr>
                <a:spcBef>
                  <a:spcPts val="500"/>
                </a:spcBef>
                <a:spcAft>
                  <a:spcPts val="500"/>
                </a:spcAft>
                <a:buFont typeface="Symbol" panose="05050102010706020507" pitchFamily="18" charset="2"/>
                <a:buNone/>
              </a:pPr>
              <a:r>
                <a:rPr lang="hu-HU" altLang="hu-HU" b="1" dirty="0"/>
                <a:t>}</a:t>
              </a:r>
            </a:p>
          </p:txBody>
        </p:sp>
        <p:sp>
          <p:nvSpPr>
            <p:cNvPr id="46087" name="AutoShape 5"/>
            <p:cNvSpPr>
              <a:spLocks noChangeArrowheads="1"/>
            </p:cNvSpPr>
            <p:nvPr/>
          </p:nvSpPr>
          <p:spPr bwMode="auto">
            <a:xfrm>
              <a:off x="3696" y="1071"/>
              <a:ext cx="1757" cy="432"/>
            </a:xfrm>
            <a:prstGeom prst="wedgeRoundRectCallout">
              <a:avLst>
                <a:gd name="adj1" fmla="val -71569"/>
                <a:gd name="adj2" fmla="val 95833"/>
                <a:gd name="adj3" fmla="val 16667"/>
              </a:avLst>
            </a:prstGeom>
            <a:solidFill>
              <a:srgbClr val="DACFBE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marL="342900" indent="-3429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hu-HU" altLang="hu-HU" sz="2800">
                  <a:solidFill>
                    <a:srgbClr val="000000"/>
                  </a:solidFill>
                </a:rPr>
                <a:t>C#</a:t>
              </a:r>
              <a:r>
                <a:rPr lang="en-US" altLang="hu-HU" sz="2800">
                  <a:solidFill>
                    <a:srgbClr val="000000"/>
                  </a:solidFill>
                </a:rPr>
                <a:t> kód</a:t>
              </a:r>
            </a:p>
          </p:txBody>
        </p:sp>
      </p:grpSp>
      <p:sp>
        <p:nvSpPr>
          <p:cNvPr id="46085" name="Rectangle 6"/>
          <p:cNvSpPr>
            <a:spLocks noChangeArrowheads="1"/>
          </p:cNvSpPr>
          <p:nvPr/>
        </p:nvSpPr>
        <p:spPr bwMode="auto">
          <a:xfrm>
            <a:off x="323850" y="234950"/>
            <a:ext cx="77089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hu-HU" altLang="hu-HU" sz="3200" b="1" i="1"/>
              <a:t>Speciális</a:t>
            </a:r>
            <a:r>
              <a:rPr lang="hu-HU" altLang="hu-HU" sz="3200"/>
              <a:t> elágazás az </a:t>
            </a:r>
            <a:r>
              <a:rPr lang="hu-HU" altLang="hu-HU" sz="3200" b="1"/>
              <a:t>esetszétválasztás</a:t>
            </a:r>
            <a:r>
              <a:rPr lang="hu-HU" altLang="hu-HU" sz="3200"/>
              <a:t>, mely </a:t>
            </a:r>
            <a:br>
              <a:rPr lang="hu-HU" altLang="hu-HU" sz="3200"/>
            </a:br>
            <a:r>
              <a:rPr lang="hu-HU" altLang="hu-HU" sz="3200"/>
              <a:t>egy </a:t>
            </a:r>
            <a:r>
              <a:rPr lang="hu-HU" altLang="hu-HU" sz="3200" b="1" i="1"/>
              <a:t>kifejezés</a:t>
            </a:r>
            <a:r>
              <a:rPr lang="hu-HU" altLang="hu-HU" sz="3200"/>
              <a:t> bizonyos </a:t>
            </a:r>
            <a:r>
              <a:rPr lang="hu-HU" altLang="hu-HU" sz="3200" b="1" i="1"/>
              <a:t>értékeitől</a:t>
            </a:r>
            <a:r>
              <a:rPr lang="hu-HU" altLang="hu-HU" sz="3200"/>
              <a:t> függ.</a:t>
            </a:r>
          </a:p>
        </p:txBody>
      </p:sp>
    </p:spTree>
    <p:extLst>
      <p:ext uri="{BB962C8B-B14F-4D97-AF65-F5344CB8AC3E}">
        <p14:creationId xmlns:p14="http://schemas.microsoft.com/office/powerpoint/2010/main" val="3668526604"/>
      </p:ext>
    </p:extLst>
  </p:cSld>
  <p:clrMapOvr>
    <a:masterClrMapping/>
  </p:clrMapOvr>
  <p:transition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Dia számának helye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0335E23-FA34-4DF8-BD30-0B534E92E93E}" type="slidenum">
              <a:rPr lang="hu-HU" altLang="hu-HU" sz="1400"/>
              <a:pPr/>
              <a:t>17</a:t>
            </a:fld>
            <a:endParaRPr lang="hu-HU" altLang="hu-HU" sz="1400"/>
          </a:p>
        </p:txBody>
      </p:sp>
      <p:sp>
        <p:nvSpPr>
          <p:cNvPr id="47107" name="Text Box 2"/>
          <p:cNvSpPr txBox="1">
            <a:spLocks noChangeArrowheads="1"/>
          </p:cNvSpPr>
          <p:nvPr/>
        </p:nvSpPr>
        <p:spPr bwMode="auto">
          <a:xfrm>
            <a:off x="179388" y="746579"/>
            <a:ext cx="8964612" cy="5711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5113" indent="-2651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898525" indent="-3270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hu-HU" altLang="hu-HU" sz="3200" dirty="0"/>
              <a:t>A ciklus lehetővé teszi, hogy bizonyos </a:t>
            </a:r>
            <a:r>
              <a:rPr lang="hu-HU" altLang="hu-HU" sz="3200" b="1" i="1" dirty="0"/>
              <a:t>utasításokat</a:t>
            </a:r>
            <a:r>
              <a:rPr lang="hu-HU" altLang="hu-HU" sz="3200" dirty="0"/>
              <a:t> </a:t>
            </a:r>
            <a:r>
              <a:rPr lang="hu-HU" altLang="hu-HU" sz="3200" b="1" i="1" dirty="0"/>
              <a:t>megismételjünk</a:t>
            </a:r>
            <a:r>
              <a:rPr lang="hu-HU" altLang="hu-HU" sz="3200" dirty="0"/>
              <a:t>, újból </a:t>
            </a:r>
            <a:r>
              <a:rPr lang="hu-HU" altLang="hu-HU" sz="3200" dirty="0" err="1"/>
              <a:t>végrehajtsunk</a:t>
            </a:r>
            <a:r>
              <a:rPr lang="hu-HU" altLang="hu-HU" sz="3200" dirty="0"/>
              <a:t>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hu-HU" altLang="hu-HU" sz="3200" dirty="0"/>
              <a:t>Ha a ciklusmagban </a:t>
            </a:r>
            <a:r>
              <a:rPr lang="hu-HU" altLang="hu-HU" sz="3200" b="1" i="1" dirty="0"/>
              <a:t>több utasítást</a:t>
            </a:r>
            <a:r>
              <a:rPr lang="hu-HU" altLang="hu-HU" sz="3200" dirty="0"/>
              <a:t> is végre szeretnénk hajtani, azokat </a:t>
            </a:r>
            <a:r>
              <a:rPr lang="hu-HU" altLang="hu-HU" sz="3200" b="1" dirty="0"/>
              <a:t>{</a:t>
            </a:r>
            <a:r>
              <a:rPr lang="hu-HU" altLang="hu-HU" sz="3200" dirty="0"/>
              <a:t> és </a:t>
            </a:r>
            <a:r>
              <a:rPr lang="hu-HU" altLang="hu-HU" sz="3200" b="1" dirty="0"/>
              <a:t>}</a:t>
            </a:r>
            <a:r>
              <a:rPr lang="hu-HU" altLang="hu-HU" sz="3200" dirty="0"/>
              <a:t> közé kell tenni.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hu-HU" altLang="hu-HU" sz="3200" dirty="0"/>
              <a:t>Ciklusokat </a:t>
            </a:r>
            <a:r>
              <a:rPr lang="hu-HU" altLang="hu-HU" sz="3200" u="sng" dirty="0"/>
              <a:t>egymásba is ágyazhatunk</a:t>
            </a:r>
            <a:r>
              <a:rPr lang="hu-HU" altLang="hu-HU" sz="3200" dirty="0"/>
              <a:t>.</a:t>
            </a:r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hu-HU" altLang="hu-HU" sz="3200" dirty="0"/>
              <a:t>Ciklusok fajtái:</a:t>
            </a:r>
          </a:p>
          <a:p>
            <a:pPr lvl="1">
              <a:buFont typeface="Times New Roman" panose="02020603050405020304" pitchFamily="18" charset="0"/>
              <a:buChar char="–"/>
            </a:pPr>
            <a:r>
              <a:rPr lang="hu-HU" altLang="hu-HU" sz="2800" dirty="0" err="1"/>
              <a:t>hátultesztelő</a:t>
            </a:r>
            <a:r>
              <a:rPr lang="hu-HU" altLang="hu-HU" sz="2800" dirty="0"/>
              <a:t>(s), </a:t>
            </a:r>
          </a:p>
          <a:p>
            <a:pPr lvl="1">
              <a:buFont typeface="Times New Roman" panose="02020603050405020304" pitchFamily="18" charset="0"/>
              <a:buChar char="–"/>
            </a:pPr>
            <a:r>
              <a:rPr lang="hu-HU" altLang="hu-HU" sz="2800" dirty="0" err="1"/>
              <a:t>elöltesztelő</a:t>
            </a:r>
            <a:r>
              <a:rPr lang="hu-HU" altLang="hu-HU" sz="2800" dirty="0"/>
              <a:t>(s),</a:t>
            </a:r>
          </a:p>
          <a:p>
            <a:pPr lvl="1">
              <a:buFont typeface="Times New Roman" panose="02020603050405020304" pitchFamily="18" charset="0"/>
              <a:buChar char="–"/>
            </a:pPr>
            <a:r>
              <a:rPr lang="hu-HU" altLang="hu-HU" sz="2800" dirty="0" err="1"/>
              <a:t>for</a:t>
            </a:r>
            <a:r>
              <a:rPr lang="hu-HU" altLang="hu-HU" sz="2800" dirty="0"/>
              <a:t> ciklus,</a:t>
            </a:r>
          </a:p>
          <a:p>
            <a:pPr lvl="1">
              <a:buFont typeface="Times New Roman" panose="02020603050405020304" pitchFamily="18" charset="0"/>
              <a:buChar char="–"/>
            </a:pPr>
            <a:r>
              <a:rPr lang="hu-HU" altLang="hu-HU" sz="2800" dirty="0" err="1"/>
              <a:t>foreach</a:t>
            </a:r>
            <a:r>
              <a:rPr lang="hu-HU" altLang="hu-HU" sz="2800" dirty="0"/>
              <a:t> ciklus.</a:t>
            </a:r>
          </a:p>
        </p:txBody>
      </p:sp>
      <p:sp>
        <p:nvSpPr>
          <p:cNvPr id="47108" name="Text Box 3"/>
          <p:cNvSpPr txBox="1">
            <a:spLocks noChangeArrowheads="1"/>
          </p:cNvSpPr>
          <p:nvPr/>
        </p:nvSpPr>
        <p:spPr bwMode="auto">
          <a:xfrm>
            <a:off x="179388" y="156732"/>
            <a:ext cx="6858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hu-HU" altLang="hu-HU" sz="3200" b="1" u="sng" dirty="0"/>
              <a:t>Ciklusok:</a:t>
            </a:r>
          </a:p>
        </p:txBody>
      </p:sp>
    </p:spTree>
    <p:extLst>
      <p:ext uri="{BB962C8B-B14F-4D97-AF65-F5344CB8AC3E}">
        <p14:creationId xmlns:p14="http://schemas.microsoft.com/office/powerpoint/2010/main" val="4281933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0" y="305544"/>
            <a:ext cx="7772400" cy="1143000"/>
          </a:xfrm>
        </p:spPr>
        <p:txBody>
          <a:bodyPr>
            <a:normAutofit/>
          </a:bodyPr>
          <a:lstStyle/>
          <a:p>
            <a:r>
              <a:rPr lang="hu-HU" b="1" dirty="0"/>
              <a:t>Ciklus – programozási szerkezet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1448544"/>
            <a:ext cx="8229600" cy="29089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/>
              <a:t>Minden ciklus 2 részből áll:</a:t>
            </a:r>
          </a:p>
          <a:p>
            <a:pPr marL="0" indent="0">
              <a:buNone/>
            </a:pPr>
            <a:r>
              <a:rPr lang="hu-HU" b="1" dirty="0"/>
              <a:t>Ciklusmag</a:t>
            </a:r>
            <a:r>
              <a:rPr lang="hu-HU" dirty="0"/>
              <a:t>:</a:t>
            </a:r>
          </a:p>
          <a:p>
            <a:pPr marL="400050" lvl="1" indent="0">
              <a:buNone/>
            </a:pPr>
            <a:r>
              <a:rPr lang="hu-HU" dirty="0"/>
              <a:t>Végrehajtandó utasítások blokkja.</a:t>
            </a:r>
          </a:p>
          <a:p>
            <a:pPr marL="0" indent="0">
              <a:buNone/>
            </a:pPr>
            <a:r>
              <a:rPr lang="hu-HU" b="1" dirty="0"/>
              <a:t>Ciklusfeltétel</a:t>
            </a:r>
            <a:r>
              <a:rPr lang="hu-HU" dirty="0"/>
              <a:t>:</a:t>
            </a:r>
          </a:p>
          <a:p>
            <a:pPr marL="400050" lvl="1" indent="0">
              <a:buNone/>
            </a:pPr>
            <a:r>
              <a:rPr lang="hu-HU" dirty="0"/>
              <a:t>Meddig ismételjük a ciklusmag végrehajtását?</a:t>
            </a:r>
          </a:p>
        </p:txBody>
      </p:sp>
      <p:sp>
        <p:nvSpPr>
          <p:cNvPr id="4" name="Lekerekített téglalap 3"/>
          <p:cNvSpPr/>
          <p:nvPr/>
        </p:nvSpPr>
        <p:spPr>
          <a:xfrm>
            <a:off x="1475656" y="4958764"/>
            <a:ext cx="1728192" cy="100811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ciklus-feltétel</a:t>
            </a:r>
          </a:p>
        </p:txBody>
      </p:sp>
      <p:sp>
        <p:nvSpPr>
          <p:cNvPr id="5" name="Folyamatábra: Előírt feldolgozás 4"/>
          <p:cNvSpPr/>
          <p:nvPr/>
        </p:nvSpPr>
        <p:spPr>
          <a:xfrm>
            <a:off x="5580112" y="4993332"/>
            <a:ext cx="2232248" cy="1008112"/>
          </a:xfrm>
          <a:prstGeom prst="flowChartPredefinedProcess">
            <a:avLst/>
          </a:prstGeom>
          <a:solidFill>
            <a:srgbClr val="CC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ciklusmag</a:t>
            </a:r>
          </a:p>
        </p:txBody>
      </p:sp>
      <p:cxnSp>
        <p:nvCxnSpPr>
          <p:cNvPr id="7" name="Görbe összekötő 6"/>
          <p:cNvCxnSpPr>
            <a:stCxn id="4" idx="0"/>
            <a:endCxn id="5" idx="0"/>
          </p:cNvCxnSpPr>
          <p:nvPr/>
        </p:nvCxnSpPr>
        <p:spPr>
          <a:xfrm rot="16200000" flipH="1">
            <a:off x="4500710" y="2797806"/>
            <a:ext cx="34568" cy="4356484"/>
          </a:xfrm>
          <a:prstGeom prst="curvedConnector3">
            <a:avLst>
              <a:gd name="adj1" fmla="val -661305"/>
            </a:avLst>
          </a:prstGeom>
          <a:ln w="76200">
            <a:solidFill>
              <a:srgbClr val="0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örbe összekötő 9"/>
          <p:cNvCxnSpPr>
            <a:stCxn id="5" idx="2"/>
            <a:endCxn id="4" idx="2"/>
          </p:cNvCxnSpPr>
          <p:nvPr/>
        </p:nvCxnSpPr>
        <p:spPr>
          <a:xfrm rot="5400000" flipH="1">
            <a:off x="4500710" y="3805918"/>
            <a:ext cx="34568" cy="4356484"/>
          </a:xfrm>
          <a:prstGeom prst="curvedConnector3">
            <a:avLst>
              <a:gd name="adj1" fmla="val -661305"/>
            </a:avLst>
          </a:prstGeom>
          <a:ln w="76200">
            <a:solidFill>
              <a:srgbClr val="0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4077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0" y="170662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u-HU" b="1" dirty="0"/>
              <a:t>Ciklusfajták - </a:t>
            </a:r>
            <a:r>
              <a:rPr lang="hu-HU" sz="4000" b="1" i="1" dirty="0"/>
              <a:t>Meddig fusson a ciklus?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50120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hu-HU" dirty="0"/>
              <a:t>Amíg a feltétel </a:t>
            </a:r>
            <a:r>
              <a:rPr lang="hu-HU" b="1" dirty="0"/>
              <a:t>igaz (</a:t>
            </a:r>
            <a:r>
              <a:rPr lang="hu-HU" b="1" dirty="0" err="1"/>
              <a:t>true</a:t>
            </a:r>
            <a:r>
              <a:rPr lang="hu-HU" b="1" dirty="0"/>
              <a:t>) – </a:t>
            </a:r>
            <a:r>
              <a:rPr lang="hu-HU" b="1" i="1" dirty="0"/>
              <a:t>pozitív</a:t>
            </a:r>
            <a:r>
              <a:rPr lang="hu-HU" dirty="0"/>
              <a:t> </a:t>
            </a:r>
            <a:r>
              <a:rPr lang="hu-HU" b="1" i="1" dirty="0"/>
              <a:t>kiértékelésű ciklus</a:t>
            </a:r>
          </a:p>
          <a:p>
            <a:pPr marL="514350" indent="-514350">
              <a:buFont typeface="+mj-lt"/>
              <a:buAutoNum type="arabicPeriod"/>
            </a:pPr>
            <a:endParaRPr lang="hu-HU" dirty="0"/>
          </a:p>
          <a:p>
            <a:pPr marL="514350" indent="-514350">
              <a:buFont typeface="+mj-lt"/>
              <a:buAutoNum type="arabicPeriod"/>
            </a:pPr>
            <a:endParaRPr lang="hu-HU" dirty="0"/>
          </a:p>
          <a:p>
            <a:pPr marL="514350" indent="-514350">
              <a:buFont typeface="+mj-lt"/>
              <a:buAutoNum type="arabicPeriod"/>
            </a:pPr>
            <a:endParaRPr lang="hu-HU" dirty="0"/>
          </a:p>
          <a:p>
            <a:pPr marL="514350" indent="-514350">
              <a:buFont typeface="+mj-lt"/>
              <a:buAutoNum type="arabicPeriod"/>
            </a:pPr>
            <a:r>
              <a:rPr lang="hu-HU" dirty="0"/>
              <a:t>Amíg a feltétel </a:t>
            </a:r>
            <a:r>
              <a:rPr lang="hu-HU" b="1" dirty="0"/>
              <a:t>hamis (</a:t>
            </a:r>
            <a:r>
              <a:rPr lang="hu-HU" b="1" dirty="0" err="1"/>
              <a:t>false</a:t>
            </a:r>
            <a:r>
              <a:rPr lang="hu-HU" b="1" dirty="0"/>
              <a:t>) – </a:t>
            </a:r>
            <a:r>
              <a:rPr lang="hu-HU" b="1" i="1" dirty="0"/>
              <a:t>negatív</a:t>
            </a:r>
            <a:r>
              <a:rPr lang="hu-HU" dirty="0"/>
              <a:t> </a:t>
            </a:r>
            <a:r>
              <a:rPr lang="hu-HU" b="1" i="1" dirty="0"/>
              <a:t>kiértékelésű ciklus</a:t>
            </a:r>
            <a:endParaRPr lang="hu-HU" b="1" dirty="0"/>
          </a:p>
        </p:txBody>
      </p:sp>
      <p:sp>
        <p:nvSpPr>
          <p:cNvPr id="4" name="Lekerekített téglalap 3"/>
          <p:cNvSpPr/>
          <p:nvPr/>
        </p:nvSpPr>
        <p:spPr>
          <a:xfrm>
            <a:off x="1475656" y="2567980"/>
            <a:ext cx="1728192" cy="82095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ciklus-feltétel</a:t>
            </a:r>
          </a:p>
        </p:txBody>
      </p:sp>
      <p:sp>
        <p:nvSpPr>
          <p:cNvPr id="5" name="Folyamatábra: Előírt feldolgozás 4"/>
          <p:cNvSpPr/>
          <p:nvPr/>
        </p:nvSpPr>
        <p:spPr>
          <a:xfrm>
            <a:off x="5508104" y="2564904"/>
            <a:ext cx="2232248" cy="824026"/>
          </a:xfrm>
          <a:prstGeom prst="flowChartPredefinedProcess">
            <a:avLst/>
          </a:prstGeom>
          <a:solidFill>
            <a:srgbClr val="CC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ciklusmag</a:t>
            </a:r>
          </a:p>
        </p:txBody>
      </p:sp>
      <p:cxnSp>
        <p:nvCxnSpPr>
          <p:cNvPr id="7" name="Görbe összekötő 6"/>
          <p:cNvCxnSpPr>
            <a:stCxn id="4" idx="2"/>
            <a:endCxn id="5" idx="2"/>
          </p:cNvCxnSpPr>
          <p:nvPr/>
        </p:nvCxnSpPr>
        <p:spPr>
          <a:xfrm rot="16200000" flipH="1">
            <a:off x="4481990" y="1246692"/>
            <a:ext cx="12700" cy="4284476"/>
          </a:xfrm>
          <a:prstGeom prst="curvedConnector3">
            <a:avLst>
              <a:gd name="adj1" fmla="val 1800000"/>
            </a:avLst>
          </a:prstGeom>
          <a:ln w="76200">
            <a:solidFill>
              <a:srgbClr val="0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örbe összekötő 9"/>
          <p:cNvCxnSpPr>
            <a:stCxn id="5" idx="0"/>
            <a:endCxn id="4" idx="0"/>
          </p:cNvCxnSpPr>
          <p:nvPr/>
        </p:nvCxnSpPr>
        <p:spPr>
          <a:xfrm rot="16200000" flipH="1" flipV="1">
            <a:off x="4480452" y="424204"/>
            <a:ext cx="3076" cy="4284476"/>
          </a:xfrm>
          <a:prstGeom prst="curvedConnector3">
            <a:avLst>
              <a:gd name="adj1" fmla="val -7431730"/>
            </a:avLst>
          </a:prstGeom>
          <a:ln w="76200">
            <a:solidFill>
              <a:srgbClr val="0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zövegdoboz 11"/>
          <p:cNvSpPr txBox="1"/>
          <p:nvPr/>
        </p:nvSpPr>
        <p:spPr>
          <a:xfrm>
            <a:off x="4067944" y="3205955"/>
            <a:ext cx="792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b="1" dirty="0" err="1">
                <a:solidFill>
                  <a:srgbClr val="FF0000"/>
                </a:solidFill>
              </a:rPr>
              <a:t>true</a:t>
            </a:r>
            <a:endParaRPr lang="hu-HU" sz="2000" b="1" dirty="0">
              <a:solidFill>
                <a:srgbClr val="FF0000"/>
              </a:solidFill>
            </a:endParaRPr>
          </a:p>
        </p:txBody>
      </p:sp>
      <p:cxnSp>
        <p:nvCxnSpPr>
          <p:cNvPr id="13" name="Görbe összekötő 12"/>
          <p:cNvCxnSpPr>
            <a:stCxn id="4" idx="2"/>
          </p:cNvCxnSpPr>
          <p:nvPr/>
        </p:nvCxnSpPr>
        <p:spPr>
          <a:xfrm rot="5400000">
            <a:off x="1739662" y="3412956"/>
            <a:ext cx="624117" cy="576064"/>
          </a:xfrm>
          <a:prstGeom prst="curvedConnector3">
            <a:avLst>
              <a:gd name="adj1" fmla="val 50000"/>
            </a:avLst>
          </a:prstGeom>
          <a:ln w="76200">
            <a:solidFill>
              <a:srgbClr val="0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zövegdoboz 15"/>
          <p:cNvSpPr txBox="1"/>
          <p:nvPr/>
        </p:nvSpPr>
        <p:spPr>
          <a:xfrm>
            <a:off x="1115616" y="3500933"/>
            <a:ext cx="792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b="1" dirty="0" err="1">
                <a:solidFill>
                  <a:srgbClr val="FF0000"/>
                </a:solidFill>
              </a:rPr>
              <a:t>false</a:t>
            </a:r>
            <a:endParaRPr lang="hu-HU" sz="2000" b="1" dirty="0">
              <a:solidFill>
                <a:srgbClr val="FF0000"/>
              </a:solidFill>
            </a:endParaRPr>
          </a:p>
        </p:txBody>
      </p:sp>
      <p:sp>
        <p:nvSpPr>
          <p:cNvPr id="23" name="Lekerekített téglalap 22"/>
          <p:cNvSpPr/>
          <p:nvPr/>
        </p:nvSpPr>
        <p:spPr>
          <a:xfrm>
            <a:off x="1340024" y="5152285"/>
            <a:ext cx="1728192" cy="82095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ciklus-feltétel</a:t>
            </a:r>
          </a:p>
        </p:txBody>
      </p:sp>
      <p:sp>
        <p:nvSpPr>
          <p:cNvPr id="24" name="Folyamatábra: Előírt feldolgozás 23"/>
          <p:cNvSpPr/>
          <p:nvPr/>
        </p:nvSpPr>
        <p:spPr>
          <a:xfrm>
            <a:off x="5372472" y="5149209"/>
            <a:ext cx="2232248" cy="824026"/>
          </a:xfrm>
          <a:prstGeom prst="flowChartPredefinedProcess">
            <a:avLst/>
          </a:prstGeom>
          <a:solidFill>
            <a:srgbClr val="CC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ciklusmag</a:t>
            </a:r>
          </a:p>
        </p:txBody>
      </p:sp>
      <p:cxnSp>
        <p:nvCxnSpPr>
          <p:cNvPr id="25" name="Görbe összekötő 24"/>
          <p:cNvCxnSpPr>
            <a:stCxn id="23" idx="2"/>
            <a:endCxn id="24" idx="2"/>
          </p:cNvCxnSpPr>
          <p:nvPr/>
        </p:nvCxnSpPr>
        <p:spPr>
          <a:xfrm rot="16200000" flipH="1">
            <a:off x="4346358" y="3830997"/>
            <a:ext cx="12700" cy="4284476"/>
          </a:xfrm>
          <a:prstGeom prst="curvedConnector3">
            <a:avLst>
              <a:gd name="adj1" fmla="val 1800000"/>
            </a:avLst>
          </a:prstGeom>
          <a:ln w="76200">
            <a:solidFill>
              <a:srgbClr val="0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örbe összekötő 25"/>
          <p:cNvCxnSpPr>
            <a:stCxn id="24" idx="0"/>
            <a:endCxn id="23" idx="0"/>
          </p:cNvCxnSpPr>
          <p:nvPr/>
        </p:nvCxnSpPr>
        <p:spPr>
          <a:xfrm rot="16200000" flipH="1" flipV="1">
            <a:off x="4344820" y="3008509"/>
            <a:ext cx="3076" cy="4284476"/>
          </a:xfrm>
          <a:prstGeom prst="curvedConnector3">
            <a:avLst>
              <a:gd name="adj1" fmla="val -7431730"/>
            </a:avLst>
          </a:prstGeom>
          <a:ln w="76200">
            <a:solidFill>
              <a:srgbClr val="0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zövegdoboz 26"/>
          <p:cNvSpPr txBox="1"/>
          <p:nvPr/>
        </p:nvSpPr>
        <p:spPr>
          <a:xfrm>
            <a:off x="1043608" y="6085238"/>
            <a:ext cx="792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b="1" dirty="0" err="1">
                <a:solidFill>
                  <a:srgbClr val="FF0000"/>
                </a:solidFill>
              </a:rPr>
              <a:t>true</a:t>
            </a:r>
            <a:endParaRPr lang="hu-HU" sz="2000" b="1" dirty="0">
              <a:solidFill>
                <a:srgbClr val="FF0000"/>
              </a:solidFill>
            </a:endParaRPr>
          </a:p>
        </p:txBody>
      </p:sp>
      <p:cxnSp>
        <p:nvCxnSpPr>
          <p:cNvPr id="28" name="Görbe összekötő 27"/>
          <p:cNvCxnSpPr>
            <a:stCxn id="23" idx="2"/>
          </p:cNvCxnSpPr>
          <p:nvPr/>
        </p:nvCxnSpPr>
        <p:spPr>
          <a:xfrm rot="5400000">
            <a:off x="1604030" y="5997261"/>
            <a:ext cx="624117" cy="576064"/>
          </a:xfrm>
          <a:prstGeom prst="curvedConnector3">
            <a:avLst>
              <a:gd name="adj1" fmla="val 50000"/>
            </a:avLst>
          </a:prstGeom>
          <a:ln w="76200">
            <a:solidFill>
              <a:srgbClr val="0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Szövegdoboz 28"/>
          <p:cNvSpPr txBox="1"/>
          <p:nvPr/>
        </p:nvSpPr>
        <p:spPr>
          <a:xfrm>
            <a:off x="4067944" y="5760287"/>
            <a:ext cx="792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b="1" dirty="0" err="1">
                <a:solidFill>
                  <a:srgbClr val="FF0000"/>
                </a:solidFill>
              </a:rPr>
              <a:t>false</a:t>
            </a:r>
            <a:endParaRPr lang="hu-HU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548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0" y="335432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u-HU" b="1" dirty="0"/>
              <a:t>Ciklusfajták</a:t>
            </a:r>
            <a:br>
              <a:rPr lang="hu-HU" b="1" dirty="0"/>
            </a:br>
            <a:r>
              <a:rPr lang="hu-HU" sz="4000" b="1" i="1" dirty="0"/>
              <a:t>Mikor teszteljük a ciklusfeltételt?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15516" y="1478432"/>
            <a:ext cx="8712968" cy="496855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hu-HU" b="1" dirty="0"/>
              <a:t>Mielőtt</a:t>
            </a:r>
            <a:r>
              <a:rPr lang="hu-HU" dirty="0"/>
              <a:t> a ciklusmag lefut – </a:t>
            </a:r>
            <a:r>
              <a:rPr lang="hu-HU" b="1" i="1" dirty="0" err="1"/>
              <a:t>elöltesztelős</a:t>
            </a:r>
            <a:r>
              <a:rPr lang="hu-HU" b="1" i="1" dirty="0"/>
              <a:t> ciklus</a:t>
            </a:r>
          </a:p>
          <a:p>
            <a:pPr marL="514350" indent="-514350">
              <a:buFont typeface="+mj-lt"/>
              <a:buAutoNum type="arabicPeriod"/>
            </a:pPr>
            <a:endParaRPr lang="hu-HU" dirty="0"/>
          </a:p>
          <a:p>
            <a:pPr marL="514350" indent="-514350">
              <a:buFont typeface="+mj-lt"/>
              <a:buAutoNum type="arabicPeriod"/>
            </a:pPr>
            <a:endParaRPr lang="hu-HU" dirty="0"/>
          </a:p>
          <a:p>
            <a:pPr marL="514350" indent="-514350">
              <a:buFont typeface="+mj-lt"/>
              <a:buAutoNum type="arabicPeriod"/>
            </a:pPr>
            <a:endParaRPr lang="hu-HU" dirty="0"/>
          </a:p>
          <a:p>
            <a:pPr marL="514350" indent="-514350">
              <a:spcBef>
                <a:spcPts val="3000"/>
              </a:spcBef>
              <a:buFont typeface="+mj-lt"/>
              <a:buAutoNum type="arabicPeriod"/>
            </a:pPr>
            <a:r>
              <a:rPr lang="hu-HU" b="1" dirty="0"/>
              <a:t>Miután</a:t>
            </a:r>
            <a:r>
              <a:rPr lang="hu-HU" dirty="0"/>
              <a:t> a ciklusmag lefut – </a:t>
            </a:r>
            <a:r>
              <a:rPr lang="hu-HU" b="1" i="1" dirty="0" err="1"/>
              <a:t>hátultesztelős</a:t>
            </a:r>
            <a:r>
              <a:rPr lang="hu-HU" b="1" i="1" dirty="0"/>
              <a:t> ciklus</a:t>
            </a:r>
          </a:p>
          <a:p>
            <a:pPr marL="0" indent="0">
              <a:spcBef>
                <a:spcPts val="3000"/>
              </a:spcBef>
              <a:buNone/>
            </a:pPr>
            <a:endParaRPr lang="hu-HU" b="1" dirty="0"/>
          </a:p>
        </p:txBody>
      </p:sp>
      <p:sp>
        <p:nvSpPr>
          <p:cNvPr id="4" name="Lekerekített téglalap 3"/>
          <p:cNvSpPr/>
          <p:nvPr/>
        </p:nvSpPr>
        <p:spPr>
          <a:xfrm>
            <a:off x="1475656" y="2784005"/>
            <a:ext cx="1728192" cy="82095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ciklus-feltétel</a:t>
            </a:r>
          </a:p>
        </p:txBody>
      </p:sp>
      <p:sp>
        <p:nvSpPr>
          <p:cNvPr id="5" name="Folyamatábra: Előírt feldolgozás 4"/>
          <p:cNvSpPr/>
          <p:nvPr/>
        </p:nvSpPr>
        <p:spPr>
          <a:xfrm>
            <a:off x="5508104" y="2780929"/>
            <a:ext cx="2232248" cy="824026"/>
          </a:xfrm>
          <a:prstGeom prst="flowChartPredefinedProcess">
            <a:avLst/>
          </a:prstGeom>
          <a:solidFill>
            <a:srgbClr val="CC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ciklusmag</a:t>
            </a:r>
          </a:p>
        </p:txBody>
      </p:sp>
      <p:cxnSp>
        <p:nvCxnSpPr>
          <p:cNvPr id="7" name="Görbe összekötő 6"/>
          <p:cNvCxnSpPr>
            <a:stCxn id="4" idx="2"/>
            <a:endCxn id="5" idx="2"/>
          </p:cNvCxnSpPr>
          <p:nvPr/>
        </p:nvCxnSpPr>
        <p:spPr>
          <a:xfrm rot="16200000" flipH="1">
            <a:off x="4481990" y="1462717"/>
            <a:ext cx="12700" cy="4284476"/>
          </a:xfrm>
          <a:prstGeom prst="curvedConnector3">
            <a:avLst>
              <a:gd name="adj1" fmla="val 1800000"/>
            </a:avLst>
          </a:prstGeom>
          <a:ln w="76200">
            <a:solidFill>
              <a:srgbClr val="0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örbe összekötő 9"/>
          <p:cNvCxnSpPr>
            <a:stCxn id="5" idx="0"/>
            <a:endCxn id="4" idx="0"/>
          </p:cNvCxnSpPr>
          <p:nvPr/>
        </p:nvCxnSpPr>
        <p:spPr>
          <a:xfrm rot="16200000" flipH="1" flipV="1">
            <a:off x="4480452" y="640229"/>
            <a:ext cx="3076" cy="4284476"/>
          </a:xfrm>
          <a:prstGeom prst="curvedConnector3">
            <a:avLst>
              <a:gd name="adj1" fmla="val -7431730"/>
            </a:avLst>
          </a:prstGeom>
          <a:ln w="76200">
            <a:solidFill>
              <a:srgbClr val="0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Lekerekített téglalap 22"/>
          <p:cNvSpPr/>
          <p:nvPr/>
        </p:nvSpPr>
        <p:spPr>
          <a:xfrm>
            <a:off x="1340024" y="5232278"/>
            <a:ext cx="1728192" cy="82095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ciklus-feltétel</a:t>
            </a:r>
          </a:p>
        </p:txBody>
      </p:sp>
      <p:sp>
        <p:nvSpPr>
          <p:cNvPr id="24" name="Folyamatábra: Előírt feldolgozás 23"/>
          <p:cNvSpPr/>
          <p:nvPr/>
        </p:nvSpPr>
        <p:spPr>
          <a:xfrm>
            <a:off x="5372472" y="5229202"/>
            <a:ext cx="2232248" cy="824026"/>
          </a:xfrm>
          <a:prstGeom prst="flowChartPredefinedProcess">
            <a:avLst/>
          </a:prstGeom>
          <a:solidFill>
            <a:srgbClr val="CC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ciklusmag</a:t>
            </a:r>
          </a:p>
        </p:txBody>
      </p:sp>
      <p:cxnSp>
        <p:nvCxnSpPr>
          <p:cNvPr id="25" name="Görbe összekötő 24"/>
          <p:cNvCxnSpPr>
            <a:stCxn id="23" idx="2"/>
            <a:endCxn id="24" idx="2"/>
          </p:cNvCxnSpPr>
          <p:nvPr/>
        </p:nvCxnSpPr>
        <p:spPr>
          <a:xfrm rot="16200000" flipH="1">
            <a:off x="4346358" y="3910990"/>
            <a:ext cx="12700" cy="4284476"/>
          </a:xfrm>
          <a:prstGeom prst="curvedConnector3">
            <a:avLst>
              <a:gd name="adj1" fmla="val 1800000"/>
            </a:avLst>
          </a:prstGeom>
          <a:ln w="76200">
            <a:solidFill>
              <a:srgbClr val="0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örbe összekötő 25"/>
          <p:cNvCxnSpPr>
            <a:stCxn id="24" idx="0"/>
            <a:endCxn id="23" idx="0"/>
          </p:cNvCxnSpPr>
          <p:nvPr/>
        </p:nvCxnSpPr>
        <p:spPr>
          <a:xfrm rot="16200000" flipH="1" flipV="1">
            <a:off x="4344820" y="3088502"/>
            <a:ext cx="3076" cy="4284476"/>
          </a:xfrm>
          <a:prstGeom prst="curvedConnector3">
            <a:avLst>
              <a:gd name="adj1" fmla="val -7431730"/>
            </a:avLst>
          </a:prstGeom>
          <a:ln w="76200">
            <a:solidFill>
              <a:srgbClr val="0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örbe összekötő 17"/>
          <p:cNvCxnSpPr>
            <a:endCxn id="4" idx="0"/>
          </p:cNvCxnSpPr>
          <p:nvPr/>
        </p:nvCxnSpPr>
        <p:spPr>
          <a:xfrm rot="16200000" flipH="1">
            <a:off x="1877529" y="2321782"/>
            <a:ext cx="795164" cy="129282"/>
          </a:xfrm>
          <a:prstGeom prst="curvedConnector3">
            <a:avLst>
              <a:gd name="adj1" fmla="val 50000"/>
            </a:avLst>
          </a:prstGeom>
          <a:ln w="76200">
            <a:solidFill>
              <a:srgbClr val="FF0000"/>
            </a:solidFill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örbe összekötő 29"/>
          <p:cNvCxnSpPr/>
          <p:nvPr/>
        </p:nvCxnSpPr>
        <p:spPr>
          <a:xfrm rot="5400000">
            <a:off x="1971237" y="3691789"/>
            <a:ext cx="465769" cy="304802"/>
          </a:xfrm>
          <a:prstGeom prst="curvedConnector3">
            <a:avLst>
              <a:gd name="adj1" fmla="val 50000"/>
            </a:avLst>
          </a:prstGeom>
          <a:ln w="76200">
            <a:solidFill>
              <a:srgbClr val="0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örbe összekötő 30"/>
          <p:cNvCxnSpPr>
            <a:endCxn id="24" idx="0"/>
          </p:cNvCxnSpPr>
          <p:nvPr/>
        </p:nvCxnSpPr>
        <p:spPr>
          <a:xfrm rot="5400000">
            <a:off x="6114810" y="4705172"/>
            <a:ext cx="897816" cy="150244"/>
          </a:xfrm>
          <a:prstGeom prst="curvedConnector3">
            <a:avLst>
              <a:gd name="adj1" fmla="val 50000"/>
            </a:avLst>
          </a:prstGeom>
          <a:ln w="76200">
            <a:solidFill>
              <a:srgbClr val="FF0000"/>
            </a:solidFill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örbe összekötő 38"/>
          <p:cNvCxnSpPr>
            <a:stCxn id="23" idx="2"/>
          </p:cNvCxnSpPr>
          <p:nvPr/>
        </p:nvCxnSpPr>
        <p:spPr>
          <a:xfrm rot="5400000">
            <a:off x="1725533" y="6163391"/>
            <a:ext cx="588751" cy="368424"/>
          </a:xfrm>
          <a:prstGeom prst="curvedConnector3">
            <a:avLst>
              <a:gd name="adj1" fmla="val 50000"/>
            </a:avLst>
          </a:prstGeom>
          <a:ln w="76200">
            <a:solidFill>
              <a:srgbClr val="0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9399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Dia számának helye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8BF61E1-FC62-42AF-AFA1-EC88CFC108D0}" type="slidenum">
              <a:rPr lang="hu-HU" altLang="hu-HU" sz="1400"/>
              <a:pPr/>
              <a:t>21</a:t>
            </a:fld>
            <a:endParaRPr lang="hu-HU" altLang="hu-HU" sz="1400"/>
          </a:p>
        </p:txBody>
      </p:sp>
      <p:sp>
        <p:nvSpPr>
          <p:cNvPr id="48131" name="Text Box 2"/>
          <p:cNvSpPr txBox="1">
            <a:spLocks noChangeArrowheads="1"/>
          </p:cNvSpPr>
          <p:nvPr/>
        </p:nvSpPr>
        <p:spPr bwMode="auto">
          <a:xfrm>
            <a:off x="179388" y="260350"/>
            <a:ext cx="44656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500"/>
              </a:spcBef>
              <a:spcAft>
                <a:spcPts val="500"/>
              </a:spcAft>
              <a:buFont typeface="Symbol" panose="05050102010706020507" pitchFamily="18" charset="2"/>
              <a:buNone/>
            </a:pPr>
            <a:r>
              <a:rPr lang="hu-HU" altLang="hu-HU" sz="3600" b="1"/>
              <a:t>Elöltesztelő(s) ciklus</a:t>
            </a:r>
            <a:r>
              <a:rPr lang="hu-HU" altLang="hu-HU" sz="3200"/>
              <a:t> 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4876800" y="381000"/>
            <a:ext cx="3978275" cy="2824163"/>
            <a:chOff x="3072" y="240"/>
            <a:chExt cx="2506" cy="1779"/>
          </a:xfrm>
        </p:grpSpPr>
        <p:sp>
          <p:nvSpPr>
            <p:cNvPr id="48137" name="Text Box 3"/>
            <p:cNvSpPr txBox="1">
              <a:spLocks noChangeArrowheads="1"/>
            </p:cNvSpPr>
            <p:nvPr/>
          </p:nvSpPr>
          <p:spPr bwMode="auto">
            <a:xfrm>
              <a:off x="3072" y="240"/>
              <a:ext cx="2064" cy="11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hu-HU" altLang="hu-HU" sz="3200"/>
                <a:t>Ciklus amíg F1</a:t>
              </a:r>
            </a:p>
            <a:p>
              <a:pPr>
                <a:spcBef>
                  <a:spcPct val="20000"/>
                </a:spcBef>
              </a:pPr>
              <a:r>
                <a:rPr lang="hu-HU" altLang="hu-HU" sz="3200"/>
                <a:t>	U1;U2;…</a:t>
              </a:r>
            </a:p>
            <a:p>
              <a:pPr>
                <a:spcBef>
                  <a:spcPct val="20000"/>
                </a:spcBef>
              </a:pPr>
              <a:r>
                <a:rPr lang="hu-HU" altLang="hu-HU" sz="3200"/>
                <a:t>Ciklus vége</a:t>
              </a:r>
              <a:endParaRPr lang="hu-HU" altLang="hu-HU"/>
            </a:p>
          </p:txBody>
        </p:sp>
        <p:sp>
          <p:nvSpPr>
            <p:cNvPr id="48138" name="AutoShape 4"/>
            <p:cNvSpPr>
              <a:spLocks noChangeArrowheads="1"/>
            </p:cNvSpPr>
            <p:nvPr/>
          </p:nvSpPr>
          <p:spPr bwMode="auto">
            <a:xfrm>
              <a:off x="3696" y="1389"/>
              <a:ext cx="1882" cy="630"/>
            </a:xfrm>
            <a:prstGeom prst="wedgeRoundRectCallout">
              <a:avLst>
                <a:gd name="adj1" fmla="val 2870"/>
                <a:gd name="adj2" fmla="val -112222"/>
                <a:gd name="adj3" fmla="val 16667"/>
              </a:avLst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hu-HU" altLang="hu-HU" sz="2800"/>
                <a:t>Mondatszerű leírás</a:t>
              </a:r>
              <a:endParaRPr lang="hu-HU" altLang="hu-HU"/>
            </a:p>
          </p:txBody>
        </p:sp>
      </p:grpSp>
      <p:sp>
        <p:nvSpPr>
          <p:cNvPr id="195590" name="Text Box 6"/>
          <p:cNvSpPr txBox="1">
            <a:spLocks noChangeArrowheads="1"/>
          </p:cNvSpPr>
          <p:nvPr/>
        </p:nvSpPr>
        <p:spPr bwMode="auto">
          <a:xfrm>
            <a:off x="395288" y="3442653"/>
            <a:ext cx="8443912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hu-HU" altLang="hu-HU" sz="3200" dirty="0"/>
              <a:t>Megvizsgálja a kifejezést, </a:t>
            </a:r>
            <a:r>
              <a:rPr lang="hu-HU" altLang="hu-HU" sz="3200" b="1" i="1" dirty="0"/>
              <a:t>ha értéke</a:t>
            </a:r>
            <a:r>
              <a:rPr lang="hu-HU" altLang="hu-HU" sz="3200" dirty="0"/>
              <a:t> </a:t>
            </a:r>
            <a:r>
              <a:rPr lang="hu-HU" altLang="hu-HU" sz="3200" b="1" i="1" dirty="0"/>
              <a:t>igaz</a:t>
            </a:r>
            <a:r>
              <a:rPr lang="hu-HU" altLang="hu-HU" sz="3200" dirty="0"/>
              <a:t>, </a:t>
            </a:r>
            <a:r>
              <a:rPr lang="hu-HU" altLang="hu-HU" sz="3200" u="sng" dirty="0"/>
              <a:t>végrehajtja az utasítást</a:t>
            </a:r>
            <a:r>
              <a:rPr lang="hu-HU" altLang="hu-HU" sz="3200" dirty="0"/>
              <a:t> és kezdi elölről. </a:t>
            </a:r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hu-HU" altLang="hu-HU" sz="3200" b="1" i="1" dirty="0"/>
              <a:t>Ha</a:t>
            </a:r>
            <a:r>
              <a:rPr lang="hu-HU" altLang="hu-HU" sz="3200" dirty="0"/>
              <a:t> a kifejezés </a:t>
            </a:r>
            <a:r>
              <a:rPr lang="hu-HU" altLang="hu-HU" sz="3200" b="1" i="1" dirty="0"/>
              <a:t>értéke hamis</a:t>
            </a:r>
            <a:r>
              <a:rPr lang="hu-HU" altLang="hu-HU" sz="3200" dirty="0"/>
              <a:t>, a ciklusmag </a:t>
            </a:r>
            <a:r>
              <a:rPr lang="hu-HU" altLang="hu-HU" sz="3200" u="sng" dirty="0"/>
              <a:t>sem </a:t>
            </a:r>
            <a:r>
              <a:rPr lang="hu-HU" altLang="hu-HU" sz="3200" u="sng" dirty="0" err="1"/>
              <a:t>hajtódik</a:t>
            </a:r>
            <a:r>
              <a:rPr lang="hu-HU" altLang="hu-HU" sz="3200" u="sng" dirty="0"/>
              <a:t> végre</a:t>
            </a:r>
            <a:r>
              <a:rPr lang="hu-HU" altLang="hu-HU" sz="3200" dirty="0"/>
              <a:t>. </a:t>
            </a:r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hu-HU" altLang="hu-HU" sz="3200" dirty="0"/>
              <a:t>Ha a feltétel </a:t>
            </a:r>
            <a:r>
              <a:rPr lang="hu-HU" altLang="hu-HU" sz="3200" u="sng" dirty="0"/>
              <a:t>már kezdetben sem igaz</a:t>
            </a:r>
            <a:r>
              <a:rPr lang="hu-HU" altLang="hu-HU" sz="3200" dirty="0"/>
              <a:t>, akkor a </a:t>
            </a:r>
            <a:r>
              <a:rPr lang="hu-HU" altLang="hu-HU" sz="3200" b="1" i="1" dirty="0"/>
              <a:t>ciklusmag egyszer sem fut le</a:t>
            </a:r>
            <a:r>
              <a:rPr lang="hu-HU" altLang="hu-HU" sz="3200" dirty="0"/>
              <a:t>.</a:t>
            </a:r>
          </a:p>
        </p:txBody>
      </p: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395288" y="981075"/>
            <a:ext cx="5094287" cy="2557463"/>
            <a:chOff x="249" y="618"/>
            <a:chExt cx="3209" cy="1611"/>
          </a:xfrm>
        </p:grpSpPr>
        <p:sp>
          <p:nvSpPr>
            <p:cNvPr id="48135" name="Text Box 5"/>
            <p:cNvSpPr txBox="1">
              <a:spLocks noChangeArrowheads="1"/>
            </p:cNvSpPr>
            <p:nvPr/>
          </p:nvSpPr>
          <p:spPr bwMode="auto">
            <a:xfrm>
              <a:off x="249" y="618"/>
              <a:ext cx="2336" cy="1568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marL="381000" indent="-381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60000"/>
                </a:lnSpc>
                <a:spcBef>
                  <a:spcPts val="500"/>
                </a:spcBef>
                <a:spcAft>
                  <a:spcPts val="500"/>
                </a:spcAft>
                <a:buFont typeface="Symbol" panose="05050102010706020507" pitchFamily="18" charset="2"/>
                <a:buNone/>
              </a:pPr>
              <a:endParaRPr lang="hu-HU" altLang="hu-HU" sz="3200" b="1" dirty="0"/>
            </a:p>
            <a:p>
              <a:pPr>
                <a:lnSpc>
                  <a:spcPct val="60000"/>
                </a:lnSpc>
                <a:spcBef>
                  <a:spcPts val="500"/>
                </a:spcBef>
                <a:spcAft>
                  <a:spcPts val="500"/>
                </a:spcAft>
                <a:buFont typeface="Symbol" panose="05050102010706020507" pitchFamily="18" charset="2"/>
                <a:buNone/>
              </a:pPr>
              <a:r>
                <a:rPr lang="hu-HU" altLang="hu-HU" sz="3200" b="1" dirty="0" err="1"/>
                <a:t>while</a:t>
              </a:r>
              <a:r>
                <a:rPr lang="hu-HU" altLang="hu-HU" sz="3200" b="1" dirty="0"/>
                <a:t> (kifejezés)</a:t>
              </a:r>
            </a:p>
            <a:p>
              <a:pPr>
                <a:lnSpc>
                  <a:spcPct val="60000"/>
                </a:lnSpc>
                <a:spcBef>
                  <a:spcPts val="500"/>
                </a:spcBef>
                <a:spcAft>
                  <a:spcPts val="500"/>
                </a:spcAft>
                <a:buFont typeface="Symbol" panose="05050102010706020507" pitchFamily="18" charset="2"/>
                <a:buNone/>
              </a:pPr>
              <a:r>
                <a:rPr lang="hu-HU" altLang="hu-HU" sz="3200" b="1" dirty="0"/>
                <a:t>	{</a:t>
              </a:r>
            </a:p>
            <a:p>
              <a:pPr>
                <a:lnSpc>
                  <a:spcPct val="60000"/>
                </a:lnSpc>
                <a:spcBef>
                  <a:spcPts val="500"/>
                </a:spcBef>
                <a:spcAft>
                  <a:spcPts val="500"/>
                </a:spcAft>
                <a:buFont typeface="Symbol" panose="05050102010706020507" pitchFamily="18" charset="2"/>
                <a:buNone/>
              </a:pPr>
              <a:r>
                <a:rPr lang="hu-HU" altLang="hu-HU" sz="3200" b="1" dirty="0"/>
                <a:t>		utasítás;</a:t>
              </a:r>
            </a:p>
            <a:p>
              <a:pPr>
                <a:lnSpc>
                  <a:spcPct val="60000"/>
                </a:lnSpc>
                <a:spcBef>
                  <a:spcPts val="500"/>
                </a:spcBef>
                <a:spcAft>
                  <a:spcPts val="500"/>
                </a:spcAft>
                <a:buFont typeface="Symbol" panose="05050102010706020507" pitchFamily="18" charset="2"/>
                <a:buNone/>
              </a:pPr>
              <a:r>
                <a:rPr lang="hu-HU" altLang="hu-HU" sz="3200" b="1" dirty="0"/>
                <a:t>	}</a:t>
              </a:r>
            </a:p>
            <a:p>
              <a:pPr>
                <a:lnSpc>
                  <a:spcPct val="60000"/>
                </a:lnSpc>
                <a:spcBef>
                  <a:spcPts val="500"/>
                </a:spcBef>
                <a:spcAft>
                  <a:spcPts val="500"/>
                </a:spcAft>
                <a:buFont typeface="Symbol" panose="05050102010706020507" pitchFamily="18" charset="2"/>
                <a:buNone/>
              </a:pPr>
              <a:endParaRPr lang="hu-HU" altLang="hu-HU" sz="3200" dirty="0"/>
            </a:p>
          </p:txBody>
        </p:sp>
        <p:sp>
          <p:nvSpPr>
            <p:cNvPr id="48136" name="AutoShape 7"/>
            <p:cNvSpPr>
              <a:spLocks noChangeArrowheads="1"/>
            </p:cNvSpPr>
            <p:nvPr/>
          </p:nvSpPr>
          <p:spPr bwMode="auto">
            <a:xfrm>
              <a:off x="1701" y="1797"/>
              <a:ext cx="1757" cy="432"/>
            </a:xfrm>
            <a:prstGeom prst="wedgeRoundRectCallout">
              <a:avLst>
                <a:gd name="adj1" fmla="val -88477"/>
                <a:gd name="adj2" fmla="val -5787"/>
                <a:gd name="adj3" fmla="val 16667"/>
              </a:avLst>
            </a:prstGeom>
            <a:solidFill>
              <a:srgbClr val="DACFBE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marL="342900" indent="-3429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hu-HU" altLang="hu-HU" sz="2800">
                  <a:solidFill>
                    <a:srgbClr val="000000"/>
                  </a:solidFill>
                </a:rPr>
                <a:t>C#</a:t>
              </a:r>
              <a:r>
                <a:rPr lang="en-US" altLang="hu-HU" sz="2800">
                  <a:solidFill>
                    <a:srgbClr val="000000"/>
                  </a:solidFill>
                </a:rPr>
                <a:t> kód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0461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82255" y="336049"/>
            <a:ext cx="7772400" cy="1143000"/>
          </a:xfrm>
        </p:spPr>
        <p:txBody>
          <a:bodyPr/>
          <a:lstStyle/>
          <a:p>
            <a:pPr>
              <a:spcAft>
                <a:spcPts val="0"/>
              </a:spcAft>
              <a:tabLst>
                <a:tab pos="6210935" algn="r"/>
              </a:tabLst>
            </a:pPr>
            <a:r>
              <a:rPr lang="hu-HU" b="1" dirty="0">
                <a:ea typeface="Times New Roman" panose="02020603050405020304" pitchFamily="18" charset="0"/>
              </a:rPr>
              <a:t>Mit ír ki az alábbi kódrészlet?</a:t>
            </a:r>
          </a:p>
        </p:txBody>
      </p:sp>
      <p:sp>
        <p:nvSpPr>
          <p:cNvPr id="3" name="Dia számának hely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6532AF-F837-42AC-8665-7B72B1DE6D1F}" type="slidenum">
              <a:rPr lang="hu-HU" altLang="hu-HU" smtClean="0"/>
              <a:pPr>
                <a:defRPr/>
              </a:pPr>
              <a:t>22</a:t>
            </a:fld>
            <a:endParaRPr lang="hu-HU" altLang="hu-HU"/>
          </a:p>
        </p:txBody>
      </p:sp>
      <p:sp>
        <p:nvSpPr>
          <p:cNvPr id="4" name="Téglalap 3"/>
          <p:cNvSpPr/>
          <p:nvPr/>
        </p:nvSpPr>
        <p:spPr>
          <a:xfrm>
            <a:off x="484527" y="1696166"/>
            <a:ext cx="8150179" cy="4093428"/>
          </a:xfrm>
          <a:prstGeom prst="rect">
            <a:avLst/>
          </a:prstGeom>
          <a:solidFill>
            <a:srgbClr val="CCFF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hu-HU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int y = 0;</a:t>
            </a:r>
          </a:p>
          <a:p>
            <a:r>
              <a:rPr lang="hu-HU" sz="4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hu-HU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 (y&lt;7)</a:t>
            </a:r>
          </a:p>
          <a:p>
            <a:r>
              <a:rPr lang="hu-HU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hu-HU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  y += 2;</a:t>
            </a:r>
          </a:p>
          <a:p>
            <a:r>
              <a:rPr lang="hu-HU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hu-HU" sz="4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hu-HU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(y);</a:t>
            </a:r>
          </a:p>
          <a:p>
            <a:pPr marL="228600" algn="just">
              <a:spcAft>
                <a:spcPts val="0"/>
              </a:spcAft>
              <a:tabLst>
                <a:tab pos="6210935" algn="r"/>
              </a:tabLst>
            </a:pPr>
            <a:endParaRPr lang="hu-HU" sz="2000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836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Dia számának helye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3B093E9-85B5-4458-8393-CC709D205B89}" type="slidenum">
              <a:rPr lang="hu-HU" altLang="hu-HU" sz="1400"/>
              <a:pPr/>
              <a:t>23</a:t>
            </a:fld>
            <a:endParaRPr lang="hu-HU" altLang="hu-HU" sz="1400"/>
          </a:p>
        </p:txBody>
      </p:sp>
      <p:sp>
        <p:nvSpPr>
          <p:cNvPr id="49155" name="Text Box 2"/>
          <p:cNvSpPr txBox="1">
            <a:spLocks noChangeArrowheads="1"/>
          </p:cNvSpPr>
          <p:nvPr/>
        </p:nvSpPr>
        <p:spPr bwMode="auto">
          <a:xfrm>
            <a:off x="250825" y="333375"/>
            <a:ext cx="49831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1950" indent="-3619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500"/>
              </a:spcBef>
              <a:spcAft>
                <a:spcPts val="500"/>
              </a:spcAft>
              <a:buFont typeface="Symbol" panose="05050102010706020507" pitchFamily="18" charset="2"/>
              <a:buNone/>
            </a:pPr>
            <a:r>
              <a:rPr lang="hu-HU" altLang="hu-HU" sz="3600" b="1"/>
              <a:t>Hátultesztelő(s) ciklus</a:t>
            </a:r>
            <a:endParaRPr lang="hu-HU" altLang="hu-HU" sz="3200"/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5364163" y="333375"/>
            <a:ext cx="3398837" cy="3857625"/>
            <a:chOff x="3379" y="210"/>
            <a:chExt cx="2141" cy="2430"/>
          </a:xfrm>
        </p:grpSpPr>
        <p:sp>
          <p:nvSpPr>
            <p:cNvPr id="49161" name="Text Box 3"/>
            <p:cNvSpPr txBox="1">
              <a:spLocks noChangeArrowheads="1"/>
            </p:cNvSpPr>
            <p:nvPr/>
          </p:nvSpPr>
          <p:spPr bwMode="auto">
            <a:xfrm>
              <a:off x="3379" y="210"/>
              <a:ext cx="2064" cy="1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hu-HU" altLang="hu-HU" sz="3200"/>
                <a:t>Ciklus </a:t>
              </a:r>
            </a:p>
            <a:p>
              <a:pPr>
                <a:spcBef>
                  <a:spcPct val="20000"/>
                </a:spcBef>
              </a:pPr>
              <a:r>
                <a:rPr lang="hu-HU" altLang="hu-HU" sz="3200"/>
                <a:t>	U1;U2;…</a:t>
              </a:r>
            </a:p>
            <a:p>
              <a:pPr>
                <a:spcBef>
                  <a:spcPct val="20000"/>
                </a:spcBef>
              </a:pPr>
              <a:r>
                <a:rPr lang="hu-HU" altLang="hu-HU" sz="3200"/>
                <a:t>amíg F1</a:t>
              </a:r>
            </a:p>
            <a:p>
              <a:pPr>
                <a:spcBef>
                  <a:spcPct val="20000"/>
                </a:spcBef>
              </a:pPr>
              <a:r>
                <a:rPr lang="hu-HU" altLang="hu-HU" sz="3200"/>
                <a:t>Ciklus vége</a:t>
              </a:r>
              <a:endParaRPr lang="hu-HU" altLang="hu-HU"/>
            </a:p>
          </p:txBody>
        </p:sp>
        <p:sp>
          <p:nvSpPr>
            <p:cNvPr id="49162" name="AutoShape 4"/>
            <p:cNvSpPr>
              <a:spLocks noChangeArrowheads="1"/>
            </p:cNvSpPr>
            <p:nvPr/>
          </p:nvSpPr>
          <p:spPr bwMode="auto">
            <a:xfrm>
              <a:off x="3696" y="2064"/>
              <a:ext cx="1824" cy="576"/>
            </a:xfrm>
            <a:prstGeom prst="wedgeRoundRectCallout">
              <a:avLst>
                <a:gd name="adj1" fmla="val 2194"/>
                <a:gd name="adj2" fmla="val -129861"/>
                <a:gd name="adj3" fmla="val 16667"/>
              </a:avLst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hu-HU" altLang="hu-HU" sz="2800"/>
                <a:t>Mondatszerű leírás</a:t>
              </a:r>
              <a:endParaRPr lang="hu-HU" altLang="hu-HU"/>
            </a:p>
          </p:txBody>
        </p:sp>
      </p:grpSp>
      <p:sp>
        <p:nvSpPr>
          <p:cNvPr id="199686" name="Text Box 6"/>
          <p:cNvSpPr txBox="1">
            <a:spLocks noChangeArrowheads="1"/>
          </p:cNvSpPr>
          <p:nvPr/>
        </p:nvSpPr>
        <p:spPr bwMode="auto">
          <a:xfrm>
            <a:off x="395288" y="4581525"/>
            <a:ext cx="8458200" cy="168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1950" indent="-3619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hu-HU" altLang="hu-HU" sz="3200"/>
              <a:t>Elvégzi az utasításokat, majd kiértékeli a kifejezést, </a:t>
            </a:r>
            <a:r>
              <a:rPr lang="hu-HU" altLang="hu-HU" sz="3200" b="1" i="1"/>
              <a:t>ha</a:t>
            </a:r>
            <a:r>
              <a:rPr lang="hu-HU" altLang="hu-HU" sz="3200"/>
              <a:t> </a:t>
            </a:r>
            <a:r>
              <a:rPr lang="hu-HU" altLang="hu-HU" sz="3200" b="1" i="1"/>
              <a:t>igaz</a:t>
            </a:r>
            <a:r>
              <a:rPr lang="hu-HU" altLang="hu-HU" sz="3200"/>
              <a:t>, akkor </a:t>
            </a:r>
            <a:r>
              <a:rPr lang="hu-HU" altLang="hu-HU" sz="3200" u="sng"/>
              <a:t>újra végrehajtja</a:t>
            </a:r>
            <a:r>
              <a:rPr lang="hu-HU" altLang="hu-HU" sz="3200"/>
              <a:t>. </a:t>
            </a:r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hu-HU" altLang="hu-HU" sz="3200" u="sng"/>
              <a:t>Egyszer</a:t>
            </a:r>
            <a:r>
              <a:rPr lang="hu-HU" altLang="hu-HU" sz="3200"/>
              <a:t> </a:t>
            </a:r>
            <a:r>
              <a:rPr lang="hu-HU" altLang="hu-HU" sz="3200" b="1" i="1"/>
              <a:t>mindenképpen</a:t>
            </a:r>
            <a:r>
              <a:rPr lang="hu-HU" altLang="hu-HU" sz="3200"/>
              <a:t> </a:t>
            </a:r>
            <a:r>
              <a:rPr lang="hu-HU" altLang="hu-HU" sz="3200" u="sng"/>
              <a:t>lefut</a:t>
            </a:r>
            <a:r>
              <a:rPr lang="hu-HU" altLang="hu-HU" sz="3200"/>
              <a:t> a ciklusmag.</a:t>
            </a: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250825" y="1196975"/>
            <a:ext cx="5310188" cy="3294063"/>
            <a:chOff x="158" y="754"/>
            <a:chExt cx="3345" cy="2075"/>
          </a:xfrm>
          <a:solidFill>
            <a:srgbClr val="CCFF99"/>
          </a:solidFill>
        </p:grpSpPr>
        <p:sp>
          <p:nvSpPr>
            <p:cNvPr id="49159" name="Text Box 5"/>
            <p:cNvSpPr txBox="1">
              <a:spLocks noChangeArrowheads="1"/>
            </p:cNvSpPr>
            <p:nvPr/>
          </p:nvSpPr>
          <p:spPr bwMode="auto">
            <a:xfrm>
              <a:off x="158" y="754"/>
              <a:ext cx="3048" cy="2075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marL="361950" indent="-3619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ts val="500"/>
                </a:spcBef>
                <a:spcAft>
                  <a:spcPts val="500"/>
                </a:spcAft>
                <a:buFont typeface="Symbol" panose="05050102010706020507" pitchFamily="18" charset="2"/>
                <a:buNone/>
              </a:pPr>
              <a:r>
                <a:rPr lang="hu-HU" altLang="hu-HU" sz="3600" b="1"/>
                <a:t>do</a:t>
              </a:r>
            </a:p>
            <a:p>
              <a:pPr>
                <a:spcBef>
                  <a:spcPts val="500"/>
                </a:spcBef>
                <a:spcAft>
                  <a:spcPts val="500"/>
                </a:spcAft>
                <a:buFont typeface="Symbol" panose="05050102010706020507" pitchFamily="18" charset="2"/>
                <a:buNone/>
              </a:pPr>
              <a:r>
                <a:rPr lang="hu-HU" altLang="hu-HU" sz="3600" b="1"/>
                <a:t>{	utasítás1; </a:t>
              </a:r>
            </a:p>
            <a:p>
              <a:pPr>
                <a:spcBef>
                  <a:spcPts val="500"/>
                </a:spcBef>
                <a:spcAft>
                  <a:spcPts val="500"/>
                </a:spcAft>
                <a:buFont typeface="Symbol" panose="05050102010706020507" pitchFamily="18" charset="2"/>
                <a:buNone/>
              </a:pPr>
              <a:r>
                <a:rPr lang="hu-HU" altLang="hu-HU" sz="3600" b="1"/>
                <a:t>	utasítás2; </a:t>
              </a:r>
            </a:p>
            <a:p>
              <a:pPr>
                <a:spcBef>
                  <a:spcPts val="500"/>
                </a:spcBef>
                <a:spcAft>
                  <a:spcPts val="500"/>
                </a:spcAft>
                <a:buFont typeface="Symbol" panose="05050102010706020507" pitchFamily="18" charset="2"/>
                <a:buNone/>
              </a:pPr>
              <a:r>
                <a:rPr lang="hu-HU" altLang="hu-HU" sz="3600" b="1"/>
                <a:t>	... </a:t>
              </a:r>
            </a:p>
            <a:p>
              <a:pPr>
                <a:spcBef>
                  <a:spcPts val="500"/>
                </a:spcBef>
                <a:spcAft>
                  <a:spcPts val="500"/>
                </a:spcAft>
                <a:buFont typeface="Symbol" panose="05050102010706020507" pitchFamily="18" charset="2"/>
                <a:buNone/>
              </a:pPr>
              <a:r>
                <a:rPr lang="hu-HU" altLang="hu-HU" sz="3200" b="1"/>
                <a:t>}</a:t>
              </a:r>
              <a:r>
                <a:rPr lang="hu-HU" altLang="hu-HU" sz="3200"/>
                <a:t> </a:t>
              </a:r>
              <a:r>
                <a:rPr lang="hu-HU" altLang="hu-HU" sz="3200" b="1"/>
                <a:t> while (kifejezés);</a:t>
              </a:r>
              <a:endParaRPr lang="hu-HU" altLang="hu-HU" sz="3200"/>
            </a:p>
          </p:txBody>
        </p:sp>
        <p:sp>
          <p:nvSpPr>
            <p:cNvPr id="49160" name="AutoShape 7"/>
            <p:cNvSpPr>
              <a:spLocks noChangeArrowheads="1"/>
            </p:cNvSpPr>
            <p:nvPr/>
          </p:nvSpPr>
          <p:spPr bwMode="auto">
            <a:xfrm>
              <a:off x="1746" y="1888"/>
              <a:ext cx="1757" cy="432"/>
            </a:xfrm>
            <a:prstGeom prst="wedgeRoundRectCallout">
              <a:avLst>
                <a:gd name="adj1" fmla="val -85912"/>
                <a:gd name="adj2" fmla="val 25694"/>
                <a:gd name="adj3" fmla="val 16667"/>
              </a:avLst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marL="342900" indent="-3429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hu-HU" altLang="hu-HU" sz="2800">
                  <a:solidFill>
                    <a:srgbClr val="000000"/>
                  </a:solidFill>
                </a:rPr>
                <a:t>C#</a:t>
              </a:r>
              <a:r>
                <a:rPr lang="en-US" altLang="hu-HU" sz="2800">
                  <a:solidFill>
                    <a:srgbClr val="000000"/>
                  </a:solidFill>
                </a:rPr>
                <a:t> kód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0811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28833" y="218044"/>
            <a:ext cx="7772400" cy="1143000"/>
          </a:xfrm>
        </p:spPr>
        <p:txBody>
          <a:bodyPr/>
          <a:lstStyle/>
          <a:p>
            <a:pPr>
              <a:spcAft>
                <a:spcPts val="0"/>
              </a:spcAft>
              <a:tabLst>
                <a:tab pos="6210935" algn="r"/>
              </a:tabLst>
            </a:pPr>
            <a:r>
              <a:rPr lang="hu-HU" b="1" dirty="0">
                <a:ea typeface="Times New Roman" panose="02020603050405020304" pitchFamily="18" charset="0"/>
              </a:rPr>
              <a:t>Mit ír ki az alábbi kódrészlet?</a:t>
            </a:r>
          </a:p>
        </p:txBody>
      </p:sp>
      <p:sp>
        <p:nvSpPr>
          <p:cNvPr id="3" name="Dia számának hely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6532AF-F837-42AC-8665-7B72B1DE6D1F}" type="slidenum">
              <a:rPr lang="hu-HU" altLang="hu-HU" smtClean="0"/>
              <a:pPr>
                <a:defRPr/>
              </a:pPr>
              <a:t>24</a:t>
            </a:fld>
            <a:endParaRPr lang="hu-HU" altLang="hu-HU"/>
          </a:p>
        </p:txBody>
      </p:sp>
      <p:sp>
        <p:nvSpPr>
          <p:cNvPr id="4" name="Téglalap 3"/>
          <p:cNvSpPr/>
          <p:nvPr/>
        </p:nvSpPr>
        <p:spPr>
          <a:xfrm>
            <a:off x="523546" y="1401288"/>
            <a:ext cx="7991621" cy="4524315"/>
          </a:xfrm>
          <a:prstGeom prst="rect">
            <a:avLst/>
          </a:prstGeom>
          <a:solidFill>
            <a:srgbClr val="CCFF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28600" algn="just">
              <a:spcAft>
                <a:spcPts val="0"/>
              </a:spcAft>
              <a:tabLst>
                <a:tab pos="6210935" algn="r"/>
              </a:tabLst>
            </a:pPr>
            <a:endParaRPr lang="hu-HU" sz="2000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algn="just">
              <a:spcAft>
                <a:spcPts val="0"/>
              </a:spcAft>
              <a:tabLst>
                <a:tab pos="6210935" algn="r"/>
              </a:tabLst>
            </a:pPr>
            <a:r>
              <a:rPr lang="hu-HU" sz="4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 z = 1;</a:t>
            </a:r>
            <a:endParaRPr lang="hu-HU" sz="4000" dirty="0">
              <a:latin typeface="13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algn="just">
              <a:spcAft>
                <a:spcPts val="0"/>
              </a:spcAft>
              <a:tabLst>
                <a:tab pos="6210935" algn="r"/>
              </a:tabLst>
            </a:pPr>
            <a:r>
              <a:rPr lang="hu-HU" sz="40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endParaRPr lang="hu-HU" sz="4000" dirty="0">
              <a:latin typeface="13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algn="just">
              <a:spcAft>
                <a:spcPts val="0"/>
              </a:spcAft>
              <a:tabLst>
                <a:tab pos="6210935" algn="r"/>
              </a:tabLst>
            </a:pPr>
            <a:r>
              <a:rPr lang="hu-HU" sz="4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hu-HU" sz="4000" dirty="0">
              <a:latin typeface="13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algn="just">
              <a:spcAft>
                <a:spcPts val="0"/>
              </a:spcAft>
              <a:tabLst>
                <a:tab pos="6210935" algn="r"/>
              </a:tabLst>
            </a:pPr>
            <a:r>
              <a:rPr lang="hu-HU" sz="4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z *= 3;</a:t>
            </a:r>
            <a:endParaRPr lang="hu-HU" sz="4000" dirty="0">
              <a:latin typeface="13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algn="just">
              <a:spcAft>
                <a:spcPts val="0"/>
              </a:spcAft>
              <a:tabLst>
                <a:tab pos="6210935" algn="r"/>
              </a:tabLst>
            </a:pPr>
            <a:r>
              <a:rPr lang="hu-HU" sz="4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hu-HU" sz="40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hu-HU" sz="40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(z &lt; 5);</a:t>
            </a:r>
          </a:p>
          <a:p>
            <a:pPr marL="228600" algn="just">
              <a:spcAft>
                <a:spcPts val="0"/>
              </a:spcAft>
              <a:tabLst>
                <a:tab pos="6210935" algn="r"/>
              </a:tabLst>
            </a:pPr>
            <a:endParaRPr lang="hu-HU" dirty="0">
              <a:latin typeface="13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sz="40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Console.WriteLine</a:t>
            </a:r>
            <a:r>
              <a:rPr lang="hu-HU" sz="4000" dirty="0">
                <a:latin typeface="Courier New" panose="02070309020205020404" pitchFamily="49" charset="0"/>
                <a:ea typeface="Times New Roman" panose="02020603050405020304" pitchFamily="18" charset="0"/>
              </a:rPr>
              <a:t>(z);</a:t>
            </a:r>
            <a:endParaRPr lang="hu-HU" sz="4000" dirty="0"/>
          </a:p>
        </p:txBody>
      </p:sp>
    </p:spTree>
    <p:extLst>
      <p:ext uri="{BB962C8B-B14F-4D97-AF65-F5344CB8AC3E}">
        <p14:creationId xmlns:p14="http://schemas.microsoft.com/office/powerpoint/2010/main" val="486789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Dia számának helye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8F58C43-ADD1-4B90-BF78-4210B22E689A}" type="slidenum">
              <a:rPr lang="hu-HU" altLang="hu-HU" sz="1400"/>
              <a:pPr/>
              <a:t>25</a:t>
            </a:fld>
            <a:endParaRPr lang="hu-HU" altLang="hu-HU" sz="1400"/>
          </a:p>
        </p:txBody>
      </p:sp>
      <p:sp>
        <p:nvSpPr>
          <p:cNvPr id="50179" name="AutoShape 2"/>
          <p:cNvSpPr>
            <a:spLocks noChangeArrowheads="1"/>
          </p:cNvSpPr>
          <p:nvPr/>
        </p:nvSpPr>
        <p:spPr bwMode="auto">
          <a:xfrm>
            <a:off x="2362200" y="1752600"/>
            <a:ext cx="228600" cy="228600"/>
          </a:xfrm>
          <a:prstGeom prst="flowChartConnector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u-HU" altLang="hu-HU"/>
          </a:p>
        </p:txBody>
      </p:sp>
      <p:sp>
        <p:nvSpPr>
          <p:cNvPr id="50180" name="AutoShape 3"/>
          <p:cNvSpPr>
            <a:spLocks noChangeArrowheads="1"/>
          </p:cNvSpPr>
          <p:nvPr/>
        </p:nvSpPr>
        <p:spPr bwMode="auto">
          <a:xfrm>
            <a:off x="1600200" y="2819400"/>
            <a:ext cx="1752600" cy="990600"/>
          </a:xfrm>
          <a:prstGeom prst="flowChartDecision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u-HU" altLang="hu-HU"/>
          </a:p>
        </p:txBody>
      </p:sp>
      <p:sp>
        <p:nvSpPr>
          <p:cNvPr id="50181" name="AutoShape 4"/>
          <p:cNvSpPr>
            <a:spLocks noChangeArrowheads="1"/>
          </p:cNvSpPr>
          <p:nvPr/>
        </p:nvSpPr>
        <p:spPr bwMode="auto">
          <a:xfrm>
            <a:off x="1524000" y="4648200"/>
            <a:ext cx="1752600" cy="53340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u-HU" altLang="hu-HU"/>
          </a:p>
        </p:txBody>
      </p:sp>
      <p:sp>
        <p:nvSpPr>
          <p:cNvPr id="50182" name="Line 5"/>
          <p:cNvSpPr>
            <a:spLocks noChangeShapeType="1"/>
          </p:cNvSpPr>
          <p:nvPr/>
        </p:nvSpPr>
        <p:spPr bwMode="auto">
          <a:xfrm>
            <a:off x="2514600" y="9144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u-HU"/>
          </a:p>
        </p:txBody>
      </p:sp>
      <p:sp>
        <p:nvSpPr>
          <p:cNvPr id="50183" name="Line 6"/>
          <p:cNvSpPr>
            <a:spLocks noChangeShapeType="1"/>
          </p:cNvSpPr>
          <p:nvPr/>
        </p:nvSpPr>
        <p:spPr bwMode="auto">
          <a:xfrm>
            <a:off x="2438400" y="52578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u-HU"/>
          </a:p>
        </p:txBody>
      </p:sp>
      <p:sp>
        <p:nvSpPr>
          <p:cNvPr id="50184" name="Line 7"/>
          <p:cNvSpPr>
            <a:spLocks noChangeShapeType="1"/>
          </p:cNvSpPr>
          <p:nvPr/>
        </p:nvSpPr>
        <p:spPr bwMode="auto">
          <a:xfrm>
            <a:off x="2514600" y="19812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u-HU"/>
          </a:p>
        </p:txBody>
      </p:sp>
      <p:sp>
        <p:nvSpPr>
          <p:cNvPr id="50185" name="Line 8"/>
          <p:cNvSpPr>
            <a:spLocks noChangeShapeType="1"/>
          </p:cNvSpPr>
          <p:nvPr/>
        </p:nvSpPr>
        <p:spPr bwMode="auto">
          <a:xfrm>
            <a:off x="2438400" y="38862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u-HU"/>
          </a:p>
        </p:txBody>
      </p:sp>
      <p:sp>
        <p:nvSpPr>
          <p:cNvPr id="50186" name="Line 9"/>
          <p:cNvSpPr>
            <a:spLocks noChangeShapeType="1"/>
          </p:cNvSpPr>
          <p:nvPr/>
        </p:nvSpPr>
        <p:spPr bwMode="auto">
          <a:xfrm flipH="1">
            <a:off x="533400" y="60198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u-HU"/>
          </a:p>
        </p:txBody>
      </p:sp>
      <p:sp>
        <p:nvSpPr>
          <p:cNvPr id="50187" name="Line 10"/>
          <p:cNvSpPr>
            <a:spLocks noChangeShapeType="1"/>
          </p:cNvSpPr>
          <p:nvPr/>
        </p:nvSpPr>
        <p:spPr bwMode="auto">
          <a:xfrm flipV="1">
            <a:off x="533400" y="1828800"/>
            <a:ext cx="0" cy="411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u-HU"/>
          </a:p>
        </p:txBody>
      </p:sp>
      <p:sp>
        <p:nvSpPr>
          <p:cNvPr id="50188" name="Line 11"/>
          <p:cNvSpPr>
            <a:spLocks noChangeShapeType="1"/>
          </p:cNvSpPr>
          <p:nvPr/>
        </p:nvSpPr>
        <p:spPr bwMode="auto">
          <a:xfrm>
            <a:off x="533400" y="18288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u-HU"/>
          </a:p>
        </p:txBody>
      </p:sp>
      <p:sp>
        <p:nvSpPr>
          <p:cNvPr id="50189" name="Text Box 12"/>
          <p:cNvSpPr txBox="1">
            <a:spLocks noChangeArrowheads="1"/>
          </p:cNvSpPr>
          <p:nvPr/>
        </p:nvSpPr>
        <p:spPr bwMode="auto">
          <a:xfrm>
            <a:off x="2057400" y="30480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hu-HU" altLang="hu-HU"/>
              <a:t>kif.</a:t>
            </a:r>
          </a:p>
        </p:txBody>
      </p:sp>
      <p:sp>
        <p:nvSpPr>
          <p:cNvPr id="50190" name="Line 13"/>
          <p:cNvSpPr>
            <a:spLocks noChangeShapeType="1"/>
          </p:cNvSpPr>
          <p:nvPr/>
        </p:nvSpPr>
        <p:spPr bwMode="auto">
          <a:xfrm>
            <a:off x="3429000" y="3276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u-HU"/>
          </a:p>
        </p:txBody>
      </p:sp>
      <p:sp>
        <p:nvSpPr>
          <p:cNvPr id="50191" name="Text Box 14"/>
          <p:cNvSpPr txBox="1">
            <a:spLocks noChangeArrowheads="1"/>
          </p:cNvSpPr>
          <p:nvPr/>
        </p:nvSpPr>
        <p:spPr bwMode="auto">
          <a:xfrm>
            <a:off x="2514600" y="3962400"/>
            <a:ext cx="1841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hu-HU" altLang="hu-HU"/>
              <a:t>igaz</a:t>
            </a:r>
          </a:p>
        </p:txBody>
      </p:sp>
      <p:sp>
        <p:nvSpPr>
          <p:cNvPr id="50192" name="Text Box 15"/>
          <p:cNvSpPr txBox="1">
            <a:spLocks noChangeArrowheads="1"/>
          </p:cNvSpPr>
          <p:nvPr/>
        </p:nvSpPr>
        <p:spPr bwMode="auto">
          <a:xfrm>
            <a:off x="3348038" y="2708275"/>
            <a:ext cx="936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hu-HU" altLang="hu-HU"/>
              <a:t>hamis</a:t>
            </a:r>
          </a:p>
        </p:txBody>
      </p:sp>
      <p:sp>
        <p:nvSpPr>
          <p:cNvPr id="50193" name="Text Box 16"/>
          <p:cNvSpPr txBox="1">
            <a:spLocks noChangeArrowheads="1"/>
          </p:cNvSpPr>
          <p:nvPr/>
        </p:nvSpPr>
        <p:spPr bwMode="auto">
          <a:xfrm>
            <a:off x="1981200" y="47244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hu-HU" altLang="hu-HU"/>
              <a:t>U1</a:t>
            </a:r>
          </a:p>
        </p:txBody>
      </p:sp>
      <p:sp>
        <p:nvSpPr>
          <p:cNvPr id="50194" name="AutoShape 17"/>
          <p:cNvSpPr>
            <a:spLocks noChangeArrowheads="1"/>
          </p:cNvSpPr>
          <p:nvPr/>
        </p:nvSpPr>
        <p:spPr bwMode="auto">
          <a:xfrm>
            <a:off x="6781800" y="1752600"/>
            <a:ext cx="228600" cy="228600"/>
          </a:xfrm>
          <a:prstGeom prst="flowChartConnector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u-HU" altLang="hu-HU"/>
          </a:p>
        </p:txBody>
      </p:sp>
      <p:sp>
        <p:nvSpPr>
          <p:cNvPr id="50195" name="AutoShape 18"/>
          <p:cNvSpPr>
            <a:spLocks noChangeArrowheads="1"/>
          </p:cNvSpPr>
          <p:nvPr/>
        </p:nvSpPr>
        <p:spPr bwMode="auto">
          <a:xfrm>
            <a:off x="6019800" y="4038600"/>
            <a:ext cx="1752600" cy="990600"/>
          </a:xfrm>
          <a:prstGeom prst="flowChartDecision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u-HU" altLang="hu-HU"/>
          </a:p>
        </p:txBody>
      </p:sp>
      <p:sp>
        <p:nvSpPr>
          <p:cNvPr id="50196" name="AutoShape 19"/>
          <p:cNvSpPr>
            <a:spLocks noChangeArrowheads="1"/>
          </p:cNvSpPr>
          <p:nvPr/>
        </p:nvSpPr>
        <p:spPr bwMode="auto">
          <a:xfrm>
            <a:off x="6019800" y="2743200"/>
            <a:ext cx="1752600" cy="53340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u-HU" altLang="hu-HU"/>
          </a:p>
        </p:txBody>
      </p:sp>
      <p:sp>
        <p:nvSpPr>
          <p:cNvPr id="50197" name="Line 20"/>
          <p:cNvSpPr>
            <a:spLocks noChangeShapeType="1"/>
          </p:cNvSpPr>
          <p:nvPr/>
        </p:nvSpPr>
        <p:spPr bwMode="auto">
          <a:xfrm>
            <a:off x="6934200" y="990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u-HU"/>
          </a:p>
        </p:txBody>
      </p:sp>
      <p:sp>
        <p:nvSpPr>
          <p:cNvPr id="50198" name="Line 21"/>
          <p:cNvSpPr>
            <a:spLocks noChangeShapeType="1"/>
          </p:cNvSpPr>
          <p:nvPr/>
        </p:nvSpPr>
        <p:spPr bwMode="auto">
          <a:xfrm>
            <a:off x="6858000" y="51054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u-HU"/>
          </a:p>
        </p:txBody>
      </p:sp>
      <p:sp>
        <p:nvSpPr>
          <p:cNvPr id="50199" name="Line 22"/>
          <p:cNvSpPr>
            <a:spLocks noChangeShapeType="1"/>
          </p:cNvSpPr>
          <p:nvPr/>
        </p:nvSpPr>
        <p:spPr bwMode="auto">
          <a:xfrm>
            <a:off x="6934200" y="19812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u-HU"/>
          </a:p>
        </p:txBody>
      </p:sp>
      <p:sp>
        <p:nvSpPr>
          <p:cNvPr id="50200" name="Line 23"/>
          <p:cNvSpPr>
            <a:spLocks noChangeShapeType="1"/>
          </p:cNvSpPr>
          <p:nvPr/>
        </p:nvSpPr>
        <p:spPr bwMode="auto">
          <a:xfrm>
            <a:off x="6934200" y="3276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u-HU"/>
          </a:p>
        </p:txBody>
      </p:sp>
      <p:sp>
        <p:nvSpPr>
          <p:cNvPr id="50201" name="Line 24"/>
          <p:cNvSpPr>
            <a:spLocks noChangeShapeType="1"/>
          </p:cNvSpPr>
          <p:nvPr/>
        </p:nvSpPr>
        <p:spPr bwMode="auto">
          <a:xfrm flipH="1">
            <a:off x="4953000" y="60198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u-HU"/>
          </a:p>
        </p:txBody>
      </p:sp>
      <p:sp>
        <p:nvSpPr>
          <p:cNvPr id="50202" name="Line 25"/>
          <p:cNvSpPr>
            <a:spLocks noChangeShapeType="1"/>
          </p:cNvSpPr>
          <p:nvPr/>
        </p:nvSpPr>
        <p:spPr bwMode="auto">
          <a:xfrm flipV="1">
            <a:off x="4953000" y="1828800"/>
            <a:ext cx="0" cy="411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u-HU"/>
          </a:p>
        </p:txBody>
      </p:sp>
      <p:sp>
        <p:nvSpPr>
          <p:cNvPr id="50203" name="Line 26"/>
          <p:cNvSpPr>
            <a:spLocks noChangeShapeType="1"/>
          </p:cNvSpPr>
          <p:nvPr/>
        </p:nvSpPr>
        <p:spPr bwMode="auto">
          <a:xfrm>
            <a:off x="4953000" y="18288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u-HU"/>
          </a:p>
        </p:txBody>
      </p:sp>
      <p:sp>
        <p:nvSpPr>
          <p:cNvPr id="50204" name="Text Box 27"/>
          <p:cNvSpPr txBox="1">
            <a:spLocks noChangeArrowheads="1"/>
          </p:cNvSpPr>
          <p:nvPr/>
        </p:nvSpPr>
        <p:spPr bwMode="auto">
          <a:xfrm>
            <a:off x="6477000" y="42672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hu-HU" altLang="hu-HU"/>
              <a:t>kif.</a:t>
            </a:r>
          </a:p>
        </p:txBody>
      </p:sp>
      <p:sp>
        <p:nvSpPr>
          <p:cNvPr id="50205" name="Line 28"/>
          <p:cNvSpPr>
            <a:spLocks noChangeShapeType="1"/>
          </p:cNvSpPr>
          <p:nvPr/>
        </p:nvSpPr>
        <p:spPr bwMode="auto">
          <a:xfrm>
            <a:off x="7848600" y="4495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u-HU"/>
          </a:p>
        </p:txBody>
      </p:sp>
      <p:sp>
        <p:nvSpPr>
          <p:cNvPr id="50206" name="Text Box 31"/>
          <p:cNvSpPr txBox="1">
            <a:spLocks noChangeArrowheads="1"/>
          </p:cNvSpPr>
          <p:nvPr/>
        </p:nvSpPr>
        <p:spPr bwMode="auto">
          <a:xfrm>
            <a:off x="6400800" y="28194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hu-HU" altLang="hu-HU"/>
              <a:t>U1</a:t>
            </a:r>
          </a:p>
        </p:txBody>
      </p:sp>
      <p:sp>
        <p:nvSpPr>
          <p:cNvPr id="50207" name="Rectangle 32"/>
          <p:cNvSpPr>
            <a:spLocks noChangeArrowheads="1"/>
          </p:cNvSpPr>
          <p:nvPr/>
        </p:nvSpPr>
        <p:spPr bwMode="auto">
          <a:xfrm>
            <a:off x="4493250" y="304800"/>
            <a:ext cx="4489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hu-HU" altLang="hu-HU" sz="3600" b="1" dirty="0" err="1"/>
              <a:t>Hátultesztelő</a:t>
            </a:r>
            <a:r>
              <a:rPr lang="hu-HU" altLang="hu-HU" sz="3600" b="1" dirty="0"/>
              <a:t>(s) ciklus</a:t>
            </a:r>
          </a:p>
        </p:txBody>
      </p:sp>
      <p:sp>
        <p:nvSpPr>
          <p:cNvPr id="50208" name="Rectangle 33"/>
          <p:cNvSpPr>
            <a:spLocks noChangeArrowheads="1"/>
          </p:cNvSpPr>
          <p:nvPr/>
        </p:nvSpPr>
        <p:spPr bwMode="auto">
          <a:xfrm>
            <a:off x="304800" y="304800"/>
            <a:ext cx="4159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hu-HU" altLang="hu-HU" sz="3600" b="1"/>
              <a:t>Elöltesztelő(s) ciklus</a:t>
            </a:r>
          </a:p>
        </p:txBody>
      </p:sp>
      <p:sp>
        <p:nvSpPr>
          <p:cNvPr id="50209" name="Text Box 35"/>
          <p:cNvSpPr txBox="1">
            <a:spLocks noChangeArrowheads="1"/>
          </p:cNvSpPr>
          <p:nvPr/>
        </p:nvSpPr>
        <p:spPr bwMode="auto">
          <a:xfrm>
            <a:off x="7667625" y="3933825"/>
            <a:ext cx="1008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hu-HU" altLang="hu-HU"/>
              <a:t>hamis</a:t>
            </a:r>
          </a:p>
        </p:txBody>
      </p:sp>
      <p:sp>
        <p:nvSpPr>
          <p:cNvPr id="50210" name="Text Box 36"/>
          <p:cNvSpPr txBox="1">
            <a:spLocks noChangeArrowheads="1"/>
          </p:cNvSpPr>
          <p:nvPr/>
        </p:nvSpPr>
        <p:spPr bwMode="auto">
          <a:xfrm>
            <a:off x="6948488" y="5300663"/>
            <a:ext cx="1841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hu-HU" altLang="hu-HU"/>
              <a:t>igaz</a:t>
            </a:r>
          </a:p>
        </p:txBody>
      </p:sp>
    </p:spTree>
    <p:extLst>
      <p:ext uri="{BB962C8B-B14F-4D97-AF65-F5344CB8AC3E}">
        <p14:creationId xmlns:p14="http://schemas.microsoft.com/office/powerpoint/2010/main" val="3897890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 számának hely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25DAC3-6268-4845-835E-739A0D352A01}" type="slidenum">
              <a:rPr lang="hu-HU" altLang="hu-HU" smtClean="0"/>
              <a:pPr>
                <a:defRPr/>
              </a:pPr>
              <a:t>26</a:t>
            </a:fld>
            <a:endParaRPr lang="hu-HU" altLang="hu-HU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8459" y="188640"/>
            <a:ext cx="5727082" cy="64807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20485759"/>
      </p:ext>
    </p:extLst>
  </p:cSld>
  <p:clrMapOvr>
    <a:masterClrMapping/>
  </p:clrMapOvr>
  <p:transition>
    <p:cover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Dia számának helye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1479020-1FE9-4FF2-AC6D-74A0E5BC92AC}" type="slidenum">
              <a:rPr lang="hu-HU" altLang="hu-HU" sz="1400"/>
              <a:pPr/>
              <a:t>27</a:t>
            </a:fld>
            <a:endParaRPr lang="hu-HU" altLang="hu-HU" sz="1400"/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395288" y="4221163"/>
            <a:ext cx="8001000" cy="2293937"/>
            <a:chOff x="249" y="2614"/>
            <a:chExt cx="5040" cy="1916"/>
          </a:xfrm>
        </p:grpSpPr>
        <p:sp>
          <p:nvSpPr>
            <p:cNvPr id="51210" name="Text Box 4"/>
            <p:cNvSpPr txBox="1">
              <a:spLocks noChangeArrowheads="1"/>
            </p:cNvSpPr>
            <p:nvPr/>
          </p:nvSpPr>
          <p:spPr bwMode="auto">
            <a:xfrm>
              <a:off x="249" y="2614"/>
              <a:ext cx="5040" cy="1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hu-HU" altLang="hu-HU" sz="2800"/>
                <a:t>Ciklus változó a-tól b-ig c lépésekben </a:t>
              </a:r>
            </a:p>
            <a:p>
              <a:pPr>
                <a:spcBef>
                  <a:spcPct val="50000"/>
                </a:spcBef>
              </a:pPr>
              <a:r>
                <a:rPr lang="hu-HU" altLang="hu-HU" sz="2800"/>
                <a:t>	U1;U2;…</a:t>
              </a:r>
            </a:p>
            <a:p>
              <a:pPr>
                <a:spcBef>
                  <a:spcPct val="20000"/>
                </a:spcBef>
              </a:pPr>
              <a:r>
                <a:rPr lang="hu-HU" altLang="hu-HU" sz="2800"/>
                <a:t>Ciklus vége</a:t>
              </a:r>
            </a:p>
            <a:p>
              <a:pPr>
                <a:spcBef>
                  <a:spcPct val="20000"/>
                </a:spcBef>
              </a:pPr>
              <a:endParaRPr lang="hu-HU" altLang="hu-HU" sz="1000"/>
            </a:p>
            <a:p>
              <a:pPr>
                <a:spcBef>
                  <a:spcPct val="20000"/>
                </a:spcBef>
              </a:pPr>
              <a:r>
                <a:rPr lang="hu-HU" altLang="hu-HU" i="1"/>
                <a:t>(pl.: 1-től n-ig 1-esével)</a:t>
              </a:r>
              <a:endParaRPr lang="hu-HU" altLang="hu-HU" sz="2800"/>
            </a:p>
          </p:txBody>
        </p:sp>
        <p:sp>
          <p:nvSpPr>
            <p:cNvPr id="51211" name="AutoShape 5"/>
            <p:cNvSpPr>
              <a:spLocks noChangeArrowheads="1"/>
            </p:cNvSpPr>
            <p:nvPr/>
          </p:nvSpPr>
          <p:spPr bwMode="auto">
            <a:xfrm>
              <a:off x="2976" y="3504"/>
              <a:ext cx="1824" cy="576"/>
            </a:xfrm>
            <a:prstGeom prst="wedgeRoundRectCallout">
              <a:avLst>
                <a:gd name="adj1" fmla="val -89417"/>
                <a:gd name="adj2" fmla="val -42014"/>
                <a:gd name="adj3" fmla="val 16667"/>
              </a:avLst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hu-HU" altLang="hu-HU" sz="2800"/>
                <a:t>Mondatszerű leírás</a:t>
              </a:r>
              <a:endParaRPr lang="hu-HU" altLang="hu-HU"/>
            </a:p>
          </p:txBody>
        </p:sp>
      </p:grpSp>
      <p:sp>
        <p:nvSpPr>
          <p:cNvPr id="51204" name="Text Box 3"/>
          <p:cNvSpPr txBox="1">
            <a:spLocks noChangeArrowheads="1"/>
          </p:cNvSpPr>
          <p:nvPr/>
        </p:nvSpPr>
        <p:spPr bwMode="auto">
          <a:xfrm>
            <a:off x="250825" y="981075"/>
            <a:ext cx="4537075" cy="3054350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</a:pPr>
            <a:endParaRPr lang="hu-HU" altLang="hu-HU" sz="1000" b="1" dirty="0"/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hu-HU" altLang="hu-HU" sz="3200" b="1" dirty="0" err="1"/>
              <a:t>for</a:t>
            </a:r>
            <a:r>
              <a:rPr lang="hu-HU" altLang="hu-HU" sz="3200" b="1" dirty="0"/>
              <a:t> (i=1; i&lt;=n; i++)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hu-HU" altLang="hu-HU" sz="3200" b="1" dirty="0"/>
              <a:t>	{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hu-HU" altLang="hu-HU" sz="3200" b="1" dirty="0"/>
              <a:t>	   utasítás;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hu-HU" altLang="hu-HU" sz="3200" b="1" dirty="0"/>
              <a:t>	}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endParaRPr lang="hu-HU" altLang="hu-HU" sz="1000" b="1" dirty="0"/>
          </a:p>
        </p:txBody>
      </p:sp>
      <p:sp>
        <p:nvSpPr>
          <p:cNvPr id="51205" name="AutoShape 6"/>
          <p:cNvSpPr>
            <a:spLocks noChangeArrowheads="1"/>
          </p:cNvSpPr>
          <p:nvPr/>
        </p:nvSpPr>
        <p:spPr bwMode="auto">
          <a:xfrm>
            <a:off x="4716463" y="3429000"/>
            <a:ext cx="1584325" cy="647700"/>
          </a:xfrm>
          <a:prstGeom prst="wedgeRoundRectCallout">
            <a:avLst>
              <a:gd name="adj1" fmla="val -166134"/>
              <a:gd name="adj2" fmla="val -48773"/>
              <a:gd name="adj3" fmla="val 16667"/>
            </a:avLst>
          </a:prstGeom>
          <a:solidFill>
            <a:srgbClr val="DACFB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342900" indent="-3429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hu-HU" altLang="hu-HU">
                <a:solidFill>
                  <a:srgbClr val="000000"/>
                </a:solidFill>
              </a:rPr>
              <a:t>C#</a:t>
            </a:r>
            <a:r>
              <a:rPr lang="en-US" altLang="hu-HU">
                <a:solidFill>
                  <a:srgbClr val="000000"/>
                </a:solidFill>
              </a:rPr>
              <a:t> kód</a:t>
            </a:r>
          </a:p>
        </p:txBody>
      </p:sp>
      <p:sp>
        <p:nvSpPr>
          <p:cNvPr id="51206" name="Rectangle 7"/>
          <p:cNvSpPr>
            <a:spLocks noChangeArrowheads="1"/>
          </p:cNvSpPr>
          <p:nvPr/>
        </p:nvSpPr>
        <p:spPr bwMode="auto">
          <a:xfrm>
            <a:off x="323850" y="188913"/>
            <a:ext cx="5975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hu-HU" altLang="hu-HU" sz="3600" b="1"/>
              <a:t>For ciklus - számláló(s) ciklus</a:t>
            </a:r>
          </a:p>
        </p:txBody>
      </p:sp>
      <p:sp>
        <p:nvSpPr>
          <p:cNvPr id="204808" name="AutoShape 8"/>
          <p:cNvSpPr>
            <a:spLocks noChangeArrowheads="1"/>
          </p:cNvSpPr>
          <p:nvPr/>
        </p:nvSpPr>
        <p:spPr bwMode="auto">
          <a:xfrm>
            <a:off x="5940425" y="1916113"/>
            <a:ext cx="1584325" cy="647700"/>
          </a:xfrm>
          <a:prstGeom prst="wedgeRoundRectCallout">
            <a:avLst>
              <a:gd name="adj1" fmla="val -181361"/>
              <a:gd name="adj2" fmla="val -77940"/>
              <a:gd name="adj3" fmla="val 16667"/>
            </a:avLst>
          </a:prstGeom>
          <a:solidFill>
            <a:srgbClr val="DACFB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342900" indent="-3429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hu-HU" altLang="hu-HU">
                <a:solidFill>
                  <a:srgbClr val="000000"/>
                </a:solidFill>
              </a:rPr>
              <a:t>léptetés</a:t>
            </a:r>
            <a:endParaRPr lang="en-US" altLang="hu-HU">
              <a:solidFill>
                <a:srgbClr val="000000"/>
              </a:solidFill>
            </a:endParaRPr>
          </a:p>
        </p:txBody>
      </p:sp>
      <p:sp>
        <p:nvSpPr>
          <p:cNvPr id="204810" name="AutoShape 10"/>
          <p:cNvSpPr>
            <a:spLocks noChangeArrowheads="1"/>
          </p:cNvSpPr>
          <p:nvPr/>
        </p:nvSpPr>
        <p:spPr bwMode="auto">
          <a:xfrm>
            <a:off x="3419475" y="2420938"/>
            <a:ext cx="1944688" cy="647700"/>
          </a:xfrm>
          <a:prstGeom prst="wedgeRoundRectCallout">
            <a:avLst>
              <a:gd name="adj1" fmla="val -135713"/>
              <a:gd name="adj2" fmla="val -161028"/>
              <a:gd name="adj3" fmla="val 16667"/>
            </a:avLst>
          </a:prstGeom>
          <a:solidFill>
            <a:srgbClr val="DACFB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342900" indent="-3429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hu-HU" altLang="hu-HU">
                <a:solidFill>
                  <a:srgbClr val="000000"/>
                </a:solidFill>
              </a:rPr>
              <a:t>inicializáció</a:t>
            </a:r>
            <a:endParaRPr lang="en-US" altLang="hu-HU">
              <a:solidFill>
                <a:srgbClr val="000000"/>
              </a:solidFill>
            </a:endParaRPr>
          </a:p>
        </p:txBody>
      </p:sp>
      <p:sp>
        <p:nvSpPr>
          <p:cNvPr id="204809" name="AutoShape 9"/>
          <p:cNvSpPr>
            <a:spLocks noChangeArrowheads="1"/>
          </p:cNvSpPr>
          <p:nvPr/>
        </p:nvSpPr>
        <p:spPr bwMode="auto">
          <a:xfrm>
            <a:off x="5076825" y="836613"/>
            <a:ext cx="2519363" cy="647700"/>
          </a:xfrm>
          <a:prstGeom prst="wedgeRoundRectCallout">
            <a:avLst>
              <a:gd name="adj1" fmla="val -140801"/>
              <a:gd name="adj2" fmla="val 19116"/>
              <a:gd name="adj3" fmla="val 16667"/>
            </a:avLst>
          </a:prstGeom>
          <a:solidFill>
            <a:srgbClr val="DACFB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342900" indent="-3429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hu-HU" altLang="hu-HU">
                <a:solidFill>
                  <a:srgbClr val="000000"/>
                </a:solidFill>
              </a:rPr>
              <a:t>vizsgálat (feltétel)</a:t>
            </a:r>
            <a:endParaRPr lang="en-US" altLang="hu-H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6604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48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048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48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9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0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80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80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2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8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04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8" grpId="0" animBg="1"/>
      <p:bldP spid="204810" grpId="0" animBg="1"/>
      <p:bldP spid="20480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0" y="313184"/>
            <a:ext cx="7772400" cy="1143000"/>
          </a:xfrm>
        </p:spPr>
        <p:txBody>
          <a:bodyPr>
            <a:normAutofit/>
          </a:bodyPr>
          <a:lstStyle/>
          <a:p>
            <a:r>
              <a:rPr lang="hu-HU" b="1" dirty="0" err="1"/>
              <a:t>for</a:t>
            </a:r>
            <a:r>
              <a:rPr lang="hu-HU" dirty="0"/>
              <a:t> ciklus mint </a:t>
            </a:r>
            <a:r>
              <a:rPr lang="hu-HU" b="1" dirty="0" err="1"/>
              <a:t>while</a:t>
            </a:r>
            <a:r>
              <a:rPr lang="hu-HU" dirty="0"/>
              <a:t> ciklus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1807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/>
              <a:t>A </a:t>
            </a:r>
            <a:r>
              <a:rPr lang="hu-HU" dirty="0" err="1"/>
              <a:t>for</a:t>
            </a:r>
            <a:r>
              <a:rPr lang="hu-HU" dirty="0"/>
              <a:t> ciklus tulajdonképpen a következő </a:t>
            </a:r>
            <a:r>
              <a:rPr lang="hu-HU" dirty="0" err="1"/>
              <a:t>while</a:t>
            </a:r>
            <a:r>
              <a:rPr lang="hu-HU" dirty="0"/>
              <a:t> ciklus "rövidítése":</a:t>
            </a: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4572000" y="2801888"/>
            <a:ext cx="4248472" cy="3475856"/>
          </a:xfrm>
          <a:prstGeom prst="rect">
            <a:avLst/>
          </a:prstGeom>
          <a:solidFill>
            <a:srgbClr val="CCFF99"/>
          </a:solidFill>
          <a:ln w="9525">
            <a:noFill/>
            <a:miter lim="800000"/>
            <a:headEnd/>
            <a:tailEnd/>
          </a:ln>
          <a:effectLst>
            <a:outerShdw dist="45791" dir="3378596" algn="ctr" rotWithShape="0">
              <a:schemeClr val="tx1"/>
            </a:outerShdw>
          </a:effectLst>
        </p:spPr>
        <p:txBody>
          <a:bodyPr anchor="ctr"/>
          <a:lstStyle/>
          <a:p>
            <a:pPr>
              <a:spcBef>
                <a:spcPct val="20000"/>
              </a:spcBef>
              <a:defRPr/>
            </a:pPr>
            <a:r>
              <a:rPr lang="hu-HU" sz="2400" b="1" i="1" dirty="0" err="1">
                <a:solidFill>
                  <a:srgbClr val="C00000"/>
                </a:solidFill>
                <a:latin typeface="Arial Black" pitchFamily="34" charset="0"/>
              </a:rPr>
              <a:t>inicializáció</a:t>
            </a:r>
            <a:r>
              <a:rPr lang="hu-HU" sz="2400" b="1" dirty="0">
                <a:latin typeface="Arial Black" pitchFamily="34" charset="0"/>
              </a:rPr>
              <a:t>;</a:t>
            </a:r>
          </a:p>
          <a:p>
            <a:pPr>
              <a:spcBef>
                <a:spcPct val="20000"/>
              </a:spcBef>
              <a:defRPr/>
            </a:pPr>
            <a:r>
              <a:rPr lang="hu-HU" sz="2400" b="1" dirty="0" err="1">
                <a:solidFill>
                  <a:srgbClr val="1900D2"/>
                </a:solidFill>
                <a:latin typeface="Arial Black" pitchFamily="34" charset="0"/>
              </a:rPr>
              <a:t>while</a:t>
            </a:r>
            <a:r>
              <a:rPr lang="hu-HU" sz="2400" b="1" dirty="0">
                <a:latin typeface="Arial Black" pitchFamily="34" charset="0"/>
              </a:rPr>
              <a:t> (</a:t>
            </a:r>
            <a:r>
              <a:rPr lang="hu-HU" sz="2400" b="1" i="1" dirty="0">
                <a:solidFill>
                  <a:srgbClr val="C00000"/>
                </a:solidFill>
                <a:latin typeface="Arial Black" pitchFamily="34" charset="0"/>
              </a:rPr>
              <a:t>feltétel vizsgálat</a:t>
            </a:r>
            <a:r>
              <a:rPr lang="hu-HU" sz="2400" b="1" dirty="0">
                <a:latin typeface="Arial Black" pitchFamily="34" charset="0"/>
              </a:rPr>
              <a:t>)</a:t>
            </a:r>
          </a:p>
          <a:p>
            <a:pPr>
              <a:spcBef>
                <a:spcPct val="20000"/>
              </a:spcBef>
              <a:defRPr/>
            </a:pPr>
            <a:r>
              <a:rPr lang="hu-HU" sz="2400" b="1" dirty="0">
                <a:latin typeface="Arial Black" pitchFamily="34" charset="0"/>
              </a:rPr>
              <a:t>{</a:t>
            </a:r>
          </a:p>
          <a:p>
            <a:pPr>
              <a:spcBef>
                <a:spcPct val="20000"/>
              </a:spcBef>
              <a:defRPr/>
            </a:pPr>
            <a:r>
              <a:rPr lang="hu-HU" sz="2400" b="1" dirty="0">
                <a:latin typeface="Arial Black" pitchFamily="34" charset="0"/>
              </a:rPr>
              <a:t>  …</a:t>
            </a:r>
          </a:p>
          <a:p>
            <a:pPr>
              <a:spcBef>
                <a:spcPct val="20000"/>
              </a:spcBef>
              <a:defRPr/>
            </a:pPr>
            <a:r>
              <a:rPr lang="hu-HU" sz="2400" b="1" dirty="0">
                <a:latin typeface="Arial Black" pitchFamily="34" charset="0"/>
              </a:rPr>
              <a:t>  </a:t>
            </a:r>
            <a:r>
              <a:rPr lang="hu-HU" sz="2400" b="1" i="1" dirty="0">
                <a:solidFill>
                  <a:srgbClr val="C00000"/>
                </a:solidFill>
                <a:latin typeface="Arial Black" pitchFamily="34" charset="0"/>
              </a:rPr>
              <a:t>léptetés</a:t>
            </a:r>
            <a:r>
              <a:rPr lang="hu-HU" sz="2400" b="1" dirty="0">
                <a:latin typeface="Arial Black" pitchFamily="34" charset="0"/>
              </a:rPr>
              <a:t>;</a:t>
            </a:r>
          </a:p>
          <a:p>
            <a:pPr>
              <a:spcBef>
                <a:spcPct val="20000"/>
              </a:spcBef>
              <a:defRPr/>
            </a:pPr>
            <a:r>
              <a:rPr lang="hu-HU" sz="2400" b="1" dirty="0">
                <a:latin typeface="Arial Black" pitchFamily="34" charset="0"/>
              </a:rPr>
              <a:t>}</a:t>
            </a: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457200" y="2801888"/>
            <a:ext cx="3457649" cy="2808312"/>
          </a:xfrm>
          <a:prstGeom prst="rect">
            <a:avLst/>
          </a:prstGeom>
          <a:solidFill>
            <a:srgbClr val="CCFF99"/>
          </a:solidFill>
          <a:ln w="9525">
            <a:noFill/>
            <a:miter lim="800000"/>
            <a:headEnd/>
            <a:tailEnd/>
          </a:ln>
          <a:effectLst>
            <a:outerShdw dist="45791" dir="3378596" algn="ctr" rotWithShape="0">
              <a:schemeClr val="tx1"/>
            </a:outerShdw>
          </a:effectLst>
        </p:spPr>
        <p:txBody>
          <a:bodyPr anchor="ctr"/>
          <a:lstStyle/>
          <a:p>
            <a:pPr>
              <a:spcBef>
                <a:spcPct val="20000"/>
              </a:spcBef>
              <a:defRPr/>
            </a:pPr>
            <a:r>
              <a:rPr lang="hu-HU" sz="2400" b="1" dirty="0" err="1">
                <a:solidFill>
                  <a:srgbClr val="1900D2"/>
                </a:solidFill>
                <a:latin typeface="Arial Black" pitchFamily="34" charset="0"/>
              </a:rPr>
              <a:t>for</a:t>
            </a:r>
            <a:r>
              <a:rPr lang="hu-HU" sz="2400" b="1" dirty="0">
                <a:latin typeface="Arial Black" pitchFamily="34" charset="0"/>
              </a:rPr>
              <a:t> (</a:t>
            </a:r>
            <a:r>
              <a:rPr lang="hu-HU" sz="2400" b="1" i="1" dirty="0" err="1">
                <a:solidFill>
                  <a:srgbClr val="C00000"/>
                </a:solidFill>
                <a:latin typeface="Arial Black" pitchFamily="34" charset="0"/>
              </a:rPr>
              <a:t>inicializáció</a:t>
            </a:r>
            <a:r>
              <a:rPr lang="hu-HU" sz="2400" b="1" dirty="0">
                <a:latin typeface="Arial Black" pitchFamily="34" charset="0"/>
              </a:rPr>
              <a:t>; </a:t>
            </a:r>
            <a:r>
              <a:rPr lang="hu-HU" sz="2400" b="1" i="1" dirty="0">
                <a:solidFill>
                  <a:srgbClr val="C00000"/>
                </a:solidFill>
                <a:latin typeface="Arial Black" pitchFamily="34" charset="0"/>
              </a:rPr>
              <a:t>feltétel vizsgálat</a:t>
            </a:r>
            <a:r>
              <a:rPr lang="hu-HU" sz="2400" b="1" dirty="0">
                <a:latin typeface="Arial Black" pitchFamily="34" charset="0"/>
              </a:rPr>
              <a:t>; </a:t>
            </a:r>
            <a:r>
              <a:rPr lang="hu-HU" sz="2400" b="1" i="1" dirty="0">
                <a:solidFill>
                  <a:srgbClr val="C00000"/>
                </a:solidFill>
                <a:latin typeface="Arial Black" pitchFamily="34" charset="0"/>
              </a:rPr>
              <a:t>léptetés</a:t>
            </a:r>
            <a:r>
              <a:rPr lang="hu-HU" sz="2400" b="1" dirty="0">
                <a:latin typeface="Arial Black" pitchFamily="34" charset="0"/>
              </a:rPr>
              <a:t>)</a:t>
            </a:r>
          </a:p>
          <a:p>
            <a:pPr>
              <a:spcBef>
                <a:spcPct val="20000"/>
              </a:spcBef>
              <a:defRPr/>
            </a:pPr>
            <a:r>
              <a:rPr lang="hu-HU" sz="2400" b="1" dirty="0">
                <a:latin typeface="Arial Black" pitchFamily="34" charset="0"/>
              </a:rPr>
              <a:t>{</a:t>
            </a:r>
          </a:p>
          <a:p>
            <a:pPr>
              <a:spcBef>
                <a:spcPct val="20000"/>
              </a:spcBef>
              <a:defRPr/>
            </a:pPr>
            <a:r>
              <a:rPr lang="hu-HU" sz="2400" b="1" dirty="0">
                <a:latin typeface="Arial Black" pitchFamily="34" charset="0"/>
              </a:rPr>
              <a:t>  …</a:t>
            </a:r>
          </a:p>
          <a:p>
            <a:pPr>
              <a:spcBef>
                <a:spcPct val="20000"/>
              </a:spcBef>
              <a:defRPr/>
            </a:pPr>
            <a:r>
              <a:rPr lang="hu-HU" sz="2400" b="1" dirty="0">
                <a:latin typeface="Arial Black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95398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Dia számának helye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9D9693F-86E0-4351-B363-E987565B2A70}" type="slidenum">
              <a:rPr lang="hu-HU" altLang="hu-HU" sz="1400"/>
              <a:pPr/>
              <a:t>29</a:t>
            </a:fld>
            <a:endParaRPr lang="hu-HU" altLang="hu-HU" sz="1400"/>
          </a:p>
        </p:txBody>
      </p:sp>
      <p:sp>
        <p:nvSpPr>
          <p:cNvPr id="52227" name="Text Box 2"/>
          <p:cNvSpPr txBox="1">
            <a:spLocks noChangeArrowheads="1"/>
          </p:cNvSpPr>
          <p:nvPr/>
        </p:nvSpPr>
        <p:spPr bwMode="auto">
          <a:xfrm>
            <a:off x="215106" y="186289"/>
            <a:ext cx="8713788" cy="6642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</a:pPr>
            <a:r>
              <a:rPr lang="hu-HU" altLang="hu-HU" sz="3200" b="1" dirty="0" err="1"/>
              <a:t>break</a:t>
            </a:r>
            <a:endParaRPr lang="hu-HU" altLang="hu-HU" sz="3200" dirty="0"/>
          </a:p>
          <a:p>
            <a:pPr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hu-HU" altLang="hu-HU" sz="3200" dirty="0"/>
              <a:t>Hatására befejeződik a legbelső </a:t>
            </a:r>
            <a:r>
              <a:rPr lang="hu-HU" altLang="hu-HU" sz="3200" dirty="0" err="1"/>
              <a:t>while</a:t>
            </a:r>
            <a:r>
              <a:rPr lang="hu-HU" altLang="hu-HU" sz="3200" dirty="0"/>
              <a:t>, </a:t>
            </a:r>
            <a:r>
              <a:rPr lang="hu-HU" altLang="hu-HU" sz="3200" dirty="0" err="1"/>
              <a:t>do</a:t>
            </a:r>
            <a:r>
              <a:rPr lang="hu-HU" altLang="hu-HU" sz="3200" dirty="0"/>
              <a:t>, </a:t>
            </a:r>
            <a:r>
              <a:rPr lang="hu-HU" altLang="hu-HU" sz="3200" dirty="0" err="1"/>
              <a:t>for</a:t>
            </a:r>
            <a:r>
              <a:rPr lang="hu-HU" altLang="hu-HU" sz="3200" dirty="0"/>
              <a:t>, </a:t>
            </a:r>
            <a:r>
              <a:rPr lang="hu-HU" altLang="hu-HU" sz="3200" dirty="0" err="1"/>
              <a:t>switch</a:t>
            </a:r>
            <a:r>
              <a:rPr lang="hu-HU" altLang="hu-HU" sz="3200" dirty="0"/>
              <a:t> utasítás végrehajtása. </a:t>
            </a:r>
            <a:br>
              <a:rPr lang="hu-HU" altLang="hu-HU" sz="3200" dirty="0"/>
            </a:br>
            <a:r>
              <a:rPr lang="hu-HU" altLang="hu-HU" sz="3200" dirty="0"/>
              <a:t>(A vezérlés a következő utasításra adódik.)</a:t>
            </a:r>
          </a:p>
          <a:p>
            <a:pPr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</a:pPr>
            <a:r>
              <a:rPr lang="hu-HU" altLang="hu-HU" sz="3200" b="1" dirty="0" err="1"/>
              <a:t>continue</a:t>
            </a:r>
            <a:endParaRPr lang="hu-HU" altLang="hu-HU" sz="3200" b="1" dirty="0"/>
          </a:p>
          <a:p>
            <a:pPr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hu-HU" altLang="hu-HU" sz="3200" dirty="0"/>
              <a:t>Hatására a legbelső </a:t>
            </a:r>
            <a:r>
              <a:rPr lang="hu-HU" altLang="hu-HU" sz="3200" dirty="0" err="1"/>
              <a:t>while</a:t>
            </a:r>
            <a:r>
              <a:rPr lang="hu-HU" altLang="hu-HU" sz="3200" dirty="0"/>
              <a:t>, </a:t>
            </a:r>
            <a:r>
              <a:rPr lang="hu-HU" altLang="hu-HU" sz="3200" dirty="0" err="1"/>
              <a:t>for</a:t>
            </a:r>
            <a:r>
              <a:rPr lang="hu-HU" altLang="hu-HU" sz="3200" dirty="0"/>
              <a:t>, </a:t>
            </a:r>
            <a:r>
              <a:rPr lang="hu-HU" altLang="hu-HU" sz="3200" dirty="0" err="1"/>
              <a:t>do</a:t>
            </a:r>
            <a:r>
              <a:rPr lang="hu-HU" altLang="hu-HU" sz="3200" dirty="0"/>
              <a:t> ciklusutasításokat vezérlő kifejezések kerülnek kiértékelésre (</a:t>
            </a:r>
            <a:r>
              <a:rPr lang="hu-HU" altLang="hu-HU" sz="3200" dirty="0" err="1"/>
              <a:t>while</a:t>
            </a:r>
            <a:r>
              <a:rPr lang="hu-HU" altLang="hu-HU" sz="3200" dirty="0"/>
              <a:t>, </a:t>
            </a:r>
            <a:r>
              <a:rPr lang="hu-HU" altLang="hu-HU" sz="3200" dirty="0" err="1"/>
              <a:t>do</a:t>
            </a:r>
            <a:r>
              <a:rPr lang="hu-HU" altLang="hu-HU" sz="3200" dirty="0"/>
              <a:t> esetén a ciklusfeltétel, míg a </a:t>
            </a:r>
            <a:r>
              <a:rPr lang="hu-HU" altLang="hu-HU" sz="3200" dirty="0" err="1"/>
              <a:t>for</a:t>
            </a:r>
            <a:r>
              <a:rPr lang="hu-HU" altLang="hu-HU" sz="3200" dirty="0"/>
              <a:t> esetén a léptetés).</a:t>
            </a:r>
          </a:p>
          <a:p>
            <a:pPr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</a:pPr>
            <a:r>
              <a:rPr lang="hu-HU" altLang="hu-HU" sz="3200" b="1" dirty="0" err="1"/>
              <a:t>return</a:t>
            </a:r>
            <a:endParaRPr lang="hu-HU" altLang="hu-HU" sz="3200" b="1" dirty="0"/>
          </a:p>
          <a:p>
            <a:pPr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hu-HU" altLang="hu-HU" sz="3200" dirty="0"/>
              <a:t>A vezérlés visszatér a függvényből, a kifejezés értéke a visszaadott érték lesz.</a:t>
            </a:r>
          </a:p>
        </p:txBody>
      </p:sp>
      <p:sp>
        <p:nvSpPr>
          <p:cNvPr id="52228" name="Text Box 3"/>
          <p:cNvSpPr txBox="1">
            <a:spLocks noChangeArrowheads="1"/>
          </p:cNvSpPr>
          <p:nvPr/>
        </p:nvSpPr>
        <p:spPr bwMode="auto">
          <a:xfrm>
            <a:off x="5328444" y="186289"/>
            <a:ext cx="3600450" cy="646331"/>
          </a:xfrm>
          <a:prstGeom prst="rect">
            <a:avLst/>
          </a:prstGeom>
          <a:solidFill>
            <a:srgbClr val="CCFF9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hu-HU" altLang="hu-HU" sz="3600" b="1" dirty="0"/>
              <a:t>Ugró utasítások</a:t>
            </a:r>
          </a:p>
        </p:txBody>
      </p:sp>
    </p:spTree>
    <p:extLst>
      <p:ext uri="{BB962C8B-B14F-4D97-AF65-F5344CB8AC3E}">
        <p14:creationId xmlns:p14="http://schemas.microsoft.com/office/powerpoint/2010/main" val="231135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7642E-FAED-7488-A2E2-1ACE1116A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C68788D-3FBE-B040-5ED4-D8A029E2A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411" y="405148"/>
            <a:ext cx="7772400" cy="1143000"/>
          </a:xfrm>
        </p:spPr>
        <p:txBody>
          <a:bodyPr/>
          <a:lstStyle/>
          <a:p>
            <a:pPr>
              <a:spcAft>
                <a:spcPts val="0"/>
              </a:spcAft>
              <a:tabLst>
                <a:tab pos="6210935" algn="r"/>
              </a:tabLst>
            </a:pPr>
            <a:r>
              <a:rPr lang="hu-HU" b="1" dirty="0">
                <a:ea typeface="Times New Roman" panose="02020603050405020304" pitchFamily="18" charset="0"/>
              </a:rPr>
              <a:t>Mit ír ki az alábbi kódrészlet?</a:t>
            </a:r>
            <a:endParaRPr lang="hu-HU" sz="1800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</p:txBody>
      </p:sp>
      <p:sp>
        <p:nvSpPr>
          <p:cNvPr id="3" name="Dia számának helye 2">
            <a:extLst>
              <a:ext uri="{FF2B5EF4-FFF2-40B4-BE49-F238E27FC236}">
                <a16:creationId xmlns:a16="http://schemas.microsoft.com/office/drawing/2014/main" id="{039A31B8-5895-B07B-348F-D37F3CA06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6532AF-F837-42AC-8665-7B72B1DE6D1F}" type="slidenum">
              <a:rPr lang="hu-HU" altLang="hu-HU" smtClean="0"/>
              <a:pPr>
                <a:defRPr/>
              </a:pPr>
              <a:t>30</a:t>
            </a:fld>
            <a:endParaRPr lang="hu-HU" altLang="hu-HU"/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3E61D5C6-9A78-857B-FEF6-7BF63678E871}"/>
              </a:ext>
            </a:extLst>
          </p:cNvPr>
          <p:cNvSpPr/>
          <p:nvPr/>
        </p:nvSpPr>
        <p:spPr>
          <a:xfrm>
            <a:off x="467544" y="1844824"/>
            <a:ext cx="8208912" cy="3785652"/>
          </a:xfrm>
          <a:prstGeom prst="rect">
            <a:avLst/>
          </a:prstGeom>
          <a:solidFill>
            <a:srgbClr val="CCFF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hu-HU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int k;</a:t>
            </a:r>
          </a:p>
          <a:p>
            <a:r>
              <a:rPr lang="hu-HU" sz="4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hu-HU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 (k = 0; k &lt; 5; k++ )</a:t>
            </a:r>
          </a:p>
          <a:p>
            <a:r>
              <a:rPr lang="hu-HU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hu-HU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hu-HU" sz="4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hu-HU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 (k == 2) </a:t>
            </a:r>
            <a:r>
              <a:rPr lang="hu-HU" sz="4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hu-HU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;   </a:t>
            </a:r>
          </a:p>
          <a:p>
            <a:r>
              <a:rPr lang="hu-HU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hu-HU" sz="4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hu-HU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(k);</a:t>
            </a:r>
          </a:p>
        </p:txBody>
      </p:sp>
    </p:spTree>
    <p:extLst>
      <p:ext uri="{BB962C8B-B14F-4D97-AF65-F5344CB8AC3E}">
        <p14:creationId xmlns:p14="http://schemas.microsoft.com/office/powerpoint/2010/main" val="2812134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251520" y="269046"/>
            <a:ext cx="7772400" cy="1143000"/>
          </a:xfrm>
        </p:spPr>
        <p:txBody>
          <a:bodyPr>
            <a:normAutofit/>
          </a:bodyPr>
          <a:lstStyle/>
          <a:p>
            <a:r>
              <a:rPr lang="hu-HU" b="1" dirty="0">
                <a:ea typeface="Times New Roman" panose="02020603050405020304" pitchFamily="18" charset="0"/>
              </a:rPr>
              <a:t>Mit ír ki az alábbi kódrészlet?</a:t>
            </a:r>
            <a:endParaRPr lang="hu-HU" b="1" dirty="0"/>
          </a:p>
        </p:txBody>
      </p:sp>
      <p:sp>
        <p:nvSpPr>
          <p:cNvPr id="3" name="Dia számának hely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6532AF-F837-42AC-8665-7B72B1DE6D1F}" type="slidenum">
              <a:rPr lang="hu-HU" altLang="hu-HU" smtClean="0"/>
              <a:pPr>
                <a:defRPr/>
              </a:pPr>
              <a:t>31</a:t>
            </a:fld>
            <a:endParaRPr lang="hu-HU" altLang="hu-HU"/>
          </a:p>
        </p:txBody>
      </p:sp>
      <p:sp>
        <p:nvSpPr>
          <p:cNvPr id="4" name="Téglalap 3"/>
          <p:cNvSpPr/>
          <p:nvPr/>
        </p:nvSpPr>
        <p:spPr>
          <a:xfrm>
            <a:off x="179512" y="1690062"/>
            <a:ext cx="8784976" cy="3477875"/>
          </a:xfrm>
          <a:prstGeom prst="rect">
            <a:avLst/>
          </a:prstGeom>
          <a:solidFill>
            <a:srgbClr val="CCFF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28600" algn="just">
              <a:spcAft>
                <a:spcPts val="0"/>
              </a:spcAft>
              <a:tabLst>
                <a:tab pos="6210935" algn="r"/>
              </a:tabLst>
            </a:pPr>
            <a:endParaRPr lang="hu-HU" sz="2000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sz="4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hu-HU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 (int k = 0; k &lt; 5; k++ )</a:t>
            </a:r>
          </a:p>
          <a:p>
            <a:r>
              <a:rPr lang="hu-HU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hu-HU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hu-HU" sz="4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hu-HU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 (k == 2) </a:t>
            </a:r>
            <a:r>
              <a:rPr lang="hu-HU" sz="4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hu-HU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hu-HU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hu-HU" sz="4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</a:t>
            </a:r>
            <a:r>
              <a:rPr lang="hu-HU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(k);</a:t>
            </a:r>
          </a:p>
          <a:p>
            <a:r>
              <a:rPr lang="hu-HU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38809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857251" y="620688"/>
            <a:ext cx="7404653" cy="5475312"/>
          </a:xfrm>
        </p:spPr>
        <p:txBody>
          <a:bodyPr>
            <a:normAutofit/>
          </a:bodyPr>
          <a:lstStyle/>
          <a:p>
            <a:pPr marL="34925" indent="0">
              <a:buNone/>
            </a:pPr>
            <a:r>
              <a:rPr lang="hu-HU" dirty="0"/>
              <a:t>A </a:t>
            </a:r>
            <a:r>
              <a:rPr lang="hu-HU" b="1" dirty="0" err="1"/>
              <a:t>continue</a:t>
            </a:r>
            <a:r>
              <a:rPr lang="hu-HU" dirty="0"/>
              <a:t> egy </a:t>
            </a:r>
            <a:r>
              <a:rPr lang="hu-HU" b="1" dirty="0" err="1"/>
              <a:t>elöltesztelős</a:t>
            </a:r>
            <a:r>
              <a:rPr lang="hu-HU" dirty="0"/>
              <a:t>, vagy </a:t>
            </a:r>
            <a:r>
              <a:rPr lang="hu-HU" b="1" dirty="0" err="1"/>
              <a:t>hátultesztelős</a:t>
            </a:r>
            <a:r>
              <a:rPr lang="hu-HU" dirty="0"/>
              <a:t> ciklusban:</a:t>
            </a:r>
          </a:p>
          <a:p>
            <a:r>
              <a:rPr lang="hu-HU" dirty="0"/>
              <a:t>A ciklusfeltételre lép.</a:t>
            </a:r>
            <a:endParaRPr lang="hu-HU" b="1" dirty="0"/>
          </a:p>
          <a:p>
            <a:pPr marL="34925" indent="0">
              <a:buNone/>
            </a:pPr>
            <a:endParaRPr lang="hu-HU" b="1" dirty="0"/>
          </a:p>
          <a:p>
            <a:pPr marL="34925" indent="0">
              <a:buNone/>
            </a:pPr>
            <a:r>
              <a:rPr lang="hu-HU" dirty="0"/>
              <a:t>A</a:t>
            </a:r>
            <a:r>
              <a:rPr lang="hu-HU" b="1" dirty="0"/>
              <a:t> </a:t>
            </a:r>
            <a:r>
              <a:rPr lang="hu-HU" b="1" dirty="0" err="1"/>
              <a:t>continue</a:t>
            </a:r>
            <a:r>
              <a:rPr lang="hu-HU" dirty="0"/>
              <a:t> egy </a:t>
            </a:r>
            <a:r>
              <a:rPr lang="hu-HU" b="1" dirty="0" err="1"/>
              <a:t>for</a:t>
            </a:r>
            <a:r>
              <a:rPr lang="hu-HU" dirty="0"/>
              <a:t> ciklusban:</a:t>
            </a:r>
          </a:p>
          <a:p>
            <a:r>
              <a:rPr lang="hu-HU" dirty="0"/>
              <a:t>A </a:t>
            </a:r>
            <a:r>
              <a:rPr lang="hu-HU" dirty="0" err="1"/>
              <a:t>for</a:t>
            </a:r>
            <a:r>
              <a:rPr lang="hu-HU" dirty="0"/>
              <a:t> ciklus fejlécének melyik részére ugorjunk?</a:t>
            </a:r>
          </a:p>
          <a:p>
            <a:pPr lvl="1"/>
            <a:r>
              <a:rPr lang="hu-HU" dirty="0" err="1"/>
              <a:t>Inicializáció</a:t>
            </a:r>
            <a:r>
              <a:rPr lang="hu-HU" dirty="0"/>
              <a:t>? Feltétel vizsgálat? Léptetés?</a:t>
            </a:r>
          </a:p>
          <a:p>
            <a:r>
              <a:rPr lang="hu-HU" dirty="0"/>
              <a:t>Először a Léptetés-re.</a:t>
            </a:r>
          </a:p>
          <a:p>
            <a:r>
              <a:rPr lang="hu-HU" dirty="0"/>
              <a:t>Aztán a Feltétel vizsgálat-</a:t>
            </a:r>
            <a:r>
              <a:rPr lang="hu-HU" dirty="0" err="1"/>
              <a:t>ra</a:t>
            </a:r>
            <a:r>
              <a:rPr lang="hu-H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90268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5112" y="396160"/>
            <a:ext cx="7772400" cy="808856"/>
          </a:xfrm>
        </p:spPr>
        <p:txBody>
          <a:bodyPr/>
          <a:lstStyle/>
          <a:p>
            <a:pPr>
              <a:spcAft>
                <a:spcPts val="0"/>
              </a:spcAft>
              <a:tabLst>
                <a:tab pos="6210935" algn="r"/>
              </a:tabLst>
            </a:pPr>
            <a:r>
              <a:rPr lang="hu-HU" b="1" dirty="0">
                <a:ea typeface="Times New Roman" panose="02020603050405020304" pitchFamily="18" charset="0"/>
              </a:rPr>
              <a:t>Mit ír ki az alábbi kódrészlet?</a:t>
            </a:r>
          </a:p>
        </p:txBody>
      </p:sp>
      <p:sp>
        <p:nvSpPr>
          <p:cNvPr id="3" name="Dia számának hely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6532AF-F837-42AC-8665-7B72B1DE6D1F}" type="slidenum">
              <a:rPr lang="hu-HU" altLang="hu-HU" smtClean="0"/>
              <a:pPr>
                <a:defRPr/>
              </a:pPr>
              <a:t>33</a:t>
            </a:fld>
            <a:endParaRPr lang="hu-HU" altLang="hu-HU"/>
          </a:p>
        </p:txBody>
      </p:sp>
      <p:sp>
        <p:nvSpPr>
          <p:cNvPr id="4" name="Téglalap 3"/>
          <p:cNvSpPr/>
          <p:nvPr/>
        </p:nvSpPr>
        <p:spPr>
          <a:xfrm>
            <a:off x="455112" y="1340768"/>
            <a:ext cx="8208912" cy="5016758"/>
          </a:xfrm>
          <a:prstGeom prst="rect">
            <a:avLst/>
          </a:prstGeom>
          <a:solidFill>
            <a:srgbClr val="CCFF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hu-HU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int y = 1, j = 1;</a:t>
            </a:r>
          </a:p>
          <a:p>
            <a:r>
              <a:rPr lang="hu-HU" sz="4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hu-HU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 (y&lt;10)</a:t>
            </a:r>
          </a:p>
          <a:p>
            <a:r>
              <a:rPr lang="hu-HU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hu-HU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   y += j;</a:t>
            </a:r>
          </a:p>
          <a:p>
            <a:r>
              <a:rPr lang="hu-HU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hu-HU" sz="4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hu-HU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 (j &gt; 2) </a:t>
            </a:r>
            <a:r>
              <a:rPr lang="hu-HU" sz="4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continue</a:t>
            </a:r>
            <a:r>
              <a:rPr lang="hu-HU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hu-HU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   j++;</a:t>
            </a:r>
          </a:p>
          <a:p>
            <a:r>
              <a:rPr lang="hu-HU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hu-HU" sz="4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hu-HU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(y);</a:t>
            </a:r>
          </a:p>
        </p:txBody>
      </p:sp>
    </p:spTree>
    <p:extLst>
      <p:ext uri="{BB962C8B-B14F-4D97-AF65-F5344CB8AC3E}">
        <p14:creationId xmlns:p14="http://schemas.microsoft.com/office/powerpoint/2010/main" val="141161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12344" y="620688"/>
            <a:ext cx="8111841" cy="1143000"/>
          </a:xfrm>
        </p:spPr>
        <p:txBody>
          <a:bodyPr/>
          <a:lstStyle/>
          <a:p>
            <a:pPr>
              <a:spcAft>
                <a:spcPts val="0"/>
              </a:spcAft>
              <a:tabLst>
                <a:tab pos="6210935" algn="r"/>
              </a:tabLst>
            </a:pPr>
            <a:r>
              <a:rPr lang="hu-HU" b="1" dirty="0">
                <a:ea typeface="Times New Roman" panose="02020603050405020304" pitchFamily="18" charset="0"/>
              </a:rPr>
              <a:t>Mit ír ki az alábbi kódrészlet?</a:t>
            </a:r>
          </a:p>
        </p:txBody>
      </p:sp>
      <p:sp>
        <p:nvSpPr>
          <p:cNvPr id="3" name="Dia számának hely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6532AF-F837-42AC-8665-7B72B1DE6D1F}" type="slidenum">
              <a:rPr lang="hu-HU" altLang="hu-HU" smtClean="0"/>
              <a:pPr>
                <a:defRPr/>
              </a:pPr>
              <a:t>34</a:t>
            </a:fld>
            <a:endParaRPr lang="hu-HU" altLang="hu-HU"/>
          </a:p>
        </p:txBody>
      </p:sp>
      <p:sp>
        <p:nvSpPr>
          <p:cNvPr id="4" name="Téglalap 3"/>
          <p:cNvSpPr/>
          <p:nvPr/>
        </p:nvSpPr>
        <p:spPr>
          <a:xfrm>
            <a:off x="445592" y="1859339"/>
            <a:ext cx="8252816" cy="3139321"/>
          </a:xfrm>
          <a:prstGeom prst="rect">
            <a:avLst/>
          </a:prstGeom>
          <a:solidFill>
            <a:srgbClr val="CCFF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28600" algn="just">
              <a:spcAft>
                <a:spcPts val="0"/>
              </a:spcAft>
              <a:tabLst>
                <a:tab pos="6210935" algn="r"/>
              </a:tabLst>
            </a:pPr>
            <a:endParaRPr lang="hu-HU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hu-HU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(int t = 0; t &lt; 5; t++ )</a:t>
            </a:r>
          </a:p>
          <a:p>
            <a:r>
              <a:rPr lang="hu-HU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hu-HU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hu-HU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hu-HU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(t == 2) </a:t>
            </a:r>
            <a:r>
              <a:rPr lang="hu-HU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continue</a:t>
            </a:r>
            <a:r>
              <a:rPr lang="hu-HU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hu-HU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hu-HU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</a:t>
            </a:r>
            <a:r>
              <a:rPr lang="hu-HU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(t);</a:t>
            </a:r>
          </a:p>
          <a:p>
            <a:r>
              <a:rPr lang="hu-HU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74227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Bázis">
  <a:themeElements>
    <a:clrScheme name="Zöld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Báz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áz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Office-té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é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Bázis</Template>
  <TotalTime>2872</TotalTime>
  <Words>1524</Words>
  <Application>Microsoft Office PowerPoint</Application>
  <PresentationFormat>Diavetítés a képernyőre (4:3 oldalarány)</PresentationFormat>
  <Paragraphs>405</Paragraphs>
  <Slides>34</Slides>
  <Notes>7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7</vt:i4>
      </vt:variant>
      <vt:variant>
        <vt:lpstr>Téma</vt:lpstr>
      </vt:variant>
      <vt:variant>
        <vt:i4>1</vt:i4>
      </vt:variant>
      <vt:variant>
        <vt:lpstr>Diacímek</vt:lpstr>
      </vt:variant>
      <vt:variant>
        <vt:i4>34</vt:i4>
      </vt:variant>
    </vt:vector>
  </HeadingPairs>
  <TitlesOfParts>
    <vt:vector size="42" baseType="lpstr">
      <vt:lpstr>13</vt:lpstr>
      <vt:lpstr>Arial Black</vt:lpstr>
      <vt:lpstr>Calibri</vt:lpstr>
      <vt:lpstr>Corbel</vt:lpstr>
      <vt:lpstr>Courier New</vt:lpstr>
      <vt:lpstr>Symbol</vt:lpstr>
      <vt:lpstr>Times New Roman</vt:lpstr>
      <vt:lpstr>Bázis</vt:lpstr>
      <vt:lpstr>Magasszintű programnyelvek I.</vt:lpstr>
      <vt:lpstr>Vezérlési szerkezetek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Logikai operátorok</vt:lpstr>
      <vt:lpstr>Logikai ÉS igazságtáblája</vt:lpstr>
      <vt:lpstr>Logikai VAGY  igazságtáblája (megengedő VAGY)</vt:lpstr>
      <vt:lpstr>Logikai NEM igazságtáblája</vt:lpstr>
      <vt:lpstr>Feltétel kiértékelése</vt:lpstr>
      <vt:lpstr>Feltétel rövidzár kiértékelése (shortcut)</vt:lpstr>
      <vt:lpstr>Feltétel rövidzár kiértékelése</vt:lpstr>
      <vt:lpstr>PowerPoint-bemutató</vt:lpstr>
      <vt:lpstr>PowerPoint-bemutató</vt:lpstr>
      <vt:lpstr>Ciklus – programozási szerkezet</vt:lpstr>
      <vt:lpstr>Ciklusfajták - Meddig fusson a ciklus?</vt:lpstr>
      <vt:lpstr>Ciklusfajták Mikor teszteljük a ciklusfeltételt?</vt:lpstr>
      <vt:lpstr>PowerPoint-bemutató</vt:lpstr>
      <vt:lpstr>Mit ír ki az alábbi kódrészlet?</vt:lpstr>
      <vt:lpstr>PowerPoint-bemutató</vt:lpstr>
      <vt:lpstr>Mit ír ki az alábbi kódrészlet?</vt:lpstr>
      <vt:lpstr>PowerPoint-bemutató</vt:lpstr>
      <vt:lpstr>PowerPoint-bemutató</vt:lpstr>
      <vt:lpstr>PowerPoint-bemutató</vt:lpstr>
      <vt:lpstr>for ciklus mint while ciklus</vt:lpstr>
      <vt:lpstr>PowerPoint-bemutató</vt:lpstr>
      <vt:lpstr>Mit ír ki az alábbi kódrészlet?</vt:lpstr>
      <vt:lpstr>Mit ír ki az alábbi kódrészlet?</vt:lpstr>
      <vt:lpstr>PowerPoint-bemutató</vt:lpstr>
      <vt:lpstr>Mit ír ki az alábbi kódrészlet?</vt:lpstr>
      <vt:lpstr>Mit ír ki az alábbi kódrészlet?</vt:lpstr>
    </vt:vector>
  </TitlesOfParts>
  <Company>rrr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térinformatika gyakorlati oktatása Vidékfejlesztési szakirányon</dc:title>
  <dc:creator>ppp</dc:creator>
  <cp:lastModifiedBy>Dr. Pántya Róbert</cp:lastModifiedBy>
  <cp:revision>415</cp:revision>
  <cp:lastPrinted>2020-09-22T06:30:38Z</cp:lastPrinted>
  <dcterms:created xsi:type="dcterms:W3CDTF">2002-08-24T19:27:11Z</dcterms:created>
  <dcterms:modified xsi:type="dcterms:W3CDTF">2025-10-10T04:11:25Z</dcterms:modified>
</cp:coreProperties>
</file>