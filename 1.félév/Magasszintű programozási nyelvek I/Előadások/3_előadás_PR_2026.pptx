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2" r:id="rId1"/>
  </p:sldMasterIdLst>
  <p:notesMasterIdLst>
    <p:notesMasterId r:id="rId18"/>
  </p:notesMasterIdLst>
  <p:handoutMasterIdLst>
    <p:handoutMasterId r:id="rId19"/>
  </p:handoutMasterIdLst>
  <p:sldIdLst>
    <p:sldId id="313" r:id="rId2"/>
    <p:sldId id="340" r:id="rId3"/>
    <p:sldId id="335" r:id="rId4"/>
    <p:sldId id="360" r:id="rId5"/>
    <p:sldId id="367" r:id="rId6"/>
    <p:sldId id="362" r:id="rId7"/>
    <p:sldId id="336" r:id="rId8"/>
    <p:sldId id="366" r:id="rId9"/>
    <p:sldId id="341" r:id="rId10"/>
    <p:sldId id="342" r:id="rId11"/>
    <p:sldId id="349" r:id="rId12"/>
    <p:sldId id="368" r:id="rId13"/>
    <p:sldId id="350" r:id="rId14"/>
    <p:sldId id="352" r:id="rId15"/>
    <p:sldId id="372" r:id="rId16"/>
    <p:sldId id="374" r:id="rId17"/>
  </p:sldIdLst>
  <p:sldSz cx="9144000" cy="6858000" type="screen4x3"/>
  <p:notesSz cx="10234613" cy="70993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  <a:srgbClr val="CC99FF"/>
    <a:srgbClr val="9966FF"/>
    <a:srgbClr val="660033"/>
    <a:srgbClr val="FFFF99"/>
    <a:srgbClr val="FFFF00"/>
    <a:srgbClr val="FFFFCC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8" autoAdjust="0"/>
    <p:restoredTop sz="94660"/>
  </p:normalViewPr>
  <p:slideViewPr>
    <p:cSldViewPr>
      <p:cViewPr varScale="1">
        <p:scale>
          <a:sx n="75" d="100"/>
          <a:sy n="75" d="100"/>
        </p:scale>
        <p:origin x="154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93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6" tIns="49514" rIns="99026" bIns="4951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797550" y="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6" tIns="49514" rIns="99026" bIns="4951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911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6" tIns="49514" rIns="99026" bIns="4951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911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79755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6" tIns="49514" rIns="99026" bIns="4951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pPr>
              <a:defRPr/>
            </a:pPr>
            <a:fld id="{417184E1-40C3-4603-BF3A-6B824D1C7EBA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43547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797550" y="0"/>
            <a:ext cx="4435475" cy="35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343275" y="531813"/>
            <a:ext cx="3549650" cy="26622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23938" y="3371850"/>
            <a:ext cx="8186737" cy="319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 noProof="0"/>
              <a:t>Mintaszöveg szerkesztése</a:t>
            </a:r>
          </a:p>
          <a:p>
            <a:pPr lvl="1"/>
            <a:r>
              <a:rPr lang="hu-HU" altLang="hu-HU" noProof="0"/>
              <a:t>Második szint</a:t>
            </a:r>
          </a:p>
          <a:p>
            <a:pPr lvl="2"/>
            <a:r>
              <a:rPr lang="hu-HU" altLang="hu-HU" noProof="0"/>
              <a:t>Harmadik szint</a:t>
            </a:r>
          </a:p>
          <a:p>
            <a:pPr lvl="3"/>
            <a:r>
              <a:rPr lang="hu-HU" altLang="hu-HU" noProof="0"/>
              <a:t>Negyedik szint</a:t>
            </a:r>
          </a:p>
          <a:p>
            <a:pPr lvl="4"/>
            <a:r>
              <a:rPr lang="hu-HU" altLang="hu-HU" noProof="0"/>
              <a:t>Ötödik szint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6743700"/>
            <a:ext cx="4435475" cy="354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0" tIns="45709" rIns="91420" bIns="45709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791F37C-294B-4432-8AB4-FFBB96AF91AC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79" y="182879"/>
            <a:ext cx="8778240" cy="649224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000" b="1" cap="all" baseline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rgbClr val="FFFFFF"/>
                </a:solidFill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236E1AB2-C598-4C6C-B107-8D6FC34C56EC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373380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058521"/>
      </p:ext>
    </p:extLst>
  </p:cSld>
  <p:clrMapOvr>
    <a:masterClrMapping/>
  </p:clrMapOvr>
  <p:transition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86FC42-5A53-4431-B383-BDDFBC8C4E13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924646288"/>
      </p:ext>
    </p:extLst>
  </p:cSld>
  <p:clrMapOvr>
    <a:masterClrMapping/>
  </p:clrMapOvr>
  <p:transition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000" b="0" cap="all" baseline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94C749-6B57-4DF2-B707-0B76C705FFFB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4020408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151230"/>
      </p:ext>
    </p:extLst>
  </p:cSld>
  <p:clrMapOvr>
    <a:masterClrMapping/>
  </p:clrMapOvr>
  <p:transition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2057399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2057400"/>
            <a:ext cx="3566160" cy="40233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926901B-6EE6-4E4B-919E-BDB8FA64FB7D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329785967"/>
      </p:ext>
    </p:extLst>
  </p:cSld>
  <p:clrMapOvr>
    <a:masterClrMapping/>
  </p:clrMapOvr>
  <p:transition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721483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999032"/>
            <a:ext cx="356616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719322"/>
            <a:ext cx="3566160" cy="338328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3DF8EE-D935-43D1-81F9-12B1F9E00ABF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817889640"/>
      </p:ext>
    </p:extLst>
  </p:cSld>
  <p:clrMapOvr>
    <a:masterClrMapping/>
  </p:clrMapOvr>
  <p:transition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06532AF-F837-42AC-8665-7B72B1DE6D1F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648920766"/>
      </p:ext>
    </p:extLst>
  </p:cSld>
  <p:clrMapOvr>
    <a:masterClrMapping/>
  </p:clrMapOvr>
  <p:transition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25DAC3-6268-4845-835E-739A0D352A01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318290870"/>
      </p:ext>
    </p:extLst>
  </p:cSld>
  <p:clrMapOvr>
    <a:masterClrMapping/>
  </p:clrMapOvr>
  <p:transition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9314" y="1097280"/>
            <a:ext cx="4149638" cy="466344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92608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F6463E-1E89-413D-8E28-561B5BD64EDD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356775195"/>
      </p:ext>
    </p:extLst>
  </p:cSld>
  <p:clrMapOvr>
    <a:masterClrMapping/>
  </p:clrMapOvr>
  <p:transition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097280"/>
            <a:ext cx="283464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19107" y="1069847"/>
            <a:ext cx="4257703" cy="4645153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834640"/>
            <a:ext cx="283464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A6709C-88E0-4FA1-B90A-601B6A4327A3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4219667214"/>
      </p:ext>
    </p:extLst>
  </p:cSld>
  <p:clrMapOvr>
    <a:masterClrMapping/>
  </p:clrMapOvr>
  <p:transition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A02D24B-F012-41B4-8E3C-0A10FE45862A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482157796"/>
      </p:ext>
    </p:extLst>
  </p:cSld>
  <p:clrMapOvr>
    <a:masterClrMapping/>
  </p:clrMapOvr>
  <p:transition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762000"/>
            <a:ext cx="1743075" cy="54102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762000"/>
            <a:ext cx="5572125" cy="541020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0F871B-5A6E-4506-A262-47B44809D851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307369188"/>
      </p:ext>
    </p:extLst>
  </p:cSld>
  <p:clrMapOvr>
    <a:masterClrMapping/>
  </p:clrMapOvr>
  <p:transition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Cím és tábláz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áblázat helye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hu-HU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4A354C-CE92-43AD-AB61-7FF74FFB79D5}" type="slidenum">
              <a:rPr lang="hu-HU" altLang="hu-HU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412556089"/>
      </p:ext>
    </p:extLst>
  </p:cSld>
  <p:clrMapOvr>
    <a:masterClrMapping/>
  </p:clrMapOvr>
  <p:transition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82880" y="182880"/>
            <a:ext cx="8778240" cy="649224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2057400"/>
            <a:ext cx="7404653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hu-HU" alt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0E58B67F-B3DF-4B7B-B06E-A3CB4A8942DD}" type="slidenum">
              <a:rPr lang="hu-HU" altLang="hu-HU" smtClean="0"/>
              <a:pPr>
                <a:defRPr/>
              </a:pPr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196552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ransition>
    <p:cover/>
  </p:transition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92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11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3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5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7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DE48E91-EF1B-81C7-A176-D59D98C01C5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404813"/>
            <a:ext cx="8001000" cy="2232025"/>
          </a:xfrm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hu-HU" altLang="hu-HU" sz="4600" dirty="0"/>
              <a:t>Magasszintű programnyelvek I.</a:t>
            </a:r>
            <a:endParaRPr lang="hu-HU" altLang="hu-HU" sz="4800" dirty="0">
              <a:solidFill>
                <a:schemeClr val="tx1"/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ED65F95-C029-5B48-1357-AACF4C837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" y="4149725"/>
            <a:ext cx="8001000" cy="215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SzPct val="80000"/>
              <a:buFont typeface="Corbel" panose="020B0503020204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hu-HU" altLang="hu-HU" sz="4200" dirty="0">
                <a:solidFill>
                  <a:schemeClr val="bg1"/>
                </a:solidFill>
              </a:rPr>
              <a:t>Készítette: Dr. Pántya Róbert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hu-HU" altLang="hu-HU" sz="4200" dirty="0">
                <a:solidFill>
                  <a:schemeClr val="bg1"/>
                </a:solidFill>
              </a:rPr>
              <a:t>pantya.robert@uni-mate.hu</a:t>
            </a:r>
            <a:endParaRPr lang="hu-HU" altLang="hu-HU" sz="4400" dirty="0">
              <a:solidFill>
                <a:schemeClr val="bg1"/>
              </a:solidFill>
            </a:endParaRPr>
          </a:p>
        </p:txBody>
      </p:sp>
      <p:sp>
        <p:nvSpPr>
          <p:cNvPr id="6148" name="Rectangle 6">
            <a:extLst>
              <a:ext uri="{FF2B5EF4-FFF2-40B4-BE49-F238E27FC236}">
                <a16:creationId xmlns:a16="http://schemas.microsoft.com/office/drawing/2014/main" id="{959A9D39-A69C-B191-9676-8BAEF79AF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" y="2565400"/>
            <a:ext cx="80010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SzPct val="80000"/>
              <a:buFont typeface="Corbel" panose="020B0503020204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SzPct val="80000"/>
              <a:buFont typeface="Corbel" panose="020B0503020204020204" pitchFamily="34" charset="0"/>
              <a:buChar char="•"/>
              <a:def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SzTx/>
              <a:buFontTx/>
              <a:buNone/>
            </a:pPr>
            <a:r>
              <a:rPr lang="hu-HU" altLang="hu-HU" sz="4200" dirty="0">
                <a:solidFill>
                  <a:schemeClr val="bg1"/>
                </a:solidFill>
              </a:rPr>
              <a:t>3.előadás</a:t>
            </a:r>
            <a:endParaRPr lang="hu-HU" altLang="hu-HU" sz="4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76672"/>
            <a:ext cx="7772400" cy="792163"/>
          </a:xfrm>
        </p:spPr>
        <p:txBody>
          <a:bodyPr>
            <a:normAutofit/>
          </a:bodyPr>
          <a:lstStyle/>
          <a:p>
            <a:pPr algn="ctr"/>
            <a:r>
              <a:rPr lang="hu-HU" altLang="hu-HU" sz="4400" b="1" dirty="0"/>
              <a:t>Azonosítók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395287" y="1268462"/>
            <a:ext cx="8353425" cy="5112866"/>
          </a:xfrm>
        </p:spPr>
        <p:txBody>
          <a:bodyPr>
            <a:normAutofit lnSpcReduction="10000"/>
          </a:bodyPr>
          <a:lstStyle/>
          <a:p>
            <a:pPr marL="355600" indent="-320675">
              <a:lnSpc>
                <a:spcPct val="90000"/>
              </a:lnSpc>
              <a:buClr>
                <a:schemeClr val="tx1"/>
              </a:buClr>
            </a:pPr>
            <a:r>
              <a:rPr lang="hu-HU" altLang="hu-HU" sz="3200" dirty="0"/>
              <a:t>Olyan </a:t>
            </a:r>
            <a:r>
              <a:rPr lang="hu-HU" altLang="hu-HU" sz="3200" b="1" dirty="0"/>
              <a:t>nevek</a:t>
            </a:r>
            <a:r>
              <a:rPr lang="hu-HU" altLang="hu-HU" sz="3200" dirty="0"/>
              <a:t>, amelyekkel hivatkozhatunk:</a:t>
            </a:r>
          </a:p>
          <a:p>
            <a:pPr marL="904875" indent="-273050">
              <a:buFont typeface="Times New Roman" panose="02020603050405020304" pitchFamily="18" charset="0"/>
              <a:buChar char="-"/>
            </a:pPr>
            <a:r>
              <a:rPr lang="hu-HU" altLang="hu-HU" sz="3000" dirty="0"/>
              <a:t>változókra,</a:t>
            </a:r>
          </a:p>
          <a:p>
            <a:pPr marL="904875" indent="-273050">
              <a:buFont typeface="Times New Roman" panose="02020603050405020304" pitchFamily="18" charset="0"/>
              <a:buChar char="-"/>
            </a:pPr>
            <a:r>
              <a:rPr lang="hu-HU" altLang="hu-HU" sz="3000" dirty="0"/>
              <a:t>állandókra (konstansokra),</a:t>
            </a:r>
          </a:p>
          <a:p>
            <a:pPr marL="904875" indent="-273050">
              <a:buFont typeface="Times New Roman" panose="02020603050405020304" pitchFamily="18" charset="0"/>
              <a:buChar char="-"/>
            </a:pPr>
            <a:r>
              <a:rPr lang="hu-HU" altLang="hu-HU" sz="3000" dirty="0"/>
              <a:t>függvényekre, stb.</a:t>
            </a:r>
          </a:p>
          <a:p>
            <a:pPr marL="355600" indent="-320675">
              <a:lnSpc>
                <a:spcPct val="90000"/>
              </a:lnSpc>
              <a:buClr>
                <a:schemeClr val="tx1"/>
              </a:buClr>
            </a:pPr>
            <a:r>
              <a:rPr lang="hu-HU" altLang="hu-HU" sz="3200" dirty="0"/>
              <a:t>A név első karaktere </a:t>
            </a:r>
            <a:r>
              <a:rPr lang="hu-HU" altLang="hu-HU" sz="3200" b="1" dirty="0"/>
              <a:t>betű</a:t>
            </a:r>
            <a:r>
              <a:rPr lang="hu-HU" altLang="hu-HU" sz="3200" dirty="0"/>
              <a:t>, vagy aláhúzásjel (</a:t>
            </a:r>
            <a:r>
              <a:rPr lang="hu-HU" altLang="hu-HU" sz="3200" b="1" dirty="0"/>
              <a:t>_</a:t>
            </a:r>
            <a:r>
              <a:rPr lang="hu-HU" altLang="hu-HU" sz="3200" dirty="0"/>
              <a:t>) lehet, ettől kezdődően már számok is szerepelhetnek benne. </a:t>
            </a:r>
            <a:br>
              <a:rPr lang="hu-HU" altLang="hu-HU" sz="3200" dirty="0"/>
            </a:br>
            <a:r>
              <a:rPr lang="hu-HU" altLang="hu-HU" sz="3200" dirty="0"/>
              <a:t>(Szóközt nem tartalmazhat.)</a:t>
            </a:r>
            <a:br>
              <a:rPr lang="hu-HU" altLang="hu-HU" sz="3200" dirty="0"/>
            </a:br>
            <a:r>
              <a:rPr lang="hu-HU" altLang="hu-HU" sz="3200" dirty="0"/>
              <a:t>(Lehet ékezetes betűket használni.)</a:t>
            </a:r>
          </a:p>
          <a:p>
            <a:pPr marL="355600" indent="-320675">
              <a:lnSpc>
                <a:spcPct val="90000"/>
              </a:lnSpc>
              <a:buClr>
                <a:schemeClr val="tx1"/>
              </a:buClr>
            </a:pPr>
            <a:r>
              <a:rPr lang="hu-HU" altLang="hu-HU" sz="3200" dirty="0"/>
              <a:t>A C# </a:t>
            </a:r>
            <a:r>
              <a:rPr lang="hu-HU" altLang="hu-HU" sz="3200" u="sng" dirty="0"/>
              <a:t>különbséget tesz</a:t>
            </a:r>
            <a:r>
              <a:rPr lang="hu-HU" altLang="hu-HU" sz="3200" dirty="0"/>
              <a:t> a </a:t>
            </a:r>
            <a:r>
              <a:rPr lang="hu-HU" altLang="hu-HU" sz="3200" b="1" i="1" dirty="0"/>
              <a:t>kis- és nagybetűk között</a:t>
            </a:r>
            <a:r>
              <a:rPr lang="hu-HU" altLang="hu-HU" sz="3200" dirty="0"/>
              <a:t> (</a:t>
            </a:r>
            <a:r>
              <a:rPr lang="hu-HU" altLang="hu-HU" sz="3200" dirty="0" err="1"/>
              <a:t>case-sensitive</a:t>
            </a:r>
            <a:r>
              <a:rPr lang="hu-HU" altLang="hu-HU" sz="3200" dirty="0"/>
              <a:t>).</a:t>
            </a:r>
          </a:p>
        </p:txBody>
      </p:sp>
      <p:sp>
        <p:nvSpPr>
          <p:cNvPr id="5122" name="Dia számának hely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D4B9D7-7577-4543-82BF-CCB00475375C}" type="slidenum">
              <a:rPr lang="hu-HU" altLang="hu-HU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hu-HU" altLang="hu-HU" sz="14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143"/>
          <p:cNvSpPr>
            <a:spLocks noGrp="1" noChangeArrowheads="1"/>
          </p:cNvSpPr>
          <p:nvPr>
            <p:ph type="title"/>
          </p:nvPr>
        </p:nvSpPr>
        <p:spPr>
          <a:xfrm>
            <a:off x="685800" y="404664"/>
            <a:ext cx="7772400" cy="936625"/>
          </a:xfrm>
        </p:spPr>
        <p:txBody>
          <a:bodyPr>
            <a:normAutofit fontScale="90000"/>
          </a:bodyPr>
          <a:lstStyle/>
          <a:p>
            <a:pPr algn="ctr"/>
            <a:r>
              <a:rPr lang="hu-HU" altLang="hu-HU" sz="4400" b="1" dirty="0"/>
              <a:t>A C# </a:t>
            </a:r>
            <a:r>
              <a:rPr lang="hu-HU" altLang="hu-HU" sz="4400" b="1" dirty="0" err="1"/>
              <a:t>kulcsszavai</a:t>
            </a:r>
            <a:r>
              <a:rPr lang="hu-HU" altLang="hu-HU" sz="4400" b="1" dirty="0"/>
              <a:t> (foglalt szavak)</a:t>
            </a:r>
          </a:p>
        </p:txBody>
      </p:sp>
      <p:graphicFrame>
        <p:nvGraphicFramePr>
          <p:cNvPr id="144810" name="Group 426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856870835"/>
              </p:ext>
            </p:extLst>
          </p:nvPr>
        </p:nvGraphicFramePr>
        <p:xfrm>
          <a:off x="295275" y="1282120"/>
          <a:ext cx="8553450" cy="5151432"/>
        </p:xfrm>
        <a:graphic>
          <a:graphicData uri="http://schemas.openxmlformats.org/drawingml/2006/table">
            <a:tbl>
              <a:tblPr/>
              <a:tblGrid>
                <a:gridCol w="1425575">
                  <a:extLst>
                    <a:ext uri="{9D8B030D-6E8A-4147-A177-3AD203B41FA5}">
                      <a16:colId xmlns:a16="http://schemas.microsoft.com/office/drawing/2014/main" val="4185797224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565727214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1415134871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1548385191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86517986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308733163"/>
                    </a:ext>
                  </a:extLst>
                </a:gridCol>
              </a:tblGrid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abstract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decimal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float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namespace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return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try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400579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as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default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for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new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sbyte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typeof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491997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base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delegate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foreach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null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sealed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uint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738454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bool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do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goto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object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short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ulong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155752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break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double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if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sizeof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unchecked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45918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byte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else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implicit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out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stackalloc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unsafe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91399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case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enum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override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static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ushort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76759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catch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event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params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string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using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413283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char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explicit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interface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private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struct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virtual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65433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checked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extern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internal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protected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switch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void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756733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class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is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public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this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while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909247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const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finally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lock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readonly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throw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altLang="hu-H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805991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continue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fixed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long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ref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29649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Cím 1"/>
          <p:cNvSpPr>
            <a:spLocks noGrp="1"/>
          </p:cNvSpPr>
          <p:nvPr>
            <p:ph type="title"/>
          </p:nvPr>
        </p:nvSpPr>
        <p:spPr>
          <a:xfrm>
            <a:off x="685799" y="341784"/>
            <a:ext cx="7772400" cy="1143000"/>
          </a:xfrm>
        </p:spPr>
        <p:txBody>
          <a:bodyPr/>
          <a:lstStyle/>
          <a:p>
            <a:pPr algn="ctr"/>
            <a:r>
              <a:rPr lang="hu-HU" altLang="hu-HU" b="1" dirty="0"/>
              <a:t>Beépített típusok</a:t>
            </a:r>
          </a:p>
        </p:txBody>
      </p:sp>
      <p:sp>
        <p:nvSpPr>
          <p:cNvPr id="7171" name="Tartalom helye 2"/>
          <p:cNvSpPr>
            <a:spLocks noGrp="1"/>
          </p:cNvSpPr>
          <p:nvPr>
            <p:ph idx="1"/>
          </p:nvPr>
        </p:nvSpPr>
        <p:spPr>
          <a:xfrm>
            <a:off x="251617" y="1340768"/>
            <a:ext cx="8640763" cy="5689600"/>
          </a:xfrm>
        </p:spPr>
        <p:txBody>
          <a:bodyPr>
            <a:normAutofit/>
          </a:bodyPr>
          <a:lstStyle/>
          <a:p>
            <a:pPr marL="355600" indent="-320675"/>
            <a:r>
              <a:rPr lang="hu-HU" altLang="hu-HU" sz="3200" dirty="0"/>
              <a:t>Minden adatnak van </a:t>
            </a:r>
            <a:r>
              <a:rPr lang="hu-HU" altLang="hu-HU" sz="3200" b="1" dirty="0"/>
              <a:t>típusa</a:t>
            </a:r>
            <a:r>
              <a:rPr lang="hu-HU" altLang="hu-HU" sz="3200" dirty="0"/>
              <a:t>.</a:t>
            </a:r>
          </a:p>
          <a:p>
            <a:pPr marL="355600" indent="-320675"/>
            <a:r>
              <a:rPr lang="hu-HU" altLang="hu-HU" sz="3200" dirty="0"/>
              <a:t>A beépített típusok a programozási nyelv </a:t>
            </a:r>
            <a:r>
              <a:rPr lang="hu-HU" altLang="hu-HU" sz="3200" b="1" i="1" dirty="0"/>
              <a:t>alapvető</a:t>
            </a:r>
            <a:r>
              <a:rPr lang="hu-HU" altLang="hu-HU" sz="3200" dirty="0"/>
              <a:t> elemei.</a:t>
            </a:r>
          </a:p>
          <a:p>
            <a:pPr marL="355600" indent="-320675"/>
            <a:r>
              <a:rPr lang="hu-HU" altLang="hu-HU" sz="3200" dirty="0"/>
              <a:t>Új (saját) típusok létrehozhatóak belőlük, mint építőelemekből.</a:t>
            </a:r>
          </a:p>
          <a:p>
            <a:pPr marL="355600" indent="-320675"/>
            <a:r>
              <a:rPr lang="hu-HU" altLang="hu-HU" sz="3200" dirty="0"/>
              <a:t>Minden típusnak ilyen tulajdonságai vannak:</a:t>
            </a:r>
          </a:p>
          <a:p>
            <a:pPr marL="1076325" lvl="1" indent="-273050">
              <a:buFont typeface="Times New Roman" panose="02020603050405020304" pitchFamily="18" charset="0"/>
              <a:buChar char="-"/>
            </a:pPr>
            <a:r>
              <a:rPr lang="hu-HU" altLang="hu-HU" sz="2800" dirty="0"/>
              <a:t>lefoglalt bájtok száma (a </a:t>
            </a:r>
            <a:r>
              <a:rPr lang="hu-HU" altLang="hu-HU" sz="2800" b="1" i="1" dirty="0"/>
              <a:t>tárterület igény</a:t>
            </a:r>
            <a:r>
              <a:rPr lang="hu-HU" altLang="hu-HU" sz="2800" dirty="0"/>
              <a:t>)</a:t>
            </a:r>
          </a:p>
          <a:p>
            <a:pPr marL="1076325" lvl="1" indent="-273050">
              <a:buFont typeface="Times New Roman" panose="02020603050405020304" pitchFamily="18" charset="0"/>
              <a:buChar char="-"/>
            </a:pPr>
            <a:r>
              <a:rPr lang="hu-HU" altLang="hu-HU" sz="2800" dirty="0"/>
              <a:t>a bájtok szemantikája (az adott mennyiségű adat </a:t>
            </a:r>
            <a:r>
              <a:rPr lang="hu-HU" altLang="hu-HU" sz="2800" b="1" i="1" dirty="0"/>
              <a:t>értelmezése</a:t>
            </a:r>
            <a:r>
              <a:rPr lang="hu-HU" altLang="hu-HU" sz="2800" dirty="0"/>
              <a:t>)</a:t>
            </a:r>
          </a:p>
          <a:p>
            <a:pPr marL="1076325" lvl="1" indent="-273050">
              <a:buFont typeface="Times New Roman" panose="02020603050405020304" pitchFamily="18" charset="0"/>
              <a:buChar char="-"/>
            </a:pPr>
            <a:r>
              <a:rPr lang="hu-HU" altLang="hu-HU" sz="2800" b="1" i="1" dirty="0"/>
              <a:t>értéktartomány</a:t>
            </a:r>
            <a:r>
              <a:rPr lang="hu-HU" altLang="hu-HU" sz="2800" dirty="0"/>
              <a:t> (a felvehető értékek milyen halmazból kerülhetnek ki)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143"/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7772400" cy="936625"/>
          </a:xfrm>
        </p:spPr>
        <p:txBody>
          <a:bodyPr/>
          <a:lstStyle/>
          <a:p>
            <a:pPr algn="ctr"/>
            <a:r>
              <a:rPr lang="hu-HU" altLang="hu-HU" sz="4000" b="1" dirty="0"/>
              <a:t>A C# beépített típusai</a:t>
            </a:r>
          </a:p>
        </p:txBody>
      </p:sp>
      <p:graphicFrame>
        <p:nvGraphicFramePr>
          <p:cNvPr id="144810" name="Group 426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508149440"/>
              </p:ext>
            </p:extLst>
          </p:nvPr>
        </p:nvGraphicFramePr>
        <p:xfrm>
          <a:off x="295275" y="1244447"/>
          <a:ext cx="8553450" cy="5151432"/>
        </p:xfrm>
        <a:graphic>
          <a:graphicData uri="http://schemas.openxmlformats.org/drawingml/2006/table">
            <a:tbl>
              <a:tblPr/>
              <a:tblGrid>
                <a:gridCol w="1425575">
                  <a:extLst>
                    <a:ext uri="{9D8B030D-6E8A-4147-A177-3AD203B41FA5}">
                      <a16:colId xmlns:a16="http://schemas.microsoft.com/office/drawing/2014/main" val="4185797224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2565727214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1415134871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1548385191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86517986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val="3308733163"/>
                    </a:ext>
                  </a:extLst>
                </a:gridCol>
              </a:tblGrid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abstract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decimal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float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namespace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return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try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1400579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as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default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for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new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sbyte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typeof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3491997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base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delegate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foreach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null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sealed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uint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738454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bool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do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goto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object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short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ulong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155752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break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double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if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sizeof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unchecked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45918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byte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else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implicit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out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stackalloc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unsafe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191399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case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enum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override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static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ushort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76759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catch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event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params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string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using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413283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char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explicit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interface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private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struct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virtual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65433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checked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extern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internal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protected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switch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void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756733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class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false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is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public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this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while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909247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const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finally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lock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readonly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throw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altLang="hu-H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9805991"/>
                  </a:ext>
                </a:extLst>
              </a:tr>
              <a:tr h="396264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continue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fixed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long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ref</a:t>
                      </a: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</a:t>
                      </a: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hu-HU" altLang="hu-H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29649"/>
                  </a:ext>
                </a:extLst>
              </a:tr>
            </a:tbl>
          </a:graphicData>
        </a:graphic>
      </p:graphicFrame>
      <p:sp>
        <p:nvSpPr>
          <p:cNvPr id="8194" name="Dia számának hely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54E776-5954-42D2-ACFB-8E459A1EA8B3}" type="slidenum">
              <a:rPr lang="hu-HU" altLang="hu-HU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hu-HU" altLang="hu-HU" sz="14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ím 1"/>
          <p:cNvSpPr>
            <a:spLocks noGrp="1"/>
          </p:cNvSpPr>
          <p:nvPr>
            <p:ph type="title"/>
          </p:nvPr>
        </p:nvSpPr>
        <p:spPr>
          <a:xfrm>
            <a:off x="685800" y="115887"/>
            <a:ext cx="7772400" cy="1143000"/>
          </a:xfrm>
        </p:spPr>
        <p:txBody>
          <a:bodyPr/>
          <a:lstStyle/>
          <a:p>
            <a:pPr algn="ctr"/>
            <a:r>
              <a:rPr lang="hu-HU" altLang="hu-HU" b="1" dirty="0"/>
              <a:t>Egész típusok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198563"/>
            <a:ext cx="8229600" cy="2517775"/>
          </a:xfrm>
        </p:spPr>
        <p:txBody>
          <a:bodyPr>
            <a:normAutofit/>
          </a:bodyPr>
          <a:lstStyle/>
          <a:p>
            <a:pPr marL="355600" indent="-320675">
              <a:defRPr/>
            </a:pPr>
            <a:r>
              <a:rPr lang="hu-HU" sz="3200" b="1" dirty="0"/>
              <a:t>Egész számokat</a:t>
            </a:r>
            <a:r>
              <a:rPr lang="hu-HU" sz="3200" dirty="0"/>
              <a:t> reprezentálnak. </a:t>
            </a:r>
          </a:p>
          <a:p>
            <a:pPr marL="355600" indent="-320675">
              <a:defRPr/>
            </a:pPr>
            <a:r>
              <a:rPr lang="hu-HU" sz="3200" dirty="0"/>
              <a:t>Egymástól különböznek ezekben:</a:t>
            </a:r>
          </a:p>
          <a:p>
            <a:pPr marL="720725" lvl="1" indent="-273050">
              <a:buFont typeface="Times New Roman" panose="02020603050405020304" pitchFamily="18" charset="0"/>
              <a:buChar char="-"/>
              <a:defRPr/>
            </a:pPr>
            <a:r>
              <a:rPr lang="hu-HU" sz="2800" dirty="0"/>
              <a:t>méret = lefoglalt bájtok száma</a:t>
            </a:r>
          </a:p>
          <a:p>
            <a:pPr marL="720725" lvl="1" indent="-273050">
              <a:buFont typeface="Times New Roman" panose="02020603050405020304" pitchFamily="18" charset="0"/>
              <a:buChar char="-"/>
              <a:defRPr/>
            </a:pPr>
            <a:r>
              <a:rPr lang="hu-HU" sz="2800" dirty="0"/>
              <a:t>előjeles vagy előjelnélküli (= nemnegatív)</a:t>
            </a:r>
          </a:p>
          <a:p>
            <a:pPr marL="720725" lvl="1" indent="-273050">
              <a:buFont typeface="Times New Roman" panose="02020603050405020304" pitchFamily="18" charset="0"/>
              <a:buChar char="-"/>
              <a:defRPr/>
            </a:pPr>
            <a:r>
              <a:rPr lang="hu-HU" sz="2800" dirty="0"/>
              <a:t>értéktartomány</a:t>
            </a:r>
          </a:p>
          <a:p>
            <a:pPr lvl="1">
              <a:defRPr/>
            </a:pPr>
            <a:endParaRPr lang="hu-HU" sz="2800" dirty="0"/>
          </a:p>
        </p:txBody>
      </p:sp>
      <p:grpSp>
        <p:nvGrpSpPr>
          <p:cNvPr id="9220" name="Csoportba foglalás 27"/>
          <p:cNvGrpSpPr>
            <a:grpSpLocks/>
          </p:cNvGrpSpPr>
          <p:nvPr/>
        </p:nvGrpSpPr>
        <p:grpSpPr bwMode="auto">
          <a:xfrm>
            <a:off x="107950" y="3860800"/>
            <a:ext cx="8856663" cy="2881313"/>
            <a:chOff x="-180528" y="3861048"/>
            <a:chExt cx="8856662" cy="2881312"/>
          </a:xfrm>
        </p:grpSpPr>
        <p:sp>
          <p:nvSpPr>
            <p:cNvPr id="9221" name="Rectangle 29"/>
            <p:cNvSpPr>
              <a:spLocks noChangeArrowheads="1"/>
            </p:cNvSpPr>
            <p:nvPr/>
          </p:nvSpPr>
          <p:spPr bwMode="auto">
            <a:xfrm>
              <a:off x="4321622" y="4292848"/>
              <a:ext cx="4354512" cy="2449512"/>
            </a:xfrm>
            <a:prstGeom prst="rect">
              <a:avLst/>
            </a:prstGeom>
            <a:solidFill>
              <a:srgbClr val="FFC000">
                <a:alpha val="85097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hu-HU" altLang="hu-HU" sz="2400">
                <a:latin typeface="Arial" panose="020B0604020202020204" pitchFamily="34" charset="0"/>
              </a:endParaRPr>
            </a:p>
          </p:txBody>
        </p:sp>
        <p:sp>
          <p:nvSpPr>
            <p:cNvPr id="9222" name="Rectangle 28"/>
            <p:cNvSpPr>
              <a:spLocks noChangeArrowheads="1"/>
            </p:cNvSpPr>
            <p:nvPr/>
          </p:nvSpPr>
          <p:spPr bwMode="auto">
            <a:xfrm>
              <a:off x="324297" y="4292848"/>
              <a:ext cx="3959225" cy="2449512"/>
            </a:xfrm>
            <a:prstGeom prst="rect">
              <a:avLst/>
            </a:prstGeom>
            <a:solidFill>
              <a:srgbClr val="FFC000">
                <a:alpha val="85097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hu-HU" altLang="hu-HU" sz="2400">
                <a:latin typeface="Arial" panose="020B0604020202020204" pitchFamily="34" charset="0"/>
              </a:endParaRPr>
            </a:p>
          </p:txBody>
        </p:sp>
        <p:sp>
          <p:nvSpPr>
            <p:cNvPr id="9223" name="Rectangle 9"/>
            <p:cNvSpPr>
              <a:spLocks noChangeArrowheads="1"/>
            </p:cNvSpPr>
            <p:nvPr/>
          </p:nvSpPr>
          <p:spPr bwMode="auto">
            <a:xfrm>
              <a:off x="324297" y="3861048"/>
              <a:ext cx="3959225" cy="431800"/>
            </a:xfrm>
            <a:prstGeom prst="rect">
              <a:avLst/>
            </a:prstGeom>
            <a:solidFill>
              <a:srgbClr val="FFC000">
                <a:alpha val="85097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r" eaLnBrk="1" hangingPunct="1">
                <a:buFontTx/>
                <a:buNone/>
              </a:pPr>
              <a:r>
                <a:rPr lang="hu-HU" altLang="hu-HU" sz="2400" b="1" dirty="0">
                  <a:solidFill>
                    <a:srgbClr val="002060"/>
                  </a:solidFill>
                  <a:latin typeface="Arial Black" panose="020B0A04020102020204" pitchFamily="34" charset="0"/>
                </a:rPr>
                <a:t>Előjeles (</a:t>
              </a:r>
              <a:r>
                <a:rPr lang="hu-HU" altLang="hu-HU" sz="2400" b="1" dirty="0" err="1">
                  <a:solidFill>
                    <a:srgbClr val="002060"/>
                  </a:solidFill>
                  <a:latin typeface="Arial Black" panose="020B0A04020102020204" pitchFamily="34" charset="0"/>
                </a:rPr>
                <a:t>signed</a:t>
              </a:r>
              <a:r>
                <a:rPr lang="hu-HU" altLang="hu-HU" sz="2400" b="1" dirty="0">
                  <a:solidFill>
                    <a:srgbClr val="002060"/>
                  </a:solidFill>
                  <a:latin typeface="Arial Black" panose="020B0A04020102020204" pitchFamily="34" charset="0"/>
                </a:rPr>
                <a:t>)</a:t>
              </a:r>
            </a:p>
          </p:txBody>
        </p:sp>
        <p:sp>
          <p:nvSpPr>
            <p:cNvPr id="7" name="Rectangle 11"/>
            <p:cNvSpPr>
              <a:spLocks noChangeArrowheads="1"/>
            </p:cNvSpPr>
            <p:nvPr/>
          </p:nvSpPr>
          <p:spPr bwMode="auto">
            <a:xfrm>
              <a:off x="3059560" y="4437311"/>
              <a:ext cx="1152525" cy="431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defRPr/>
              </a:pPr>
              <a:r>
                <a:rPr lang="hu-HU" altLang="hu-HU" b="1" dirty="0" err="1">
                  <a:solidFill>
                    <a:srgbClr val="002060"/>
                  </a:solidFill>
                  <a:latin typeface="Arial Black" pitchFamily="34" charset="0"/>
                </a:rPr>
                <a:t>sbyte</a:t>
              </a:r>
              <a:endParaRPr lang="hu-HU" altLang="hu-HU" dirty="0">
                <a:solidFill>
                  <a:srgbClr val="002060"/>
                </a:solidFill>
              </a:endParaRPr>
            </a:p>
          </p:txBody>
        </p:sp>
        <p:sp>
          <p:nvSpPr>
            <p:cNvPr id="8" name="Rectangle 13"/>
            <p:cNvSpPr>
              <a:spLocks noChangeArrowheads="1"/>
            </p:cNvSpPr>
            <p:nvPr/>
          </p:nvSpPr>
          <p:spPr bwMode="auto">
            <a:xfrm>
              <a:off x="3059560" y="5013573"/>
              <a:ext cx="1152525" cy="431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defRPr/>
              </a:pPr>
              <a:r>
                <a:rPr lang="hu-HU" altLang="hu-HU" b="1">
                  <a:solidFill>
                    <a:srgbClr val="002060"/>
                  </a:solidFill>
                  <a:latin typeface="Arial Black" pitchFamily="34" charset="0"/>
                </a:rPr>
                <a:t>short</a:t>
              </a:r>
              <a:endParaRPr lang="hu-HU" altLang="hu-HU">
                <a:solidFill>
                  <a:srgbClr val="002060"/>
                </a:solidFill>
              </a:endParaRPr>
            </a:p>
          </p:txBody>
        </p:sp>
        <p:sp>
          <p:nvSpPr>
            <p:cNvPr id="9" name="Rectangle 14"/>
            <p:cNvSpPr>
              <a:spLocks noChangeArrowheads="1"/>
            </p:cNvSpPr>
            <p:nvPr/>
          </p:nvSpPr>
          <p:spPr bwMode="auto">
            <a:xfrm>
              <a:off x="3059560" y="5589835"/>
              <a:ext cx="1152525" cy="431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defRPr/>
              </a:pPr>
              <a:r>
                <a:rPr lang="hu-HU" altLang="hu-HU" b="1">
                  <a:solidFill>
                    <a:srgbClr val="002060"/>
                  </a:solidFill>
                  <a:latin typeface="Arial Black" pitchFamily="34" charset="0"/>
                </a:rPr>
                <a:t>int</a:t>
              </a:r>
              <a:endParaRPr lang="hu-HU" altLang="hu-HU">
                <a:solidFill>
                  <a:srgbClr val="002060"/>
                </a:solidFill>
              </a:endParaRPr>
            </a:p>
          </p:txBody>
        </p:sp>
        <p:sp>
          <p:nvSpPr>
            <p:cNvPr id="10" name="Rectangle 15"/>
            <p:cNvSpPr>
              <a:spLocks noChangeArrowheads="1"/>
            </p:cNvSpPr>
            <p:nvPr/>
          </p:nvSpPr>
          <p:spPr bwMode="auto">
            <a:xfrm>
              <a:off x="3059560" y="6166097"/>
              <a:ext cx="1152525" cy="431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defRPr/>
              </a:pPr>
              <a:r>
                <a:rPr lang="hu-HU" altLang="hu-HU" b="1">
                  <a:solidFill>
                    <a:srgbClr val="002060"/>
                  </a:solidFill>
                  <a:latin typeface="Arial Black" pitchFamily="34" charset="0"/>
                </a:rPr>
                <a:t>long</a:t>
              </a:r>
              <a:endParaRPr lang="hu-HU" altLang="hu-HU">
                <a:solidFill>
                  <a:srgbClr val="002060"/>
                </a:solidFill>
              </a:endParaRPr>
            </a:p>
          </p:txBody>
        </p:sp>
        <p:sp>
          <p:nvSpPr>
            <p:cNvPr id="11" name="Rectangle 16"/>
            <p:cNvSpPr>
              <a:spLocks noChangeArrowheads="1"/>
            </p:cNvSpPr>
            <p:nvPr/>
          </p:nvSpPr>
          <p:spPr bwMode="auto">
            <a:xfrm>
              <a:off x="4429571" y="4437311"/>
              <a:ext cx="1295400" cy="431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20000"/>
                </a:spcBef>
                <a:defRPr/>
              </a:pPr>
              <a:r>
                <a:rPr lang="hu-HU" altLang="hu-HU" b="1" dirty="0">
                  <a:solidFill>
                    <a:srgbClr val="146614"/>
                  </a:solidFill>
                  <a:latin typeface="Arial Black" pitchFamily="34" charset="0"/>
                </a:rPr>
                <a:t>byte</a:t>
              </a:r>
              <a:endParaRPr lang="hu-HU" altLang="hu-HU" dirty="0">
                <a:solidFill>
                  <a:srgbClr val="146614"/>
                </a:solidFill>
              </a:endParaRPr>
            </a:p>
          </p:txBody>
        </p:sp>
        <p:sp>
          <p:nvSpPr>
            <p:cNvPr id="12" name="Rectangle 17"/>
            <p:cNvSpPr>
              <a:spLocks noChangeArrowheads="1"/>
            </p:cNvSpPr>
            <p:nvPr/>
          </p:nvSpPr>
          <p:spPr bwMode="auto">
            <a:xfrm>
              <a:off x="4429571" y="5013573"/>
              <a:ext cx="1295400" cy="431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20000"/>
                </a:spcBef>
                <a:defRPr/>
              </a:pPr>
              <a:r>
                <a:rPr lang="hu-HU" altLang="hu-HU" b="1">
                  <a:solidFill>
                    <a:srgbClr val="146614"/>
                  </a:solidFill>
                  <a:latin typeface="Arial Black" pitchFamily="34" charset="0"/>
                </a:rPr>
                <a:t>ushort</a:t>
              </a:r>
              <a:endParaRPr lang="hu-HU" altLang="hu-HU">
                <a:solidFill>
                  <a:srgbClr val="146614"/>
                </a:solidFill>
              </a:endParaRPr>
            </a:p>
          </p:txBody>
        </p:sp>
        <p:sp>
          <p:nvSpPr>
            <p:cNvPr id="13" name="Rectangle 18"/>
            <p:cNvSpPr>
              <a:spLocks noChangeArrowheads="1"/>
            </p:cNvSpPr>
            <p:nvPr/>
          </p:nvSpPr>
          <p:spPr bwMode="auto">
            <a:xfrm>
              <a:off x="4429571" y="5589835"/>
              <a:ext cx="1295400" cy="431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20000"/>
                </a:spcBef>
                <a:defRPr/>
              </a:pPr>
              <a:r>
                <a:rPr lang="hu-HU" altLang="hu-HU" b="1">
                  <a:solidFill>
                    <a:srgbClr val="146614"/>
                  </a:solidFill>
                  <a:latin typeface="Arial Black" pitchFamily="34" charset="0"/>
                </a:rPr>
                <a:t>uint</a:t>
              </a:r>
              <a:endParaRPr lang="hu-HU" altLang="hu-HU">
                <a:solidFill>
                  <a:srgbClr val="146614"/>
                </a:solidFill>
              </a:endParaRPr>
            </a:p>
          </p:txBody>
        </p:sp>
        <p:sp>
          <p:nvSpPr>
            <p:cNvPr id="14" name="Rectangle 19"/>
            <p:cNvSpPr>
              <a:spLocks noChangeArrowheads="1"/>
            </p:cNvSpPr>
            <p:nvPr/>
          </p:nvSpPr>
          <p:spPr bwMode="auto">
            <a:xfrm>
              <a:off x="4429571" y="6237535"/>
              <a:ext cx="1295400" cy="431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20000"/>
                </a:spcBef>
                <a:defRPr/>
              </a:pPr>
              <a:r>
                <a:rPr lang="hu-HU" altLang="hu-HU" b="1">
                  <a:solidFill>
                    <a:srgbClr val="146614"/>
                  </a:solidFill>
                  <a:latin typeface="Arial Black" pitchFamily="34" charset="0"/>
                </a:rPr>
                <a:t>ulong</a:t>
              </a:r>
              <a:endParaRPr lang="hu-HU" altLang="hu-HU">
                <a:solidFill>
                  <a:srgbClr val="146614"/>
                </a:solidFill>
              </a:endParaRPr>
            </a:p>
          </p:txBody>
        </p:sp>
        <p:sp>
          <p:nvSpPr>
            <p:cNvPr id="15" name="Rectangle 21"/>
            <p:cNvSpPr>
              <a:spLocks noChangeArrowheads="1"/>
            </p:cNvSpPr>
            <p:nvPr/>
          </p:nvSpPr>
          <p:spPr bwMode="auto">
            <a:xfrm>
              <a:off x="1332360" y="5013573"/>
              <a:ext cx="1657350" cy="431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20000"/>
                </a:spcBef>
                <a:defRPr/>
              </a:pPr>
              <a:r>
                <a:rPr lang="hu-HU" altLang="hu-HU" sz="1400" b="1"/>
                <a:t>-32.768 .. 32.767</a:t>
              </a:r>
            </a:p>
          </p:txBody>
        </p:sp>
        <p:sp>
          <p:nvSpPr>
            <p:cNvPr id="16" name="Rectangle 22"/>
            <p:cNvSpPr>
              <a:spLocks noChangeArrowheads="1"/>
            </p:cNvSpPr>
            <p:nvPr/>
          </p:nvSpPr>
          <p:spPr bwMode="auto">
            <a:xfrm>
              <a:off x="1043435" y="5589835"/>
              <a:ext cx="1944687" cy="431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20000"/>
                </a:spcBef>
                <a:defRPr/>
              </a:pPr>
              <a:r>
                <a:rPr lang="hu-HU" altLang="hu-HU" sz="1400" b="1" dirty="0"/>
                <a:t>-2.147.483.648 ..</a:t>
              </a:r>
            </a:p>
          </p:txBody>
        </p:sp>
        <p:sp>
          <p:nvSpPr>
            <p:cNvPr id="17" name="Rectangle 23"/>
            <p:cNvSpPr>
              <a:spLocks noChangeArrowheads="1"/>
            </p:cNvSpPr>
            <p:nvPr/>
          </p:nvSpPr>
          <p:spPr bwMode="auto">
            <a:xfrm>
              <a:off x="643385" y="6166097"/>
              <a:ext cx="2344737" cy="431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20000"/>
                </a:spcBef>
                <a:defRPr/>
              </a:pPr>
              <a:r>
                <a:rPr lang="hu-HU" altLang="hu-HU" sz="1200" b="1"/>
                <a:t>-9.223.372.036.854.775.808 ..</a:t>
              </a:r>
            </a:p>
          </p:txBody>
        </p:sp>
        <p:sp>
          <p:nvSpPr>
            <p:cNvPr id="18" name="Rectangle 24"/>
            <p:cNvSpPr>
              <a:spLocks noChangeArrowheads="1"/>
            </p:cNvSpPr>
            <p:nvPr/>
          </p:nvSpPr>
          <p:spPr bwMode="auto">
            <a:xfrm>
              <a:off x="5796409" y="4437311"/>
              <a:ext cx="1081087" cy="431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defRPr/>
              </a:pPr>
              <a:r>
                <a:rPr lang="hu-HU" altLang="hu-HU" sz="1400" b="1"/>
                <a:t>0 ..255</a:t>
              </a:r>
            </a:p>
          </p:txBody>
        </p:sp>
        <p:sp>
          <p:nvSpPr>
            <p:cNvPr id="19" name="Rectangle 25"/>
            <p:cNvSpPr>
              <a:spLocks noChangeArrowheads="1"/>
            </p:cNvSpPr>
            <p:nvPr/>
          </p:nvSpPr>
          <p:spPr bwMode="auto">
            <a:xfrm>
              <a:off x="5796409" y="5013573"/>
              <a:ext cx="1296987" cy="431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defRPr/>
              </a:pPr>
              <a:r>
                <a:rPr lang="hu-HU" altLang="hu-HU" sz="1400" b="1"/>
                <a:t>0 .. 65.535</a:t>
              </a:r>
            </a:p>
          </p:txBody>
        </p:sp>
        <p:sp>
          <p:nvSpPr>
            <p:cNvPr id="20" name="Rectangle 26"/>
            <p:cNvSpPr>
              <a:spLocks noChangeArrowheads="1"/>
            </p:cNvSpPr>
            <p:nvPr/>
          </p:nvSpPr>
          <p:spPr bwMode="auto">
            <a:xfrm>
              <a:off x="5796409" y="5589835"/>
              <a:ext cx="2160587" cy="431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defRPr/>
              </a:pPr>
              <a:r>
                <a:rPr lang="hu-HU" altLang="hu-HU" sz="1400" b="1"/>
                <a:t>0 .. 4.294.967.295</a:t>
              </a:r>
            </a:p>
          </p:txBody>
        </p:sp>
        <p:sp>
          <p:nvSpPr>
            <p:cNvPr id="21" name="Rectangle 27"/>
            <p:cNvSpPr>
              <a:spLocks noChangeArrowheads="1"/>
            </p:cNvSpPr>
            <p:nvPr/>
          </p:nvSpPr>
          <p:spPr bwMode="auto">
            <a:xfrm>
              <a:off x="5796409" y="6237535"/>
              <a:ext cx="2771775" cy="431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defRPr/>
              </a:pPr>
              <a:r>
                <a:rPr lang="hu-HU" altLang="hu-HU" sz="1400" b="1"/>
                <a:t>0 .. 18.446.744.073.709.551.615</a:t>
              </a:r>
            </a:p>
          </p:txBody>
        </p:sp>
        <p:sp>
          <p:nvSpPr>
            <p:cNvPr id="9239" name="Rectangle 30"/>
            <p:cNvSpPr>
              <a:spLocks noChangeArrowheads="1"/>
            </p:cNvSpPr>
            <p:nvPr/>
          </p:nvSpPr>
          <p:spPr bwMode="auto">
            <a:xfrm>
              <a:off x="4320034" y="3861048"/>
              <a:ext cx="4356100" cy="431800"/>
            </a:xfrm>
            <a:prstGeom prst="rect">
              <a:avLst/>
            </a:prstGeom>
            <a:solidFill>
              <a:srgbClr val="FFC000">
                <a:alpha val="85097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buFontTx/>
                <a:buNone/>
              </a:pPr>
              <a:r>
                <a:rPr lang="hu-HU" altLang="hu-HU" sz="2400" b="1">
                  <a:solidFill>
                    <a:srgbClr val="146614"/>
                  </a:solidFill>
                  <a:latin typeface="Arial Black" panose="020B0A04020102020204" pitchFamily="34" charset="0"/>
                </a:rPr>
                <a:t>Előjelnélküli (unsigned)</a:t>
              </a:r>
            </a:p>
          </p:txBody>
        </p:sp>
        <p:sp>
          <p:nvSpPr>
            <p:cNvPr id="23" name="Rectangle 31"/>
            <p:cNvSpPr>
              <a:spLocks noChangeArrowheads="1"/>
            </p:cNvSpPr>
            <p:nvPr/>
          </p:nvSpPr>
          <p:spPr bwMode="auto">
            <a:xfrm>
              <a:off x="1980060" y="4437311"/>
              <a:ext cx="1008062" cy="431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>
              <a:outerShdw dist="45791" dir="3378596" algn="ctr" rotWithShape="0">
                <a:schemeClr val="tx1"/>
              </a:outerShdw>
            </a:effec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r" eaLnBrk="1" hangingPunct="1">
                <a:spcBef>
                  <a:spcPct val="20000"/>
                </a:spcBef>
                <a:defRPr/>
              </a:pPr>
              <a:r>
                <a:rPr lang="hu-HU" altLang="hu-HU" sz="1400" b="1" dirty="0"/>
                <a:t>-128 ..127</a:t>
              </a:r>
            </a:p>
          </p:txBody>
        </p:sp>
        <p:sp>
          <p:nvSpPr>
            <p:cNvPr id="24" name="Szövegdoboz 23"/>
            <p:cNvSpPr txBox="1"/>
            <p:nvPr/>
          </p:nvSpPr>
          <p:spPr>
            <a:xfrm>
              <a:off x="-180528" y="4469061"/>
              <a:ext cx="935658" cy="46166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hu-HU" dirty="0"/>
                <a:t>1 bájt</a:t>
              </a:r>
            </a:p>
          </p:txBody>
        </p:sp>
        <p:sp>
          <p:nvSpPr>
            <p:cNvPr id="25" name="Szövegdoboz 24"/>
            <p:cNvSpPr txBox="1"/>
            <p:nvPr/>
          </p:nvSpPr>
          <p:spPr>
            <a:xfrm>
              <a:off x="-169415" y="5013573"/>
              <a:ext cx="924545" cy="46166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hu-HU" dirty="0"/>
                <a:t>2 bájt</a:t>
              </a:r>
            </a:p>
          </p:txBody>
        </p:sp>
        <p:sp>
          <p:nvSpPr>
            <p:cNvPr id="26" name="Szövegdoboz 25"/>
            <p:cNvSpPr txBox="1"/>
            <p:nvPr/>
          </p:nvSpPr>
          <p:spPr>
            <a:xfrm>
              <a:off x="-169415" y="5589835"/>
              <a:ext cx="924545" cy="46166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hu-HU" dirty="0"/>
                <a:t>4 bájt</a:t>
              </a:r>
            </a:p>
          </p:txBody>
        </p:sp>
        <p:sp>
          <p:nvSpPr>
            <p:cNvPr id="27" name="Szövegdoboz 26"/>
            <p:cNvSpPr txBox="1"/>
            <p:nvPr/>
          </p:nvSpPr>
          <p:spPr>
            <a:xfrm>
              <a:off x="-180528" y="6197847"/>
              <a:ext cx="935658" cy="461665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>
                <a:defRPr/>
              </a:pPr>
              <a:r>
                <a:rPr lang="hu-HU" dirty="0"/>
                <a:t>8 bájt</a:t>
              </a:r>
            </a:p>
          </p:txBody>
        </p:sp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4"/>
          <p:cNvSpPr>
            <a:spLocks noGrp="1" noChangeArrowheads="1"/>
          </p:cNvSpPr>
          <p:nvPr>
            <p:ph type="title"/>
          </p:nvPr>
        </p:nvSpPr>
        <p:spPr>
          <a:xfrm>
            <a:off x="685799" y="400845"/>
            <a:ext cx="7772400" cy="719137"/>
          </a:xfrm>
        </p:spPr>
        <p:txBody>
          <a:bodyPr/>
          <a:lstStyle/>
          <a:p>
            <a:pPr algn="ctr"/>
            <a:r>
              <a:rPr lang="hu-HU" altLang="hu-HU" sz="4000" b="1" dirty="0"/>
              <a:t>Egyéb egyszerű típusok</a:t>
            </a:r>
          </a:p>
        </p:txBody>
      </p:sp>
      <p:graphicFrame>
        <p:nvGraphicFramePr>
          <p:cNvPr id="147644" name="Group 188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140644801"/>
              </p:ext>
            </p:extLst>
          </p:nvPr>
        </p:nvGraphicFramePr>
        <p:xfrm>
          <a:off x="287337" y="1297529"/>
          <a:ext cx="8569325" cy="5097462"/>
        </p:xfrm>
        <a:graphic>
          <a:graphicData uri="http://schemas.openxmlformats.org/drawingml/2006/table">
            <a:tbl>
              <a:tblPr/>
              <a:tblGrid>
                <a:gridCol w="1391811">
                  <a:extLst>
                    <a:ext uri="{9D8B030D-6E8A-4147-A177-3AD203B41FA5}">
                      <a16:colId xmlns:a16="http://schemas.microsoft.com/office/drawing/2014/main" val="1284246801"/>
                    </a:ext>
                  </a:extLst>
                </a:gridCol>
                <a:gridCol w="1830999">
                  <a:extLst>
                    <a:ext uri="{9D8B030D-6E8A-4147-A177-3AD203B41FA5}">
                      <a16:colId xmlns:a16="http://schemas.microsoft.com/office/drawing/2014/main" val="1758191836"/>
                    </a:ext>
                  </a:extLst>
                </a:gridCol>
                <a:gridCol w="2607245">
                  <a:extLst>
                    <a:ext uri="{9D8B030D-6E8A-4147-A177-3AD203B41FA5}">
                      <a16:colId xmlns:a16="http://schemas.microsoft.com/office/drawing/2014/main" val="1295556215"/>
                    </a:ext>
                  </a:extLst>
                </a:gridCol>
                <a:gridCol w="2739270">
                  <a:extLst>
                    <a:ext uri="{9D8B030D-6E8A-4147-A177-3AD203B41FA5}">
                      <a16:colId xmlns:a16="http://schemas.microsoft.com/office/drawing/2014/main" val="4013686795"/>
                    </a:ext>
                  </a:extLst>
                </a:gridCol>
              </a:tblGrid>
              <a:tr h="77508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Típusnév</a:t>
                      </a:r>
                    </a:p>
                  </a:txBody>
                  <a:tcPr marL="91444" marR="91444"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Méret</a:t>
                      </a:r>
                    </a:p>
                  </a:txBody>
                  <a:tcPr marL="91444" marR="91444"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Értéktartomány</a:t>
                      </a:r>
                    </a:p>
                  </a:txBody>
                  <a:tcPr marL="91444" marR="91444"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Tárolható adatok</a:t>
                      </a:r>
                    </a:p>
                  </a:txBody>
                  <a:tcPr marL="91444" marR="91444"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081518"/>
                  </a:ext>
                </a:extLst>
              </a:tr>
              <a:tr h="8230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float</a:t>
                      </a:r>
                      <a:endParaRPr kumimoji="0" lang="hu-HU" altLang="hu-H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1444" marR="91444"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4 bájt</a:t>
                      </a:r>
                    </a:p>
                  </a:txBody>
                  <a:tcPr marL="91444" marR="91444"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1,5*10</a:t>
                      </a:r>
                      <a:r>
                        <a:rPr kumimoji="0" lang="hu-HU" altLang="hu-HU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-45</a:t>
                      </a: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– től</a:t>
                      </a:r>
                      <a:b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</a:b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3,4*10</a:t>
                      </a:r>
                      <a:r>
                        <a:rPr kumimoji="0" lang="hu-HU" altLang="hu-HU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38</a:t>
                      </a: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– ig</a:t>
                      </a:r>
                    </a:p>
                  </a:txBody>
                  <a:tcPr marL="91444" marR="91444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valós számok</a:t>
                      </a:r>
                    </a:p>
                  </a:txBody>
                  <a:tcPr marL="91444" marR="91444"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221581"/>
                  </a:ext>
                </a:extLst>
              </a:tr>
              <a:tr h="8230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double</a:t>
                      </a:r>
                      <a:endParaRPr kumimoji="0" lang="hu-HU" altLang="hu-H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1444" marR="91444"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8 bájt</a:t>
                      </a:r>
                    </a:p>
                  </a:txBody>
                  <a:tcPr marL="91444" marR="91444"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5,0*10</a:t>
                      </a:r>
                      <a:r>
                        <a:rPr kumimoji="0" lang="hu-HU" altLang="hu-HU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-324</a:t>
                      </a: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– től</a:t>
                      </a:r>
                      <a:b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</a:b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1,7*10</a:t>
                      </a:r>
                      <a:r>
                        <a:rPr kumimoji="0" lang="hu-HU" altLang="hu-HU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308</a:t>
                      </a: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– ig</a:t>
                      </a:r>
                      <a:endParaRPr kumimoji="0" lang="hu-HU" altLang="hu-H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1444" marR="91444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valós számok</a:t>
                      </a:r>
                    </a:p>
                  </a:txBody>
                  <a:tcPr marL="91444" marR="91444"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080430"/>
                  </a:ext>
                </a:extLst>
              </a:tr>
              <a:tr h="82301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decimal</a:t>
                      </a:r>
                      <a:endParaRPr kumimoji="0" lang="hu-HU" altLang="hu-H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1444" marR="91444"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16 bájt</a:t>
                      </a:r>
                    </a:p>
                  </a:txBody>
                  <a:tcPr marL="91444" marR="91444"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1,0*10</a:t>
                      </a:r>
                      <a:r>
                        <a:rPr kumimoji="0" lang="hu-HU" altLang="hu-HU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-28</a:t>
                      </a: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– től</a:t>
                      </a:r>
                      <a:b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</a:b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7,9*10</a:t>
                      </a:r>
                      <a:r>
                        <a:rPr kumimoji="0" lang="hu-HU" altLang="hu-HU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28</a:t>
                      </a: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sym typeface="Symbol" panose="05050102010706020507" pitchFamily="18" charset="2"/>
                        </a:rPr>
                        <a:t> – ig</a:t>
                      </a:r>
                      <a:endParaRPr kumimoji="0" lang="hu-HU" altLang="hu-H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1444" marR="91444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valós számok</a:t>
                      </a:r>
                    </a:p>
                  </a:txBody>
                  <a:tcPr marL="91444" marR="91444"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289856"/>
                  </a:ext>
                </a:extLst>
              </a:tr>
              <a:tr h="51756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bool</a:t>
                      </a:r>
                      <a:endParaRPr kumimoji="0" lang="hu-HU" altLang="hu-H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1444" marR="91444"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 bájt</a:t>
                      </a:r>
                    </a:p>
                  </a:txBody>
                  <a:tcPr marL="91444" marR="91444"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true/false</a:t>
                      </a:r>
                    </a:p>
                  </a:txBody>
                  <a:tcPr marL="91444" marR="91444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true, false értékek</a:t>
                      </a:r>
                    </a:p>
                  </a:txBody>
                  <a:tcPr marL="91444" marR="91444"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6452506"/>
                  </a:ext>
                </a:extLst>
              </a:tr>
              <a:tr h="82296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char</a:t>
                      </a:r>
                      <a:endParaRPr kumimoji="0" lang="hu-HU" altLang="hu-H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1444" marR="91444"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2 bájt</a:t>
                      </a:r>
                    </a:p>
                  </a:txBody>
                  <a:tcPr marL="91444" marR="91444"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U-0000-tól U+FFFF-ig</a:t>
                      </a:r>
                    </a:p>
                  </a:txBody>
                  <a:tcPr marL="91444" marR="91444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1 db </a:t>
                      </a: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unicode</a:t>
                      </a:r>
                      <a:r>
                        <a:rPr kumimoji="0" lang="hu-HU" alt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karakter</a:t>
                      </a:r>
                    </a:p>
                  </a:txBody>
                  <a:tcPr marL="91444" marR="91444"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610816"/>
                  </a:ext>
                </a:extLst>
              </a:tr>
              <a:tr h="51279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string</a:t>
                      </a:r>
                      <a:endParaRPr kumimoji="0" lang="hu-HU" altLang="hu-H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1444" marR="91444" marT="45724" marB="4572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platformfüggő</a:t>
                      </a:r>
                    </a:p>
                  </a:txBody>
                  <a:tcPr marL="91444" marR="91444"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1444" marR="91444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unicode</a:t>
                      </a:r>
                      <a:r>
                        <a:rPr kumimoji="0" lang="hu-HU" altLang="hu-H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karakterláncok</a:t>
                      </a:r>
                    </a:p>
                  </a:txBody>
                  <a:tcPr marL="91444" marR="91444" marT="45724" marB="4572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210477"/>
                  </a:ext>
                </a:extLst>
              </a:tr>
            </a:tbl>
          </a:graphicData>
        </a:graphic>
      </p:graphicFrame>
      <p:sp>
        <p:nvSpPr>
          <p:cNvPr id="10242" name="Dia számának hely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E8159F-EF01-4E54-931C-21430B55A944}" type="slidenum">
              <a:rPr lang="hu-HU" altLang="hu-HU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hu-HU" altLang="hu-HU" sz="14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79728" y="269046"/>
            <a:ext cx="8642350" cy="720725"/>
          </a:xfrm>
        </p:spPr>
        <p:txBody>
          <a:bodyPr>
            <a:normAutofit/>
          </a:bodyPr>
          <a:lstStyle/>
          <a:p>
            <a:pPr algn="ctr"/>
            <a:r>
              <a:rPr lang="hu-HU" altLang="hu-HU" sz="4400" b="1" dirty="0"/>
              <a:t>Változók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idx="1"/>
          </p:nvPr>
        </p:nvSpPr>
        <p:spPr>
          <a:xfrm>
            <a:off x="215106" y="987643"/>
            <a:ext cx="8713788" cy="5761037"/>
          </a:xfrm>
        </p:spPr>
        <p:txBody>
          <a:bodyPr>
            <a:normAutofit/>
          </a:bodyPr>
          <a:lstStyle/>
          <a:p>
            <a:pPr marL="355600" indent="-320675">
              <a:lnSpc>
                <a:spcPct val="90000"/>
              </a:lnSpc>
            </a:pPr>
            <a:r>
              <a:rPr lang="hu-HU" altLang="hu-HU" sz="3200" b="1" i="1" dirty="0"/>
              <a:t>Változó</a:t>
            </a:r>
            <a:r>
              <a:rPr lang="hu-HU" altLang="hu-HU" sz="3200" dirty="0"/>
              <a:t> = névvel azonosított  memóriaterület</a:t>
            </a:r>
          </a:p>
          <a:p>
            <a:pPr marL="355600" indent="-320675">
              <a:lnSpc>
                <a:spcPct val="90000"/>
              </a:lnSpc>
            </a:pPr>
            <a:r>
              <a:rPr lang="hu-HU" altLang="hu-HU" sz="3200" dirty="0"/>
              <a:t>Egy terület a </a:t>
            </a:r>
            <a:r>
              <a:rPr lang="hu-HU" altLang="hu-HU" sz="3200" b="1" i="1" dirty="0"/>
              <a:t>memóriában</a:t>
            </a:r>
            <a:r>
              <a:rPr lang="hu-HU" altLang="hu-HU" sz="3200" dirty="0"/>
              <a:t>, ahol értékeket tárolhatunk.</a:t>
            </a:r>
          </a:p>
          <a:p>
            <a:pPr marL="355600" indent="-320675">
              <a:lnSpc>
                <a:spcPct val="90000"/>
              </a:lnSpc>
            </a:pPr>
            <a:r>
              <a:rPr lang="hu-HU" altLang="hu-HU" sz="3200" dirty="0"/>
              <a:t>Ezek az értékek </a:t>
            </a:r>
            <a:r>
              <a:rPr lang="hu-HU" altLang="hu-HU" sz="3200" b="1" i="1" dirty="0"/>
              <a:t>megváltozhatnak</a:t>
            </a:r>
            <a:r>
              <a:rPr lang="hu-HU" altLang="hu-HU" sz="3200" dirty="0"/>
              <a:t> (szemben a konstansokkal).</a:t>
            </a:r>
          </a:p>
          <a:p>
            <a:pPr marL="355600" indent="-320675">
              <a:lnSpc>
                <a:spcPct val="90000"/>
              </a:lnSpc>
            </a:pPr>
            <a:r>
              <a:rPr lang="da-DK" altLang="hu-HU" sz="3200" dirty="0"/>
              <a:t>Mi</a:t>
            </a:r>
            <a:r>
              <a:rPr lang="hu-HU" altLang="hu-HU" sz="3200" dirty="0"/>
              <a:t>vel rendelkezik </a:t>
            </a:r>
            <a:r>
              <a:rPr lang="da-DK" altLang="hu-HU" sz="3200" dirty="0"/>
              <a:t>egy változó?</a:t>
            </a:r>
            <a:endParaRPr lang="hu-HU" altLang="hu-HU" sz="3200" dirty="0"/>
          </a:p>
          <a:p>
            <a:pPr marL="904875" lvl="1" indent="-274638">
              <a:lnSpc>
                <a:spcPct val="90000"/>
              </a:lnSpc>
              <a:buFont typeface="Times New Roman" panose="02020603050405020304" pitchFamily="18" charset="0"/>
              <a:buChar char="-"/>
            </a:pPr>
            <a:r>
              <a:rPr lang="hu-HU" altLang="hu-HU" sz="2800" b="1" dirty="0"/>
              <a:t>Név</a:t>
            </a:r>
            <a:r>
              <a:rPr lang="hu-HU" altLang="hu-HU" sz="2800" dirty="0"/>
              <a:t>, </a:t>
            </a:r>
            <a:r>
              <a:rPr lang="da-DK" altLang="hu-HU" sz="2800" b="1" dirty="0"/>
              <a:t>Típus</a:t>
            </a:r>
            <a:r>
              <a:rPr lang="hu-HU" altLang="hu-HU" sz="2800" dirty="0"/>
              <a:t> (a</a:t>
            </a:r>
            <a:r>
              <a:rPr lang="da-DK" altLang="hu-HU" sz="2800" dirty="0"/>
              <a:t> lehetséges értékek halmaza</a:t>
            </a:r>
            <a:r>
              <a:rPr lang="hu-HU" altLang="hu-HU" sz="2800" dirty="0"/>
              <a:t>, mely</a:t>
            </a:r>
            <a:br>
              <a:rPr lang="da-DK" altLang="hu-HU" sz="2800" dirty="0"/>
            </a:br>
            <a:r>
              <a:rPr lang="da-DK" altLang="hu-HU" sz="2800" dirty="0"/>
              <a:t>kihat az ábrázolásra és a végezhető műveletekre</a:t>
            </a:r>
            <a:r>
              <a:rPr lang="hu-HU" altLang="hu-HU" sz="2800" dirty="0"/>
              <a:t>),</a:t>
            </a:r>
          </a:p>
          <a:p>
            <a:pPr marL="904875" lvl="1" indent="-274638">
              <a:lnSpc>
                <a:spcPct val="90000"/>
              </a:lnSpc>
              <a:buFont typeface="Times New Roman" panose="02020603050405020304" pitchFamily="18" charset="0"/>
              <a:buChar char="-"/>
            </a:pPr>
            <a:r>
              <a:rPr lang="da-DK" altLang="hu-HU" sz="2800" b="1" dirty="0"/>
              <a:t>Érték</a:t>
            </a:r>
            <a:r>
              <a:rPr lang="hu-HU" altLang="hu-HU" sz="2800" dirty="0"/>
              <a:t>, </a:t>
            </a:r>
            <a:r>
              <a:rPr lang="da-DK" altLang="hu-HU" sz="2800" b="1" dirty="0"/>
              <a:t>Hely</a:t>
            </a:r>
            <a:r>
              <a:rPr lang="da-DK" altLang="hu-HU" sz="2800" dirty="0"/>
              <a:t> (cím</a:t>
            </a:r>
            <a:r>
              <a:rPr lang="hu-HU" altLang="hu-HU" sz="2800" dirty="0"/>
              <a:t>)</a:t>
            </a:r>
            <a:r>
              <a:rPr lang="da-DK" altLang="hu-HU" sz="2800" dirty="0"/>
              <a:t> a </a:t>
            </a:r>
            <a:r>
              <a:rPr lang="hu-HU" altLang="hu-HU" sz="2800" dirty="0"/>
              <a:t>memóriában,</a:t>
            </a:r>
            <a:endParaRPr lang="da-DK" altLang="hu-HU" sz="2800" dirty="0"/>
          </a:p>
          <a:p>
            <a:pPr marL="904875" lvl="1" indent="-274638">
              <a:lnSpc>
                <a:spcPct val="90000"/>
              </a:lnSpc>
              <a:buFont typeface="Times New Roman" panose="02020603050405020304" pitchFamily="18" charset="0"/>
              <a:buChar char="-"/>
            </a:pPr>
            <a:r>
              <a:rPr lang="hu-HU" altLang="hu-HU" sz="2800" b="1" dirty="0"/>
              <a:t>Hatáskör </a:t>
            </a:r>
            <a:r>
              <a:rPr lang="hu-HU" altLang="hu-HU" sz="2800" dirty="0"/>
              <a:t>(ahol a definíció érvényben van),</a:t>
            </a:r>
            <a:r>
              <a:rPr lang="hu-HU" altLang="hu-HU" sz="2800" b="1" dirty="0"/>
              <a:t> </a:t>
            </a:r>
          </a:p>
          <a:p>
            <a:pPr marL="904875" lvl="1" indent="-274638">
              <a:lnSpc>
                <a:spcPct val="90000"/>
              </a:lnSpc>
              <a:buFont typeface="Times New Roman" panose="02020603050405020304" pitchFamily="18" charset="0"/>
              <a:buChar char="-"/>
            </a:pPr>
            <a:r>
              <a:rPr lang="hu-HU" altLang="hu-HU" sz="2800" b="1" dirty="0"/>
              <a:t>Élettartam </a:t>
            </a:r>
            <a:r>
              <a:rPr lang="hu-HU" altLang="hu-HU" sz="2800" dirty="0"/>
              <a:t>(amíg a memóriában van)</a:t>
            </a:r>
            <a:r>
              <a:rPr lang="hu-HU" altLang="hu-HU" sz="2800" b="1" dirty="0"/>
              <a:t>,</a:t>
            </a:r>
          </a:p>
          <a:p>
            <a:pPr marL="904875" lvl="1" indent="-274638">
              <a:lnSpc>
                <a:spcPct val="90000"/>
              </a:lnSpc>
              <a:buFont typeface="Times New Roman" panose="02020603050405020304" pitchFamily="18" charset="0"/>
              <a:buChar char="-"/>
            </a:pPr>
            <a:r>
              <a:rPr lang="hu-HU" altLang="hu-HU" sz="2800" b="1" dirty="0"/>
              <a:t>Láthatóság </a:t>
            </a:r>
            <a:r>
              <a:rPr lang="hu-HU" altLang="hu-HU" sz="2800" dirty="0"/>
              <a:t>(ahol elérhető).</a:t>
            </a:r>
          </a:p>
        </p:txBody>
      </p:sp>
      <p:sp>
        <p:nvSpPr>
          <p:cNvPr id="11266" name="Dia számának hely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26748B-054E-4C9D-9E28-3060AB26EB79}" type="slidenum">
              <a:rPr lang="hu-HU" altLang="hu-HU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hu-HU" altLang="hu-HU" sz="14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60127"/>
            <a:ext cx="8642350" cy="936625"/>
          </a:xfrm>
        </p:spPr>
        <p:txBody>
          <a:bodyPr/>
          <a:lstStyle/>
          <a:p>
            <a:pPr algn="ctr"/>
            <a:r>
              <a:rPr lang="hu-HU" altLang="hu-HU" b="1" dirty="0"/>
              <a:t>Változók deklarálása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043817"/>
            <a:ext cx="8713788" cy="5545137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hu-HU" altLang="hu-HU" sz="3200" b="1" dirty="0"/>
              <a:t>int</a:t>
            </a:r>
            <a:r>
              <a:rPr lang="hu-HU" altLang="hu-HU" sz="3200" dirty="0"/>
              <a:t> </a:t>
            </a:r>
            <a:r>
              <a:rPr lang="hu-HU" altLang="hu-HU" sz="3200" dirty="0" err="1"/>
              <a:t>a_valtozo</a:t>
            </a:r>
            <a:r>
              <a:rPr lang="hu-HU" altLang="hu-HU" sz="3200" dirty="0"/>
              <a:t>;</a:t>
            </a:r>
          </a:p>
          <a:p>
            <a:pPr>
              <a:buFontTx/>
              <a:buNone/>
            </a:pPr>
            <a:r>
              <a:rPr lang="hu-HU" altLang="hu-HU" sz="3200" b="1" dirty="0" err="1"/>
              <a:t>char</a:t>
            </a:r>
            <a:r>
              <a:rPr lang="hu-HU" altLang="hu-HU" sz="3200" dirty="0"/>
              <a:t> </a:t>
            </a:r>
            <a:r>
              <a:rPr lang="hu-HU" altLang="hu-HU" sz="3200" dirty="0" err="1"/>
              <a:t>b_valtozo</a:t>
            </a:r>
            <a:r>
              <a:rPr lang="hu-HU" altLang="hu-HU" sz="3200" dirty="0"/>
              <a:t>;</a:t>
            </a:r>
          </a:p>
          <a:p>
            <a:pPr>
              <a:buFontTx/>
              <a:buNone/>
            </a:pPr>
            <a:r>
              <a:rPr lang="hu-HU" altLang="hu-HU" sz="3200" b="1" dirty="0"/>
              <a:t>byte</a:t>
            </a:r>
            <a:r>
              <a:rPr lang="hu-HU" altLang="hu-HU" sz="3200" dirty="0"/>
              <a:t> </a:t>
            </a:r>
            <a:r>
              <a:rPr lang="hu-HU" altLang="hu-HU" sz="3200" dirty="0" err="1"/>
              <a:t>c_valtozo</a:t>
            </a:r>
            <a:r>
              <a:rPr lang="hu-HU" altLang="hu-HU" sz="3200" dirty="0"/>
              <a:t>;</a:t>
            </a:r>
          </a:p>
          <a:p>
            <a:pPr>
              <a:buFontTx/>
              <a:buNone/>
            </a:pPr>
            <a:r>
              <a:rPr lang="hu-HU" altLang="hu-HU" sz="3200" b="1" dirty="0" err="1"/>
              <a:t>double</a:t>
            </a:r>
            <a:r>
              <a:rPr lang="hu-HU" altLang="hu-HU" sz="3200" dirty="0"/>
              <a:t> </a:t>
            </a:r>
            <a:r>
              <a:rPr lang="hu-HU" altLang="hu-HU" sz="3200" dirty="0" err="1"/>
              <a:t>C_valtozo</a:t>
            </a:r>
            <a:r>
              <a:rPr lang="hu-HU" altLang="hu-HU" sz="3200" dirty="0"/>
              <a:t>;</a:t>
            </a:r>
          </a:p>
          <a:p>
            <a:pPr>
              <a:buFontTx/>
              <a:buNone/>
            </a:pPr>
            <a:endParaRPr lang="hu-HU" altLang="hu-HU" sz="3200" dirty="0"/>
          </a:p>
          <a:p>
            <a:pPr>
              <a:buFontTx/>
              <a:buNone/>
            </a:pPr>
            <a:r>
              <a:rPr lang="hu-HU" altLang="hu-HU" sz="3200" b="1" dirty="0" err="1"/>
              <a:t>float</a:t>
            </a:r>
            <a:r>
              <a:rPr lang="hu-HU" altLang="hu-HU" sz="3200" dirty="0"/>
              <a:t> </a:t>
            </a:r>
            <a:r>
              <a:rPr lang="hu-HU" altLang="hu-HU" sz="3200" dirty="0" err="1"/>
              <a:t>d_valtozo</a:t>
            </a:r>
            <a:r>
              <a:rPr lang="hu-HU" altLang="hu-HU" sz="3200" dirty="0"/>
              <a:t>, </a:t>
            </a:r>
            <a:r>
              <a:rPr lang="hu-HU" altLang="hu-HU" sz="3200" dirty="0" err="1"/>
              <a:t>e_valtozo</a:t>
            </a:r>
            <a:r>
              <a:rPr lang="hu-HU" altLang="hu-HU" sz="3200" dirty="0"/>
              <a:t>, </a:t>
            </a:r>
            <a:r>
              <a:rPr lang="hu-HU" altLang="hu-HU" sz="3200" dirty="0" err="1"/>
              <a:t>f_valtozo</a:t>
            </a:r>
            <a:r>
              <a:rPr lang="hu-HU" altLang="hu-HU" sz="3200" dirty="0"/>
              <a:t>;</a:t>
            </a:r>
          </a:p>
          <a:p>
            <a:pPr>
              <a:buFontTx/>
              <a:buNone/>
            </a:pPr>
            <a:endParaRPr lang="hu-HU" altLang="hu-HU" sz="3200" dirty="0"/>
          </a:p>
          <a:p>
            <a:pPr>
              <a:buFontTx/>
              <a:buNone/>
            </a:pPr>
            <a:r>
              <a:rPr lang="hu-HU" altLang="hu-HU" sz="3200" b="1" dirty="0"/>
              <a:t>int</a:t>
            </a:r>
            <a:r>
              <a:rPr lang="hu-HU" altLang="hu-HU" sz="3200" dirty="0"/>
              <a:t> </a:t>
            </a:r>
            <a:r>
              <a:rPr lang="hu-HU" altLang="hu-HU" sz="3200" dirty="0" err="1"/>
              <a:t>g_valtozo</a:t>
            </a:r>
            <a:r>
              <a:rPr lang="hu-HU" altLang="hu-HU" sz="3200" dirty="0"/>
              <a:t> = 5;</a:t>
            </a:r>
          </a:p>
          <a:p>
            <a:pPr>
              <a:buFontTx/>
              <a:buNone/>
            </a:pPr>
            <a:r>
              <a:rPr lang="hu-HU" altLang="hu-HU" sz="3200" b="1" dirty="0"/>
              <a:t>int</a:t>
            </a:r>
            <a:r>
              <a:rPr lang="hu-HU" altLang="hu-HU" sz="3200" dirty="0"/>
              <a:t> </a:t>
            </a:r>
            <a:r>
              <a:rPr lang="hu-HU" altLang="hu-HU" sz="3200" dirty="0" err="1"/>
              <a:t>h_valtozo</a:t>
            </a:r>
            <a:r>
              <a:rPr lang="hu-HU" altLang="hu-HU" sz="3200" dirty="0"/>
              <a:t> = 15, </a:t>
            </a:r>
            <a:r>
              <a:rPr lang="hu-HU" altLang="hu-HU" sz="3200" dirty="0" err="1"/>
              <a:t>i_valtozo</a:t>
            </a:r>
            <a:r>
              <a:rPr lang="hu-HU" altLang="hu-HU" sz="3200" dirty="0"/>
              <a:t> = 30;</a:t>
            </a:r>
          </a:p>
        </p:txBody>
      </p:sp>
      <p:sp>
        <p:nvSpPr>
          <p:cNvPr id="12290" name="Dia számának hely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08A305-7D28-4BFD-BFE2-81996D4DB8F0}" type="slidenum">
              <a:rPr lang="hu-HU" altLang="hu-HU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hu-HU" altLang="hu-HU" sz="1400"/>
          </a:p>
        </p:txBody>
      </p:sp>
      <p:sp>
        <p:nvSpPr>
          <p:cNvPr id="12293" name="AutoShape 4"/>
          <p:cNvSpPr>
            <a:spLocks noChangeArrowheads="1"/>
          </p:cNvSpPr>
          <p:nvPr/>
        </p:nvSpPr>
        <p:spPr bwMode="auto">
          <a:xfrm>
            <a:off x="3132138" y="1196752"/>
            <a:ext cx="5761037" cy="1368425"/>
          </a:xfrm>
          <a:prstGeom prst="horizontalScroll">
            <a:avLst>
              <a:gd name="adj" fmla="val 12500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hu-HU" altLang="hu-HU" sz="4000" b="1"/>
              <a:t>típus</a:t>
            </a:r>
            <a:r>
              <a:rPr lang="hu-HU" altLang="hu-HU" sz="4000"/>
              <a:t> változó = érték;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286544" y="215489"/>
            <a:ext cx="8642350" cy="936625"/>
          </a:xfrm>
        </p:spPr>
        <p:txBody>
          <a:bodyPr/>
          <a:lstStyle/>
          <a:p>
            <a:pPr algn="ctr"/>
            <a:r>
              <a:rPr lang="hu-HU" altLang="hu-HU" b="1" dirty="0"/>
              <a:t>Állandók deklarálása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125538"/>
            <a:ext cx="8713788" cy="3887787"/>
          </a:xfrm>
        </p:spPr>
        <p:txBody>
          <a:bodyPr>
            <a:normAutofit/>
          </a:bodyPr>
          <a:lstStyle/>
          <a:p>
            <a:pPr marL="355600" indent="-320675">
              <a:lnSpc>
                <a:spcPct val="90000"/>
              </a:lnSpc>
              <a:tabLst>
                <a:tab pos="1257300" algn="l"/>
              </a:tabLst>
            </a:pPr>
            <a:r>
              <a:rPr lang="hu-HU" altLang="hu-HU" sz="3200" dirty="0"/>
              <a:t>Adattároló memóriaterületek.</a:t>
            </a:r>
          </a:p>
          <a:p>
            <a:pPr marL="355600" indent="-320675">
              <a:lnSpc>
                <a:spcPct val="90000"/>
              </a:lnSpc>
              <a:tabLst>
                <a:tab pos="1257300" algn="l"/>
              </a:tabLst>
            </a:pPr>
            <a:r>
              <a:rPr lang="hu-HU" altLang="hu-HU" sz="3200" dirty="0"/>
              <a:t>Értékük nem változhat meg.</a:t>
            </a:r>
          </a:p>
          <a:p>
            <a:pPr marL="355600" indent="-320675">
              <a:lnSpc>
                <a:spcPct val="90000"/>
              </a:lnSpc>
              <a:tabLst>
                <a:tab pos="1257300" algn="l"/>
              </a:tabLst>
            </a:pPr>
            <a:r>
              <a:rPr lang="hu-HU" altLang="hu-HU" sz="3200" dirty="0"/>
              <a:t>Meghatározáskor értéket kell adnunk, mely később már nem változtatható meg a programból.</a:t>
            </a:r>
          </a:p>
          <a:p>
            <a:pPr marL="355600" indent="-320675">
              <a:lnSpc>
                <a:spcPct val="90000"/>
              </a:lnSpc>
              <a:tabLst>
                <a:tab pos="1257300" algn="l"/>
              </a:tabLst>
            </a:pPr>
            <a:r>
              <a:rPr lang="hu-HU" altLang="hu-HU" sz="3200" dirty="0"/>
              <a:t>Pl.:</a:t>
            </a:r>
          </a:p>
          <a:p>
            <a:pPr>
              <a:lnSpc>
                <a:spcPct val="90000"/>
              </a:lnSpc>
              <a:buFontTx/>
              <a:buNone/>
              <a:tabLst>
                <a:tab pos="1257300" algn="l"/>
              </a:tabLst>
            </a:pPr>
            <a:r>
              <a:rPr lang="hu-HU" altLang="hu-HU" sz="3200" b="1" dirty="0"/>
              <a:t>		const int</a:t>
            </a:r>
            <a:r>
              <a:rPr lang="hu-HU" altLang="hu-HU" sz="3200" dirty="0"/>
              <a:t> </a:t>
            </a:r>
            <a:r>
              <a:rPr lang="hu-HU" altLang="hu-HU" sz="3200" dirty="0" err="1"/>
              <a:t>letszam</a:t>
            </a:r>
            <a:r>
              <a:rPr lang="hu-HU" altLang="hu-HU" sz="3200" dirty="0"/>
              <a:t> = 35 ;</a:t>
            </a:r>
          </a:p>
          <a:p>
            <a:pPr>
              <a:lnSpc>
                <a:spcPct val="90000"/>
              </a:lnSpc>
              <a:buFontTx/>
              <a:buNone/>
              <a:tabLst>
                <a:tab pos="1257300" algn="l"/>
              </a:tabLst>
            </a:pPr>
            <a:r>
              <a:rPr lang="hu-HU" altLang="hu-HU" sz="3200" b="1" dirty="0"/>
              <a:t>		const </a:t>
            </a:r>
            <a:r>
              <a:rPr lang="hu-HU" altLang="hu-HU" sz="3200" b="1" dirty="0" err="1"/>
              <a:t>float</a:t>
            </a:r>
            <a:r>
              <a:rPr lang="hu-HU" altLang="hu-HU" sz="3200" b="1" dirty="0"/>
              <a:t> </a:t>
            </a:r>
            <a:r>
              <a:rPr lang="hu-HU" altLang="hu-HU" sz="3200" dirty="0"/>
              <a:t>pi =</a:t>
            </a:r>
            <a:r>
              <a:rPr lang="hu-HU" altLang="hu-HU" sz="3200" b="1" dirty="0"/>
              <a:t> </a:t>
            </a:r>
            <a:r>
              <a:rPr lang="hu-HU" altLang="hu-HU" sz="3200" dirty="0"/>
              <a:t>3.141592f ;</a:t>
            </a:r>
          </a:p>
        </p:txBody>
      </p:sp>
      <p:sp>
        <p:nvSpPr>
          <p:cNvPr id="13314" name="Dia számának hely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B382D7-E157-47B2-B0B8-6D870D6EAEC1}" type="slidenum">
              <a:rPr lang="hu-HU" altLang="hu-HU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hu-HU" altLang="hu-HU" sz="1400"/>
          </a:p>
        </p:txBody>
      </p:sp>
      <p:sp>
        <p:nvSpPr>
          <p:cNvPr id="13317" name="AutoShape 4"/>
          <p:cNvSpPr>
            <a:spLocks noChangeArrowheads="1"/>
          </p:cNvSpPr>
          <p:nvPr/>
        </p:nvSpPr>
        <p:spPr bwMode="auto">
          <a:xfrm>
            <a:off x="611188" y="5013325"/>
            <a:ext cx="7920037" cy="1368425"/>
          </a:xfrm>
          <a:prstGeom prst="horizontalScroll">
            <a:avLst>
              <a:gd name="adj" fmla="val 12500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hu-HU" altLang="hu-HU" sz="4000" b="1" dirty="0"/>
              <a:t>const típus</a:t>
            </a:r>
            <a:r>
              <a:rPr lang="hu-HU" altLang="hu-HU" sz="4000" dirty="0"/>
              <a:t> név = érték;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2" y="359604"/>
            <a:ext cx="7772400" cy="720725"/>
          </a:xfrm>
        </p:spPr>
        <p:txBody>
          <a:bodyPr/>
          <a:lstStyle/>
          <a:p>
            <a:pPr algn="ctr"/>
            <a:r>
              <a:rPr lang="hu-HU" altLang="hu-HU" b="1" dirty="0"/>
              <a:t>Literálok 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>
          <a:xfrm>
            <a:off x="285749" y="1080329"/>
            <a:ext cx="8569325" cy="5868987"/>
          </a:xfrm>
        </p:spPr>
        <p:txBody>
          <a:bodyPr>
            <a:normAutofit/>
          </a:bodyPr>
          <a:lstStyle/>
          <a:p>
            <a:pPr marL="355600" indent="-320675"/>
            <a:r>
              <a:rPr lang="hu-HU" altLang="hu-HU" sz="3200" dirty="0"/>
              <a:t>Amikor programunkban egy </a:t>
            </a:r>
            <a:r>
              <a:rPr lang="hu-HU" altLang="hu-HU" sz="3200" b="1" i="1" dirty="0"/>
              <a:t>konkrét</a:t>
            </a:r>
            <a:r>
              <a:rPr lang="hu-HU" altLang="hu-HU" sz="3200" dirty="0"/>
              <a:t> értéket szeretnénk használni.</a:t>
            </a:r>
          </a:p>
          <a:p>
            <a:pPr marL="355600" indent="-320675"/>
            <a:r>
              <a:rPr lang="hu-HU" altLang="hu-HU" sz="3200" dirty="0"/>
              <a:t>A </a:t>
            </a:r>
            <a:r>
              <a:rPr lang="hu-HU" altLang="hu-HU" sz="3200" b="1" i="1" dirty="0"/>
              <a:t>literálok</a:t>
            </a:r>
            <a:r>
              <a:rPr lang="hu-HU" altLang="hu-HU" sz="3200" dirty="0"/>
              <a:t> egyszerű, rögzített értékek, </a:t>
            </a:r>
            <a:br>
              <a:rPr lang="hu-HU" altLang="hu-HU" sz="3200" dirty="0"/>
            </a:br>
            <a:r>
              <a:rPr lang="hu-HU" altLang="hu-HU" sz="3200" b="1" i="1" dirty="0"/>
              <a:t>név nélküli konstansok</a:t>
            </a:r>
            <a:r>
              <a:rPr lang="hu-HU" altLang="hu-HU" sz="3200" dirty="0"/>
              <a:t>.</a:t>
            </a:r>
          </a:p>
          <a:p>
            <a:pPr marL="355600" indent="-320675"/>
            <a:r>
              <a:rPr lang="hu-HU" altLang="hu-HU" sz="3200" dirty="0"/>
              <a:t>A literál típusa kikövetkeztethető az értékéből (implicit).</a:t>
            </a:r>
          </a:p>
          <a:p>
            <a:pPr marL="355600" indent="-320675"/>
            <a:r>
              <a:rPr lang="hu-HU" altLang="hu-HU" sz="3200" dirty="0"/>
              <a:t>Fajtái:</a:t>
            </a:r>
          </a:p>
          <a:p>
            <a:pPr marL="630238" lvl="1" indent="-274638">
              <a:buFont typeface="Times New Roman" panose="02020603050405020304" pitchFamily="18" charset="0"/>
              <a:buChar char="-"/>
            </a:pPr>
            <a:r>
              <a:rPr lang="hu-HU" altLang="hu-HU" sz="2800" dirty="0"/>
              <a:t>Szám literálok (egész, valós),</a:t>
            </a:r>
          </a:p>
          <a:p>
            <a:pPr marL="630238" lvl="1" indent="-274638">
              <a:buFont typeface="Times New Roman" panose="02020603050405020304" pitchFamily="18" charset="0"/>
              <a:buChar char="-"/>
            </a:pPr>
            <a:r>
              <a:rPr lang="hu-HU" altLang="hu-HU" sz="2800" dirty="0"/>
              <a:t>Logikai literálok,</a:t>
            </a:r>
          </a:p>
          <a:p>
            <a:pPr marL="630238" lvl="1" indent="-274638">
              <a:buFont typeface="Times New Roman" panose="02020603050405020304" pitchFamily="18" charset="0"/>
              <a:buChar char="-"/>
            </a:pPr>
            <a:r>
              <a:rPr lang="hu-HU" altLang="hu-HU" sz="2800" dirty="0"/>
              <a:t>Karakter, </a:t>
            </a:r>
          </a:p>
          <a:p>
            <a:pPr marL="630238" lvl="1" indent="-274638">
              <a:buFont typeface="Times New Roman" panose="02020603050405020304" pitchFamily="18" charset="0"/>
              <a:buChar char="-"/>
            </a:pPr>
            <a:r>
              <a:rPr lang="hu-HU" altLang="hu-HU" sz="2800" dirty="0"/>
              <a:t>Karakterlánc (</a:t>
            </a:r>
            <a:r>
              <a:rPr lang="hu-HU" altLang="hu-HU" sz="2800" dirty="0" err="1"/>
              <a:t>string</a:t>
            </a:r>
            <a:r>
              <a:rPr lang="hu-HU" altLang="hu-HU" sz="2800" dirty="0"/>
              <a:t>) literálok.</a:t>
            </a:r>
          </a:p>
        </p:txBody>
      </p:sp>
      <p:sp>
        <p:nvSpPr>
          <p:cNvPr id="14338" name="Dia számának hely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7450D7-AC04-4B72-8C91-BAECC7689BC1}" type="slidenum">
              <a:rPr lang="hu-HU" altLang="hu-HU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hu-HU" altLang="hu-HU" sz="140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ím 1"/>
          <p:cNvSpPr>
            <a:spLocks noGrp="1"/>
          </p:cNvSpPr>
          <p:nvPr>
            <p:ph type="title"/>
          </p:nvPr>
        </p:nvSpPr>
        <p:spPr>
          <a:xfrm>
            <a:off x="721519" y="136680"/>
            <a:ext cx="7772400" cy="822016"/>
          </a:xfrm>
        </p:spPr>
        <p:txBody>
          <a:bodyPr/>
          <a:lstStyle/>
          <a:p>
            <a:pPr algn="ctr"/>
            <a:r>
              <a:rPr lang="hu-HU" altLang="hu-HU" b="1" dirty="0"/>
              <a:t>Egész literálok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50825" y="958697"/>
            <a:ext cx="8713788" cy="5710392"/>
          </a:xfrm>
        </p:spPr>
        <p:txBody>
          <a:bodyPr>
            <a:normAutofit fontScale="92500" lnSpcReduction="10000"/>
          </a:bodyPr>
          <a:lstStyle/>
          <a:p>
            <a:pPr marL="355600" indent="-320675">
              <a:defRPr/>
            </a:pPr>
            <a:r>
              <a:rPr lang="hu-HU" sz="3200" dirty="0"/>
              <a:t>Alapértelmezetten decimális egész</a:t>
            </a:r>
          </a:p>
          <a:p>
            <a:pPr marL="355600" indent="-320675">
              <a:defRPr/>
            </a:pPr>
            <a:r>
              <a:rPr lang="hu-HU" sz="3200" dirty="0"/>
              <a:t>Ha hexadecimális egész, így kezdődik: </a:t>
            </a:r>
            <a:br>
              <a:rPr lang="hu-HU" sz="3200" dirty="0"/>
            </a:b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0x</a:t>
            </a:r>
            <a:r>
              <a:rPr lang="hu-HU" sz="3200" dirty="0"/>
              <a:t> vagy 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0X</a:t>
            </a:r>
            <a:b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hu-HU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5600" indent="-320675">
              <a:buNone/>
              <a:defRPr/>
            </a:pPr>
            <a:endParaRPr lang="hu-HU" sz="1300" dirty="0"/>
          </a:p>
          <a:p>
            <a:pPr marL="355600" indent="-320675">
              <a:defRPr/>
            </a:pPr>
            <a:r>
              <a:rPr lang="hu-HU" sz="3200" dirty="0"/>
              <a:t>Literál típusa:</a:t>
            </a:r>
          </a:p>
          <a:p>
            <a:pPr marL="630238" lvl="1" indent="-274638">
              <a:buFont typeface="Times New Roman" panose="02020603050405020304" pitchFamily="18" charset="0"/>
              <a:buChar char="-"/>
              <a:defRPr/>
            </a:pPr>
            <a:r>
              <a:rPr lang="hu-HU" sz="3000" dirty="0"/>
              <a:t>alapértelmezetten </a:t>
            </a:r>
            <a:r>
              <a:rPr lang="hu-HU" sz="3000" b="1" dirty="0"/>
              <a:t>int</a:t>
            </a:r>
          </a:p>
          <a:p>
            <a:pPr marL="630238" lvl="1" indent="-274638">
              <a:buFont typeface="Times New Roman" panose="02020603050405020304" pitchFamily="18" charset="0"/>
              <a:buChar char="-"/>
              <a:defRPr/>
            </a:pPr>
            <a:r>
              <a:rPr lang="hu-HU" sz="3000" dirty="0"/>
              <a:t>ha nem elegendő: </a:t>
            </a:r>
            <a:r>
              <a:rPr lang="hu-HU" sz="3000" b="1" dirty="0"/>
              <a:t>int</a:t>
            </a:r>
            <a:r>
              <a:rPr lang="hu-HU" sz="3000" dirty="0"/>
              <a:t> -&gt; </a:t>
            </a:r>
            <a:r>
              <a:rPr lang="hu-HU" sz="3000" b="1" dirty="0" err="1"/>
              <a:t>uint</a:t>
            </a:r>
            <a:r>
              <a:rPr lang="hu-HU" sz="3000" dirty="0"/>
              <a:t> -&gt; </a:t>
            </a:r>
            <a:r>
              <a:rPr lang="hu-HU" sz="3000" b="1" dirty="0" err="1"/>
              <a:t>long</a:t>
            </a:r>
            <a:r>
              <a:rPr lang="hu-HU" sz="3000" dirty="0"/>
              <a:t> -&gt; </a:t>
            </a:r>
            <a:r>
              <a:rPr lang="hu-HU" sz="3000" b="1" dirty="0" err="1"/>
              <a:t>ulong</a:t>
            </a:r>
            <a:endParaRPr lang="hu-HU" sz="3000" b="1" dirty="0"/>
          </a:p>
          <a:p>
            <a:pPr marL="355600" indent="-320675">
              <a:defRPr/>
            </a:pPr>
            <a:r>
              <a:rPr lang="hu-HU" sz="3200" dirty="0"/>
              <a:t>A literál típusa </a:t>
            </a:r>
            <a:r>
              <a:rPr lang="hu-HU" sz="3200" b="1" i="1" dirty="0"/>
              <a:t>módosítható</a:t>
            </a:r>
            <a:r>
              <a:rPr lang="hu-HU" sz="3200" dirty="0"/>
              <a:t> a literál után írt módosítókkal: (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L l</a:t>
            </a:r>
            <a:r>
              <a:rPr lang="hu-HU" sz="3200" dirty="0"/>
              <a:t> = </a:t>
            </a:r>
            <a:r>
              <a:rPr lang="hu-HU" sz="3200" dirty="0" err="1"/>
              <a:t>long</a:t>
            </a:r>
            <a:r>
              <a:rPr lang="hu-HU" sz="3200" dirty="0"/>
              <a:t>, 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U </a:t>
            </a:r>
            <a:r>
              <a:rPr lang="hu-HU" sz="3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r>
              <a:rPr lang="hu-HU" sz="3200" dirty="0"/>
              <a:t> = </a:t>
            </a:r>
            <a:r>
              <a:rPr lang="hu-HU" sz="3200" dirty="0" err="1"/>
              <a:t>unsigned</a:t>
            </a:r>
            <a:r>
              <a:rPr lang="hu-HU" sz="3200" dirty="0"/>
              <a:t>)</a:t>
            </a:r>
          </a:p>
          <a:p>
            <a:pPr marL="355600" indent="-320675">
              <a:defRPr/>
            </a:pPr>
            <a:r>
              <a:rPr lang="hu-HU" sz="3200" dirty="0"/>
              <a:t>Ilyenkor a kis- és nagybetűk </a:t>
            </a:r>
            <a:r>
              <a:rPr lang="hu-HU" sz="3200" b="1" i="1" dirty="0"/>
              <a:t>nem különböznek</a:t>
            </a:r>
            <a:r>
              <a:rPr lang="hu-HU" sz="3200" dirty="0"/>
              <a:t>, az 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u </a:t>
            </a:r>
            <a:r>
              <a:rPr lang="hu-HU" sz="3200" dirty="0">
                <a:cs typeface="Courier New" panose="02070309020205020404" pitchFamily="49" charset="0"/>
              </a:rPr>
              <a:t>és az </a:t>
            </a:r>
            <a:r>
              <a:rPr lang="hu-HU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hu-HU" sz="3200" dirty="0">
                <a:cs typeface="Courier New" panose="02070309020205020404" pitchFamily="49" charset="0"/>
              </a:rPr>
              <a:t> együtt is alkalmazhatóak ugyanarra a literálra, a </a:t>
            </a:r>
            <a:r>
              <a:rPr lang="hu-HU" sz="3200" u="sng" dirty="0">
                <a:cs typeface="Courier New" panose="02070309020205020404" pitchFamily="49" charset="0"/>
              </a:rPr>
              <a:t>sorrend sem számít</a:t>
            </a:r>
            <a:r>
              <a:rPr lang="hu-HU" sz="3200" dirty="0">
                <a:cs typeface="Courier New" panose="02070309020205020404" pitchFamily="49" charset="0"/>
              </a:rPr>
              <a:t>.</a:t>
            </a:r>
            <a:endParaRPr lang="hu-HU" sz="3200" dirty="0"/>
          </a:p>
          <a:p>
            <a:pPr>
              <a:defRPr/>
            </a:pPr>
            <a:endParaRPr lang="hu-HU" sz="3200" dirty="0"/>
          </a:p>
        </p:txBody>
      </p:sp>
      <p:sp>
        <p:nvSpPr>
          <p:cNvPr id="15364" name="Rectangle 7"/>
          <p:cNvSpPr>
            <a:spLocks noChangeArrowheads="1"/>
          </p:cNvSpPr>
          <p:nvPr/>
        </p:nvSpPr>
        <p:spPr bwMode="auto">
          <a:xfrm>
            <a:off x="6863125" y="764704"/>
            <a:ext cx="1021243" cy="720725"/>
          </a:xfrm>
          <a:prstGeom prst="rect">
            <a:avLst/>
          </a:prstGeom>
          <a:solidFill>
            <a:srgbClr val="CCFF99"/>
          </a:solidFill>
          <a:ln>
            <a:noFill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 sz="2000" b="1">
                <a:latin typeface="Arial Black" panose="020B0A04020102020204" pitchFamily="34" charset="0"/>
              </a:rPr>
              <a:t>182</a:t>
            </a:r>
          </a:p>
          <a:p>
            <a:pPr>
              <a:buFontTx/>
              <a:buNone/>
            </a:pPr>
            <a:r>
              <a:rPr lang="hu-HU" altLang="hu-HU" sz="2000" b="1">
                <a:latin typeface="Arial Black" panose="020B0A04020102020204" pitchFamily="34" charset="0"/>
              </a:rPr>
              <a:t>-14</a:t>
            </a:r>
          </a:p>
        </p:txBody>
      </p:sp>
      <p:sp>
        <p:nvSpPr>
          <p:cNvPr id="15365" name="Rectangle 7"/>
          <p:cNvSpPr>
            <a:spLocks noChangeArrowheads="1"/>
          </p:cNvSpPr>
          <p:nvPr/>
        </p:nvSpPr>
        <p:spPr bwMode="auto">
          <a:xfrm>
            <a:off x="3131840" y="2060848"/>
            <a:ext cx="1655763" cy="720725"/>
          </a:xfrm>
          <a:prstGeom prst="rect">
            <a:avLst/>
          </a:prstGeom>
          <a:solidFill>
            <a:srgbClr val="CCFF99"/>
          </a:solidFill>
          <a:ln>
            <a:noFill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 sz="2000" b="1" dirty="0">
                <a:latin typeface="Arial Black" panose="020B0A04020102020204" pitchFamily="34" charset="0"/>
              </a:rPr>
              <a:t>0xB6</a:t>
            </a:r>
          </a:p>
          <a:p>
            <a:pPr>
              <a:buFontTx/>
              <a:buNone/>
            </a:pPr>
            <a:r>
              <a:rPr lang="hu-HU" altLang="hu-HU" sz="2000" b="1" dirty="0">
                <a:latin typeface="Arial Black" panose="020B0A04020102020204" pitchFamily="34" charset="0"/>
              </a:rPr>
              <a:t>-0x3E1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77301"/>
            <a:ext cx="7772400" cy="954087"/>
          </a:xfrm>
        </p:spPr>
        <p:txBody>
          <a:bodyPr/>
          <a:lstStyle/>
          <a:p>
            <a:pPr algn="ctr"/>
            <a:r>
              <a:rPr lang="hu-HU" altLang="hu-HU" b="1" dirty="0"/>
              <a:t>Valós literálok 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196975"/>
            <a:ext cx="7989887" cy="5400675"/>
          </a:xfrm>
        </p:spPr>
        <p:txBody>
          <a:bodyPr/>
          <a:lstStyle/>
          <a:p>
            <a:pPr marL="355600" indent="-320675">
              <a:lnSpc>
                <a:spcPct val="90000"/>
              </a:lnSpc>
              <a:spcBef>
                <a:spcPts val="1800"/>
              </a:spcBef>
              <a:defRPr/>
            </a:pPr>
            <a:r>
              <a:rPr lang="hu-HU" altLang="hu-HU" sz="3200" dirty="0"/>
              <a:t>Alapértelmezés szerint ”</a:t>
            </a:r>
            <a:r>
              <a:rPr lang="hu-HU" altLang="hu-HU" sz="3200" b="1" dirty="0" err="1"/>
              <a:t>double</a:t>
            </a:r>
            <a:r>
              <a:rPr lang="hu-HU" altLang="hu-HU" sz="3200" dirty="0"/>
              <a:t>” típusúak.</a:t>
            </a:r>
          </a:p>
          <a:p>
            <a:pPr marL="355600" indent="-320675">
              <a:lnSpc>
                <a:spcPct val="90000"/>
              </a:lnSpc>
              <a:spcBef>
                <a:spcPts val="1800"/>
              </a:spcBef>
              <a:defRPr/>
            </a:pPr>
            <a:r>
              <a:rPr lang="hu-HU" altLang="hu-HU" sz="3200" dirty="0"/>
              <a:t>Ha ”</a:t>
            </a:r>
            <a:r>
              <a:rPr lang="hu-HU" altLang="hu-HU" sz="3200" b="1" dirty="0" err="1"/>
              <a:t>float</a:t>
            </a:r>
            <a:r>
              <a:rPr lang="hu-HU" altLang="hu-HU" sz="3200" dirty="0"/>
              <a:t>” típust szeretnénk használni, az érték után kell írni az „</a:t>
            </a:r>
            <a:r>
              <a:rPr lang="hu-HU" altLang="hu-HU" sz="3200" b="1" dirty="0"/>
              <a:t>f</a:t>
            </a:r>
            <a:r>
              <a:rPr lang="hu-HU" altLang="hu-HU" sz="3200" dirty="0"/>
              <a:t>” vagy „</a:t>
            </a:r>
            <a:r>
              <a:rPr lang="hu-HU" altLang="hu-HU" sz="3200" b="1" dirty="0"/>
              <a:t>F</a:t>
            </a:r>
            <a:r>
              <a:rPr lang="hu-HU" altLang="hu-HU" sz="3200" dirty="0"/>
              <a:t>” karaktert.</a:t>
            </a:r>
          </a:p>
          <a:p>
            <a:pPr marL="355600" indent="-320675">
              <a:lnSpc>
                <a:spcPct val="90000"/>
              </a:lnSpc>
              <a:spcBef>
                <a:spcPts val="1800"/>
              </a:spcBef>
              <a:buFontTx/>
              <a:buNone/>
              <a:defRPr/>
            </a:pPr>
            <a:endParaRPr lang="hu-HU" altLang="hu-HU" sz="3200" dirty="0"/>
          </a:p>
          <a:p>
            <a:pPr marL="355600" indent="-320675">
              <a:lnSpc>
                <a:spcPct val="90000"/>
              </a:lnSpc>
              <a:spcBef>
                <a:spcPts val="1800"/>
              </a:spcBef>
              <a:defRPr/>
            </a:pPr>
            <a:r>
              <a:rPr lang="hu-HU" sz="3200" dirty="0"/>
              <a:t>Megadhatjuk tizedestört alakban:</a:t>
            </a:r>
          </a:p>
          <a:p>
            <a:pPr marL="355600" indent="-320675">
              <a:spcBef>
                <a:spcPts val="1800"/>
              </a:spcBef>
              <a:buFontTx/>
              <a:buNone/>
              <a:defRPr/>
            </a:pPr>
            <a:endParaRPr lang="hu-HU" sz="3200" dirty="0"/>
          </a:p>
          <a:p>
            <a:pPr marL="355600" indent="-320675">
              <a:spcBef>
                <a:spcPts val="1800"/>
              </a:spcBef>
              <a:defRPr/>
            </a:pPr>
            <a:r>
              <a:rPr lang="hu-HU" sz="3200" dirty="0"/>
              <a:t>Megadhatjuk normál alakban is:</a:t>
            </a:r>
          </a:p>
          <a:p>
            <a:pPr>
              <a:lnSpc>
                <a:spcPct val="90000"/>
              </a:lnSpc>
              <a:defRPr/>
            </a:pPr>
            <a:endParaRPr lang="hu-HU" altLang="hu-HU" dirty="0"/>
          </a:p>
        </p:txBody>
      </p:sp>
      <p:sp>
        <p:nvSpPr>
          <p:cNvPr id="16386" name="Dia számának hely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0F7A6A-5C3C-4F77-8D94-08B4DBD09AD7}" type="slidenum">
              <a:rPr lang="hu-HU" altLang="hu-HU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hu-HU" altLang="hu-HU" sz="1400"/>
          </a:p>
        </p:txBody>
      </p:sp>
      <p:sp>
        <p:nvSpPr>
          <p:cNvPr id="16389" name="Rectangle 7"/>
          <p:cNvSpPr>
            <a:spLocks noChangeArrowheads="1"/>
          </p:cNvSpPr>
          <p:nvPr/>
        </p:nvSpPr>
        <p:spPr bwMode="auto">
          <a:xfrm>
            <a:off x="6784975" y="3716338"/>
            <a:ext cx="1655763" cy="504825"/>
          </a:xfrm>
          <a:prstGeom prst="rect">
            <a:avLst/>
          </a:prstGeom>
          <a:solidFill>
            <a:srgbClr val="CCFF99"/>
          </a:solidFill>
          <a:ln>
            <a:noFill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 sz="2000" b="1" dirty="0">
                <a:latin typeface="Arial Black" panose="020B0A04020102020204" pitchFamily="34" charset="0"/>
              </a:rPr>
              <a:t>-12.2321</a:t>
            </a:r>
          </a:p>
        </p:txBody>
      </p:sp>
      <p:sp>
        <p:nvSpPr>
          <p:cNvPr id="16390" name="Rectangle 7"/>
          <p:cNvSpPr>
            <a:spLocks noChangeArrowheads="1"/>
          </p:cNvSpPr>
          <p:nvPr/>
        </p:nvSpPr>
        <p:spPr bwMode="auto">
          <a:xfrm>
            <a:off x="6784975" y="5021263"/>
            <a:ext cx="1655763" cy="863600"/>
          </a:xfrm>
          <a:prstGeom prst="rect">
            <a:avLst/>
          </a:prstGeom>
          <a:solidFill>
            <a:srgbClr val="CCFF99"/>
          </a:solidFill>
          <a:ln>
            <a:noFill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 sz="2000" b="1" dirty="0">
                <a:latin typeface="Arial Black" panose="020B0A04020102020204" pitchFamily="34" charset="0"/>
              </a:rPr>
              <a:t>5.87E-12</a:t>
            </a:r>
          </a:p>
          <a:p>
            <a:pPr>
              <a:buFontTx/>
              <a:buNone/>
            </a:pPr>
            <a:r>
              <a:rPr lang="hu-HU" altLang="hu-HU" sz="2000" b="1" dirty="0">
                <a:latin typeface="Arial Black" panose="020B0A04020102020204" pitchFamily="34" charset="0"/>
              </a:rPr>
              <a:t>-1.339e8</a:t>
            </a:r>
          </a:p>
        </p:txBody>
      </p:sp>
      <p:sp>
        <p:nvSpPr>
          <p:cNvPr id="16391" name="Rectangle 7"/>
          <p:cNvSpPr>
            <a:spLocks noChangeArrowheads="1"/>
          </p:cNvSpPr>
          <p:nvPr/>
        </p:nvSpPr>
        <p:spPr bwMode="auto">
          <a:xfrm>
            <a:off x="2411413" y="2924175"/>
            <a:ext cx="3673475" cy="504825"/>
          </a:xfrm>
          <a:prstGeom prst="rect">
            <a:avLst/>
          </a:prstGeom>
          <a:solidFill>
            <a:srgbClr val="CCFF99"/>
          </a:solidFill>
          <a:ln>
            <a:noFill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 sz="2000" b="1">
                <a:latin typeface="Arial Black" panose="020B0A04020102020204" pitchFamily="34" charset="0"/>
              </a:rPr>
              <a:t>a = 165000f ;</a:t>
            </a: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260350"/>
            <a:ext cx="7772400" cy="865188"/>
          </a:xfrm>
        </p:spPr>
        <p:txBody>
          <a:bodyPr/>
          <a:lstStyle/>
          <a:p>
            <a:pPr algn="ctr"/>
            <a:r>
              <a:rPr lang="hu-HU" altLang="hu-HU" b="1" dirty="0"/>
              <a:t>Logikai literálok 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684213" y="1341438"/>
            <a:ext cx="7772400" cy="1303337"/>
          </a:xfrm>
        </p:spPr>
        <p:txBody>
          <a:bodyPr>
            <a:normAutofit fontScale="92500"/>
          </a:bodyPr>
          <a:lstStyle/>
          <a:p>
            <a:pPr marL="355600" indent="-320675"/>
            <a:r>
              <a:rPr lang="hu-HU" altLang="hu-HU" sz="3600" dirty="0"/>
              <a:t>A logikai literálok esetében a </a:t>
            </a:r>
            <a:r>
              <a:rPr lang="hu-HU" altLang="hu-HU" sz="3600" i="1" dirty="0" err="1"/>
              <a:t>true</a:t>
            </a:r>
            <a:r>
              <a:rPr lang="hu-HU" altLang="hu-HU" sz="3600" i="1" dirty="0"/>
              <a:t> </a:t>
            </a:r>
            <a:r>
              <a:rPr lang="hu-HU" altLang="hu-HU" sz="3600" dirty="0"/>
              <a:t>és </a:t>
            </a:r>
            <a:r>
              <a:rPr lang="hu-HU" altLang="hu-HU" sz="3600" i="1" dirty="0" err="1"/>
              <a:t>false</a:t>
            </a:r>
            <a:r>
              <a:rPr lang="hu-HU" altLang="hu-HU" sz="3600" i="1" dirty="0"/>
              <a:t> </a:t>
            </a:r>
            <a:r>
              <a:rPr lang="hu-HU" altLang="hu-HU" sz="3600" dirty="0"/>
              <a:t>kulcsszavakkal adható meg az érték. </a:t>
            </a:r>
          </a:p>
        </p:txBody>
      </p:sp>
      <p:sp>
        <p:nvSpPr>
          <p:cNvPr id="17410" name="Dia számának hely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29524C-E724-4A49-B0DC-7F91B0041B94}" type="slidenum">
              <a:rPr lang="hu-HU" altLang="hu-HU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hu-HU" altLang="hu-HU" sz="1400"/>
          </a:p>
        </p:txBody>
      </p:sp>
      <p:sp>
        <p:nvSpPr>
          <p:cNvPr id="17413" name="Rectangle 4"/>
          <p:cNvSpPr>
            <a:spLocks noChangeArrowheads="1"/>
          </p:cNvSpPr>
          <p:nvPr/>
        </p:nvSpPr>
        <p:spPr bwMode="auto">
          <a:xfrm>
            <a:off x="611188" y="2708275"/>
            <a:ext cx="8137525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hu-HU" altLang="hu-HU" sz="4000" b="1" dirty="0">
                <a:solidFill>
                  <a:schemeClr val="tx2"/>
                </a:solidFill>
              </a:rPr>
              <a:t>Karakter, karakterlánc literálok </a:t>
            </a:r>
          </a:p>
        </p:txBody>
      </p:sp>
      <p:sp>
        <p:nvSpPr>
          <p:cNvPr id="17414" name="Rectangle 5"/>
          <p:cNvSpPr>
            <a:spLocks noChangeArrowheads="1"/>
          </p:cNvSpPr>
          <p:nvPr/>
        </p:nvSpPr>
        <p:spPr bwMode="auto">
          <a:xfrm>
            <a:off x="755650" y="3933825"/>
            <a:ext cx="7848600" cy="237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hu-HU" altLang="hu-HU" dirty="0"/>
              <a:t>A karakter  literált </a:t>
            </a:r>
            <a:r>
              <a:rPr lang="en-US" altLang="hu-HU" dirty="0">
                <a:cs typeface="Times New Roman" panose="02020603050405020304" pitchFamily="18" charset="0"/>
              </a:rPr>
              <a:t>'</a:t>
            </a:r>
            <a:r>
              <a:rPr lang="hu-HU" altLang="hu-HU" dirty="0">
                <a:cs typeface="Times New Roman" panose="02020603050405020304" pitchFamily="18" charset="0"/>
              </a:rPr>
              <a:t>  </a:t>
            </a:r>
            <a:r>
              <a:rPr lang="en-US" altLang="hu-HU" dirty="0">
                <a:cs typeface="Times New Roman" panose="02020603050405020304" pitchFamily="18" charset="0"/>
              </a:rPr>
              <a:t>'</a:t>
            </a:r>
            <a:r>
              <a:rPr lang="hu-HU" altLang="hu-HU" dirty="0"/>
              <a:t> (aposztróf) jelek között adjuk meg.</a:t>
            </a:r>
          </a:p>
          <a:p>
            <a:r>
              <a:rPr lang="hu-HU" altLang="hu-HU" dirty="0"/>
              <a:t>A karaktersorozat (</a:t>
            </a:r>
            <a:r>
              <a:rPr lang="hu-HU" altLang="hu-HU" dirty="0" err="1"/>
              <a:t>string</a:t>
            </a:r>
            <a:r>
              <a:rPr lang="hu-HU" altLang="hu-HU" dirty="0"/>
              <a:t>) literált </a:t>
            </a:r>
            <a:r>
              <a:rPr lang="en-US" altLang="hu-HU" dirty="0">
                <a:cs typeface="Times New Roman" panose="02020603050405020304" pitchFamily="18" charset="0"/>
              </a:rPr>
              <a:t>"</a:t>
            </a:r>
            <a:r>
              <a:rPr lang="hu-HU" altLang="hu-HU" dirty="0">
                <a:cs typeface="Times New Roman" panose="02020603050405020304" pitchFamily="18" charset="0"/>
              </a:rPr>
              <a:t> </a:t>
            </a:r>
            <a:r>
              <a:rPr lang="en-US" altLang="hu-HU" dirty="0">
                <a:cs typeface="Times New Roman" panose="02020603050405020304" pitchFamily="18" charset="0"/>
              </a:rPr>
              <a:t>"</a:t>
            </a:r>
            <a:r>
              <a:rPr lang="hu-HU" altLang="hu-HU" dirty="0"/>
              <a:t> (idéző) jelek között adjuk meg. 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ím 1"/>
          <p:cNvSpPr>
            <a:spLocks noGrp="1"/>
          </p:cNvSpPr>
          <p:nvPr>
            <p:ph type="title"/>
          </p:nvPr>
        </p:nvSpPr>
        <p:spPr>
          <a:xfrm>
            <a:off x="674688" y="53975"/>
            <a:ext cx="7772400" cy="1143000"/>
          </a:xfrm>
        </p:spPr>
        <p:txBody>
          <a:bodyPr/>
          <a:lstStyle/>
          <a:p>
            <a:pPr algn="ctr"/>
            <a:r>
              <a:rPr lang="hu-HU" altLang="hu-HU" b="1" dirty="0"/>
              <a:t>Karakter literálok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215106" y="908720"/>
            <a:ext cx="8713788" cy="5603875"/>
          </a:xfrm>
        </p:spPr>
        <p:txBody>
          <a:bodyPr>
            <a:normAutofit/>
          </a:bodyPr>
          <a:lstStyle/>
          <a:p>
            <a:pPr marL="355600" indent="-320675">
              <a:defRPr/>
            </a:pPr>
            <a:r>
              <a:rPr lang="hu-HU" sz="3200" dirty="0"/>
              <a:t>Megadási módok karakter literál megadására</a:t>
            </a:r>
          </a:p>
          <a:p>
            <a:pPr marL="663575" lvl="1" indent="-307975">
              <a:buFont typeface="Times New Roman" panose="02020603050405020304" pitchFamily="18" charset="0"/>
              <a:buChar char="-"/>
              <a:defRPr/>
            </a:pPr>
            <a:r>
              <a:rPr lang="hu-HU" sz="2800" dirty="0"/>
              <a:t>betű</a:t>
            </a:r>
          </a:p>
          <a:p>
            <a:pPr marL="663575" lvl="1" indent="-307975">
              <a:buFont typeface="Times New Roman" panose="02020603050405020304" pitchFamily="18" charset="0"/>
              <a:buChar char="-"/>
              <a:defRPr/>
            </a:pPr>
            <a:r>
              <a:rPr lang="hu-HU" sz="2800" dirty="0"/>
              <a:t>hexadecimális karakter kód: </a:t>
            </a:r>
          </a:p>
          <a:p>
            <a:pPr marL="663575" lvl="1" indent="-307975">
              <a:buFont typeface="Times New Roman" panose="02020603050405020304" pitchFamily="18" charset="0"/>
              <a:buChar char="-"/>
              <a:defRPr/>
            </a:pPr>
            <a:r>
              <a:rPr lang="hu-HU" sz="2800" dirty="0"/>
              <a:t>Unicode karakter kód:</a:t>
            </a:r>
          </a:p>
          <a:p>
            <a:pPr marL="663575" lvl="1" indent="-307975">
              <a:buFont typeface="Times New Roman" panose="02020603050405020304" pitchFamily="18" charset="0"/>
              <a:buChar char="-"/>
              <a:defRPr/>
            </a:pPr>
            <a:r>
              <a:rPr lang="hu-HU" sz="2800" dirty="0"/>
              <a:t>Vezérlőkarakterek (</a:t>
            </a:r>
            <a:r>
              <a:rPr lang="hu-HU" sz="2800" dirty="0" err="1"/>
              <a:t>escape</a:t>
            </a:r>
            <a:r>
              <a:rPr lang="hu-HU" sz="2800" dirty="0"/>
              <a:t> szekvencia)</a:t>
            </a:r>
          </a:p>
          <a:p>
            <a:pPr marL="355600" indent="-320675" eaLnBrk="1" hangingPunct="1">
              <a:lnSpc>
                <a:spcPct val="80000"/>
              </a:lnSpc>
              <a:defRPr/>
            </a:pPr>
            <a:r>
              <a:rPr lang="hu-HU" altLang="hu-HU" sz="3200" b="1" dirty="0" err="1"/>
              <a:t>Escape</a:t>
            </a:r>
            <a:r>
              <a:rPr lang="hu-HU" altLang="hu-HU" sz="3200" b="1" dirty="0"/>
              <a:t> szekvencia:</a:t>
            </a:r>
          </a:p>
          <a:p>
            <a:pPr marL="363538" lvl="1" indent="0" eaLnBrk="1" hangingPunct="1">
              <a:lnSpc>
                <a:spcPct val="80000"/>
              </a:lnSpc>
              <a:buFontTx/>
              <a:buNone/>
              <a:defRPr/>
            </a:pPr>
            <a:r>
              <a:rPr lang="hu-HU" altLang="hu-HU" sz="3200" dirty="0"/>
              <a:t>A szövegekben a </a:t>
            </a:r>
            <a:r>
              <a:rPr lang="hu-HU" altLang="hu-HU" sz="3200" b="1" dirty="0"/>
              <a:t>\</a:t>
            </a:r>
            <a:r>
              <a:rPr lang="hu-HU" altLang="hu-HU" sz="3200" dirty="0"/>
              <a:t> (</a:t>
            </a:r>
            <a:r>
              <a:rPr lang="hu-HU" altLang="hu-HU" sz="3200" dirty="0" err="1"/>
              <a:t>backslash</a:t>
            </a:r>
            <a:r>
              <a:rPr lang="hu-HU" altLang="hu-HU" sz="3200" dirty="0"/>
              <a:t>) jel után álló karakterek máshogy viselkednek. Pl.:</a:t>
            </a:r>
          </a:p>
          <a:p>
            <a:pPr lvl="2" eaLnBrk="1" hangingPunct="1">
              <a:lnSpc>
                <a:spcPct val="80000"/>
              </a:lnSpc>
              <a:buFontTx/>
              <a:buNone/>
              <a:defRPr/>
            </a:pPr>
            <a:r>
              <a:rPr lang="hu-HU" altLang="hu-HU" sz="4000" dirty="0"/>
              <a:t>	</a:t>
            </a:r>
            <a:r>
              <a:rPr lang="hu-HU" altLang="hu-HU" sz="3200" dirty="0"/>
              <a:t>\n – sortörés			\t – vízszintes tabulátor	</a:t>
            </a:r>
          </a:p>
          <a:p>
            <a:pPr lvl="2">
              <a:lnSpc>
                <a:spcPct val="80000"/>
              </a:lnSpc>
              <a:buNone/>
              <a:defRPr/>
            </a:pPr>
            <a:r>
              <a:rPr lang="hu-HU" altLang="hu-HU" sz="3200" dirty="0"/>
              <a:t> \r – kocsi vissza 		\’ – aposztróf</a:t>
            </a:r>
          </a:p>
          <a:p>
            <a:pPr lvl="2" eaLnBrk="1" hangingPunct="1">
              <a:lnSpc>
                <a:spcPct val="80000"/>
              </a:lnSpc>
              <a:buFontTx/>
              <a:buNone/>
              <a:defRPr/>
            </a:pPr>
            <a:r>
              <a:rPr lang="hu-HU" altLang="hu-HU" sz="3200" dirty="0"/>
              <a:t>	\</a:t>
            </a:r>
            <a:r>
              <a:rPr lang="en-US" altLang="hu-HU" sz="3200" dirty="0">
                <a:cs typeface="Times New Roman" panose="02020603050405020304" pitchFamily="18" charset="0"/>
              </a:rPr>
              <a:t>"</a:t>
            </a:r>
            <a:r>
              <a:rPr lang="hu-HU" altLang="hu-HU" sz="3200" dirty="0"/>
              <a:t> – idézőjel			\\ – </a:t>
            </a:r>
            <a:r>
              <a:rPr lang="hu-HU" altLang="hu-HU" sz="3200" dirty="0" err="1"/>
              <a:t>backslash</a:t>
            </a:r>
            <a:endParaRPr lang="hu-HU" altLang="hu-HU" sz="3200" dirty="0"/>
          </a:p>
          <a:p>
            <a:pPr lvl="2" eaLnBrk="1" hangingPunct="1">
              <a:lnSpc>
                <a:spcPct val="80000"/>
              </a:lnSpc>
              <a:buFontTx/>
              <a:buNone/>
              <a:defRPr/>
            </a:pPr>
            <a:r>
              <a:rPr lang="hu-HU" altLang="hu-HU" sz="3200" dirty="0"/>
              <a:t>	</a:t>
            </a:r>
          </a:p>
        </p:txBody>
      </p:sp>
      <p:sp>
        <p:nvSpPr>
          <p:cNvPr id="18436" name="Rectangle 7"/>
          <p:cNvSpPr>
            <a:spLocks noChangeArrowheads="1"/>
          </p:cNvSpPr>
          <p:nvPr/>
        </p:nvSpPr>
        <p:spPr bwMode="auto">
          <a:xfrm>
            <a:off x="1979712" y="1374057"/>
            <a:ext cx="2016224" cy="364988"/>
          </a:xfrm>
          <a:prstGeom prst="rect">
            <a:avLst/>
          </a:prstGeom>
          <a:solidFill>
            <a:srgbClr val="CCFF99"/>
          </a:solidFill>
          <a:ln>
            <a:noFill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hu-HU" altLang="hu-HU" sz="2000" b="1" dirty="0">
                <a:latin typeface="Arial Black" panose="020B0A04020102020204" pitchFamily="34" charset="0"/>
              </a:rPr>
              <a:t>’Z’		’?’</a:t>
            </a:r>
          </a:p>
        </p:txBody>
      </p:sp>
      <p:sp>
        <p:nvSpPr>
          <p:cNvPr id="18437" name="Rectangle 7"/>
          <p:cNvSpPr>
            <a:spLocks noChangeArrowheads="1"/>
          </p:cNvSpPr>
          <p:nvPr/>
        </p:nvSpPr>
        <p:spPr bwMode="auto">
          <a:xfrm>
            <a:off x="5184875" y="1739045"/>
            <a:ext cx="1223962" cy="417512"/>
          </a:xfrm>
          <a:prstGeom prst="rect">
            <a:avLst/>
          </a:prstGeom>
          <a:solidFill>
            <a:srgbClr val="CCFF99"/>
          </a:solidFill>
          <a:ln>
            <a:noFill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hu-HU" altLang="hu-HU" sz="2000" b="1" dirty="0">
                <a:latin typeface="Arial Black" panose="020B0A04020102020204" pitchFamily="34" charset="0"/>
              </a:rPr>
              <a:t>’\x6D’</a:t>
            </a:r>
          </a:p>
        </p:txBody>
      </p:sp>
      <p:sp>
        <p:nvSpPr>
          <p:cNvPr id="18438" name="Rectangle 7"/>
          <p:cNvSpPr>
            <a:spLocks noChangeArrowheads="1"/>
          </p:cNvSpPr>
          <p:nvPr/>
        </p:nvSpPr>
        <p:spPr bwMode="auto">
          <a:xfrm>
            <a:off x="4283968" y="2281115"/>
            <a:ext cx="1512888" cy="417512"/>
          </a:xfrm>
          <a:prstGeom prst="rect">
            <a:avLst/>
          </a:prstGeom>
          <a:solidFill>
            <a:srgbClr val="CCFF99"/>
          </a:solidFill>
          <a:ln>
            <a:noFill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buFontTx/>
              <a:buNone/>
            </a:pPr>
            <a:r>
              <a:rPr lang="hu-HU" altLang="hu-HU" sz="2000" b="1" dirty="0">
                <a:latin typeface="Arial Black" panose="020B0A04020102020204" pitchFamily="34" charset="0"/>
              </a:rPr>
              <a:t>’\u042E’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ím 1"/>
          <p:cNvSpPr>
            <a:spLocks noGrp="1"/>
          </p:cNvSpPr>
          <p:nvPr>
            <p:ph type="title"/>
          </p:nvPr>
        </p:nvSpPr>
        <p:spPr>
          <a:xfrm>
            <a:off x="614363" y="306388"/>
            <a:ext cx="7772400" cy="1143000"/>
          </a:xfrm>
        </p:spPr>
        <p:txBody>
          <a:bodyPr/>
          <a:lstStyle/>
          <a:p>
            <a:pPr algn="ctr"/>
            <a:r>
              <a:rPr lang="hu-HU" altLang="hu-HU" b="1" dirty="0"/>
              <a:t>Karakterlánc (</a:t>
            </a:r>
            <a:r>
              <a:rPr lang="hu-HU" altLang="hu-HU" b="1" dirty="0" err="1"/>
              <a:t>sztring</a:t>
            </a:r>
            <a:r>
              <a:rPr lang="hu-HU" altLang="hu-HU" b="1" dirty="0"/>
              <a:t>) literálok</a:t>
            </a:r>
          </a:p>
        </p:txBody>
      </p:sp>
      <p:sp>
        <p:nvSpPr>
          <p:cNvPr id="19459" name="Tartalom helye 2"/>
          <p:cNvSpPr>
            <a:spLocks noGrp="1"/>
          </p:cNvSpPr>
          <p:nvPr>
            <p:ph idx="1"/>
          </p:nvPr>
        </p:nvSpPr>
        <p:spPr>
          <a:xfrm>
            <a:off x="685800" y="1449388"/>
            <a:ext cx="7772400" cy="4646612"/>
          </a:xfrm>
        </p:spPr>
        <p:txBody>
          <a:bodyPr>
            <a:normAutofit/>
          </a:bodyPr>
          <a:lstStyle/>
          <a:p>
            <a:pPr marL="355600" indent="-320675"/>
            <a:r>
              <a:rPr lang="hu-HU" altLang="hu-HU" sz="3200" dirty="0"/>
              <a:t>Idézőjelek között:</a:t>
            </a:r>
          </a:p>
          <a:p>
            <a:endParaRPr lang="hu-HU" altLang="hu-HU" sz="3200" dirty="0"/>
          </a:p>
          <a:p>
            <a:endParaRPr lang="hu-HU" altLang="hu-HU" sz="3200" dirty="0"/>
          </a:p>
          <a:p>
            <a:pPr marL="355600" indent="-320675"/>
            <a:r>
              <a:rPr lang="hu-HU" altLang="hu-HU" sz="3200" dirty="0"/>
              <a:t>@ előtag betű szerinti (</a:t>
            </a:r>
            <a:r>
              <a:rPr lang="hu-HU" altLang="hu-HU" sz="3200" b="1" i="1" dirty="0" err="1"/>
              <a:t>verbatim</a:t>
            </a:r>
            <a:r>
              <a:rPr lang="hu-HU" altLang="hu-HU" sz="3200" dirty="0"/>
              <a:t>) módba kapcsol, vagyis az </a:t>
            </a:r>
            <a:r>
              <a:rPr lang="hu-HU" altLang="hu-HU" sz="3200" dirty="0" err="1"/>
              <a:t>escape</a:t>
            </a:r>
            <a:r>
              <a:rPr lang="hu-HU" altLang="hu-HU" sz="3200" dirty="0"/>
              <a:t> karakterek </a:t>
            </a:r>
            <a:r>
              <a:rPr lang="hu-HU" altLang="hu-HU" sz="3200" u="sng" dirty="0"/>
              <a:t>nem lesznek feldolgozva</a:t>
            </a:r>
            <a:r>
              <a:rPr lang="hu-HU" altLang="hu-HU" sz="3200" dirty="0"/>
              <a:t>:</a:t>
            </a:r>
          </a:p>
        </p:txBody>
      </p:sp>
      <p:sp>
        <p:nvSpPr>
          <p:cNvPr id="19460" name="Rectangle 7"/>
          <p:cNvSpPr>
            <a:spLocks noChangeArrowheads="1"/>
          </p:cNvSpPr>
          <p:nvPr/>
        </p:nvSpPr>
        <p:spPr bwMode="auto">
          <a:xfrm>
            <a:off x="900112" y="1988840"/>
            <a:ext cx="7343775" cy="935038"/>
          </a:xfrm>
          <a:prstGeom prst="rect">
            <a:avLst/>
          </a:prstGeom>
          <a:solidFill>
            <a:srgbClr val="CCFF99"/>
          </a:solidFill>
          <a:ln>
            <a:noFill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 sz="2000" b="1" dirty="0">
                <a:latin typeface="Arial Black" panose="020B0A04020102020204" pitchFamily="34" charset="0"/>
              </a:rPr>
              <a:t>”hello”</a:t>
            </a:r>
          </a:p>
          <a:p>
            <a:pPr>
              <a:buFontTx/>
              <a:buNone/>
            </a:pPr>
            <a:r>
              <a:rPr lang="hu-HU" altLang="hu-HU" sz="2000" b="1" dirty="0">
                <a:latin typeface="Arial Black" panose="020B0A04020102020204" pitchFamily="34" charset="0"/>
              </a:rPr>
              <a:t>”C:\\Microsoft\x20Office”</a:t>
            </a:r>
          </a:p>
        </p:txBody>
      </p:sp>
      <p:sp>
        <p:nvSpPr>
          <p:cNvPr id="19461" name="Rectangle 7"/>
          <p:cNvSpPr>
            <a:spLocks noChangeArrowheads="1"/>
          </p:cNvSpPr>
          <p:nvPr/>
        </p:nvSpPr>
        <p:spPr bwMode="auto">
          <a:xfrm>
            <a:off x="900112" y="4797152"/>
            <a:ext cx="7345362" cy="936625"/>
          </a:xfrm>
          <a:prstGeom prst="rect">
            <a:avLst/>
          </a:prstGeom>
          <a:solidFill>
            <a:srgbClr val="CCFF99"/>
          </a:solidFill>
          <a:ln>
            <a:noFill/>
          </a:ln>
          <a:effectLst>
            <a:outerShdw dist="45791" dir="3378596" algn="ctr" rotWithShape="0">
              <a:schemeClr val="tx1"/>
            </a:outerShdw>
          </a:effec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buFontTx/>
              <a:buNone/>
            </a:pPr>
            <a:r>
              <a:rPr lang="hu-HU" altLang="hu-HU" sz="2000" b="1" dirty="0">
                <a:latin typeface="Arial Black" panose="020B0A04020102020204" pitchFamily="34" charset="0"/>
              </a:rPr>
              <a:t>@”C:\Microsoft</a:t>
            </a:r>
            <a:r>
              <a:rPr lang="hu-HU" altLang="hu-HU" sz="2000" b="1" dirty="0">
                <a:solidFill>
                  <a:srgbClr val="FF0000"/>
                </a:solidFill>
                <a:latin typeface="Arial Black" panose="020B0A04020102020204" pitchFamily="34" charset="0"/>
              </a:rPr>
              <a:t>\x20</a:t>
            </a:r>
            <a:r>
              <a:rPr lang="hu-HU" altLang="hu-HU" sz="2000" b="1" dirty="0">
                <a:latin typeface="Arial Black" panose="020B0A04020102020204" pitchFamily="34" charset="0"/>
              </a:rPr>
              <a:t>Office”</a:t>
            </a:r>
          </a:p>
          <a:p>
            <a:pPr>
              <a:buFontTx/>
              <a:buNone/>
            </a:pPr>
            <a:r>
              <a:rPr lang="hu-HU" altLang="hu-HU" sz="2000" b="1" dirty="0">
                <a:latin typeface="Arial Black" panose="020B0A04020102020204" pitchFamily="34" charset="0"/>
              </a:rPr>
              <a:t>@”C:\Microsoft Office”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ázis">
  <a:themeElements>
    <a:clrScheme name="Zöld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áz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áz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-té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Bázis</Template>
  <TotalTime>2671</TotalTime>
  <Words>1025</Words>
  <Application>Microsoft Office PowerPoint</Application>
  <PresentationFormat>Diavetítés a képernyőre (4:3 oldalarány)</PresentationFormat>
  <Paragraphs>330</Paragraphs>
  <Slides>16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16</vt:i4>
      </vt:variant>
    </vt:vector>
  </HeadingPairs>
  <TitlesOfParts>
    <vt:vector size="23" baseType="lpstr">
      <vt:lpstr>Arial</vt:lpstr>
      <vt:lpstr>Arial Black</vt:lpstr>
      <vt:lpstr>Calibri</vt:lpstr>
      <vt:lpstr>Corbel</vt:lpstr>
      <vt:lpstr>Courier New</vt:lpstr>
      <vt:lpstr>Times New Roman</vt:lpstr>
      <vt:lpstr>Bázis</vt:lpstr>
      <vt:lpstr>Magasszintű programnyelvek I.</vt:lpstr>
      <vt:lpstr>Azonosítók</vt:lpstr>
      <vt:lpstr>A C# kulcsszavai (foglalt szavak)</vt:lpstr>
      <vt:lpstr>Beépített típusok</vt:lpstr>
      <vt:lpstr>A C# beépített típusai</vt:lpstr>
      <vt:lpstr>Egész típusok</vt:lpstr>
      <vt:lpstr>Egyéb egyszerű típusok</vt:lpstr>
      <vt:lpstr>Változók</vt:lpstr>
      <vt:lpstr>Változók deklarálása</vt:lpstr>
      <vt:lpstr>Állandók deklarálása</vt:lpstr>
      <vt:lpstr>Literálok </vt:lpstr>
      <vt:lpstr>Egész literálok</vt:lpstr>
      <vt:lpstr>Valós literálok </vt:lpstr>
      <vt:lpstr>Logikai literálok </vt:lpstr>
      <vt:lpstr>Karakter literálok</vt:lpstr>
      <vt:lpstr>Karakterlánc (sztring) literálok</vt:lpstr>
    </vt:vector>
  </TitlesOfParts>
  <Company>rrr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térinformatika gyakorlati oktatása Vidékfejlesztési szakirányon</dc:title>
  <dc:creator>ppp</dc:creator>
  <cp:lastModifiedBy>Dr. Pántya Róbert</cp:lastModifiedBy>
  <cp:revision>394</cp:revision>
  <cp:lastPrinted>2020-09-22T06:30:38Z</cp:lastPrinted>
  <dcterms:created xsi:type="dcterms:W3CDTF">2002-08-24T19:27:11Z</dcterms:created>
  <dcterms:modified xsi:type="dcterms:W3CDTF">2026-09-11T11:58:15Z</dcterms:modified>
</cp:coreProperties>
</file>