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23" r:id="rId1"/>
  </p:sldMasterIdLst>
  <p:notesMasterIdLst>
    <p:notesMasterId r:id="rId31"/>
  </p:notesMasterIdLst>
  <p:handoutMasterIdLst>
    <p:handoutMasterId r:id="rId32"/>
  </p:handoutMasterIdLst>
  <p:sldIdLst>
    <p:sldId id="313" r:id="rId2"/>
    <p:sldId id="256" r:id="rId3"/>
    <p:sldId id="339" r:id="rId4"/>
    <p:sldId id="257" r:id="rId5"/>
    <p:sldId id="288" r:id="rId6"/>
    <p:sldId id="292" r:id="rId7"/>
    <p:sldId id="259" r:id="rId8"/>
    <p:sldId id="293" r:id="rId9"/>
    <p:sldId id="328" r:id="rId10"/>
    <p:sldId id="340" r:id="rId11"/>
    <p:sldId id="341" r:id="rId12"/>
    <p:sldId id="312" r:id="rId13"/>
    <p:sldId id="316" r:id="rId14"/>
    <p:sldId id="318" r:id="rId15"/>
    <p:sldId id="317" r:id="rId16"/>
    <p:sldId id="319" r:id="rId17"/>
    <p:sldId id="320" r:id="rId18"/>
    <p:sldId id="321" r:id="rId19"/>
    <p:sldId id="322" r:id="rId20"/>
    <p:sldId id="327" r:id="rId21"/>
    <p:sldId id="324" r:id="rId22"/>
    <p:sldId id="325" r:id="rId23"/>
    <p:sldId id="294" r:id="rId24"/>
    <p:sldId id="295" r:id="rId25"/>
    <p:sldId id="296" r:id="rId26"/>
    <p:sldId id="329" r:id="rId27"/>
    <p:sldId id="330" r:id="rId28"/>
    <p:sldId id="331" r:id="rId29"/>
    <p:sldId id="332" r:id="rId30"/>
  </p:sldIdLst>
  <p:sldSz cx="9144000" cy="6858000" type="screen4x3"/>
  <p:notesSz cx="10234613" cy="70993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FFFF99"/>
    <a:srgbClr val="FFFF00"/>
    <a:srgbClr val="FFFFCC"/>
    <a:srgbClr val="CC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7" autoAdjust="0"/>
    <p:restoredTop sz="94660"/>
  </p:normalViewPr>
  <p:slideViewPr>
    <p:cSldViewPr>
      <p:cViewPr varScale="1">
        <p:scale>
          <a:sx n="75" d="100"/>
          <a:sy n="75" d="100"/>
        </p:scale>
        <p:origin x="170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9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DDCC108B-00C5-EAB9-9EE5-A09E24F9CC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2A07F3F-6E99-81C3-C132-BBA348A529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19744D95-C1B9-C087-399E-D9DE1FE2CDF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075AD18E-97DC-FF0A-E443-6C278C7EE73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989037BF-F98C-4611-84A9-B2B19D75B617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98FB2DA5-A0E6-4753-959E-5B72901625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6B60C66-BDD8-47D9-110B-0F2C17E87F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C4496F4-7314-1E00-4D0C-74DCE34D7AA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46E6212C-1653-6DAA-840E-6CE934BAD7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noProof="0"/>
              <a:t>Mintaszöveg szerkesztése</a:t>
            </a:r>
          </a:p>
          <a:p>
            <a:pPr lvl="1"/>
            <a:r>
              <a:rPr lang="hu-HU" altLang="hu-HU" noProof="0"/>
              <a:t>Második szint</a:t>
            </a:r>
          </a:p>
          <a:p>
            <a:pPr lvl="2"/>
            <a:r>
              <a:rPr lang="hu-HU" altLang="hu-HU" noProof="0"/>
              <a:t>Harmadik szint</a:t>
            </a:r>
          </a:p>
          <a:p>
            <a:pPr lvl="3"/>
            <a:r>
              <a:rPr lang="hu-HU" altLang="hu-HU" noProof="0"/>
              <a:t>Negyedik szint</a:t>
            </a:r>
          </a:p>
          <a:p>
            <a:pPr lvl="4"/>
            <a:r>
              <a:rPr lang="hu-HU" altLang="hu-HU" noProof="0"/>
              <a:t>Ötödik szint</a:t>
            </a:r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C6F09CE6-F43E-8B78-852E-56F6ECD2EA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BC799E50-3F30-EA8B-E8EB-DC45E1D02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648C2EB-4D33-4E42-B462-747CEEA8361E}" type="slidenum">
              <a:rPr lang="hu-HU" altLang="hu-HU"/>
              <a:pPr/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0223A67-C516-4227-8F0E-DA0B8408AE01}" type="slidenum">
              <a:rPr lang="hu-HU" altLang="hu-HU" smtClean="0"/>
              <a:pPr/>
              <a:t>‹#›</a:t>
            </a:fld>
            <a:endParaRPr lang="hu-HU" altLang="hu-H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527215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2906329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12A1A-5011-4398-8700-E22ADBAA09B7}" type="slidenum">
              <a:rPr lang="hu-HU" altLang="hu-HU" smtClean="0"/>
              <a:pPr/>
              <a:t>‹#›</a:t>
            </a:fld>
            <a:endParaRPr lang="hu-HU" altLang="hu-H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378820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1824841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44292097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2B285-7AF2-4011-9124-46B60A4A8A38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610199448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11A25-F9D4-46D4-907C-AA7A1A79A49C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73254819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6487173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8627521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8654804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7410092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EA3991-8740-489F-A2A7-8F32143AC417}" type="slidenum">
              <a:rPr lang="hu-HU" altLang="hu-HU" smtClean="0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96327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ransition>
    <p:cover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igaux.org/language-study/diagram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546F45E-9AEE-0D82-FFE8-90CE3662B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04664"/>
            <a:ext cx="8001000" cy="2232025"/>
          </a:xfrm>
        </p:spPr>
        <p:txBody>
          <a:bodyPr/>
          <a:lstStyle/>
          <a:p>
            <a:r>
              <a:rPr lang="hu-HU" altLang="hu-HU" sz="4600" dirty="0"/>
              <a:t>Magasszintű programnyelvek I.</a:t>
            </a:r>
            <a:endParaRPr lang="hu-HU" altLang="hu-HU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3EC4496-B00E-42C0-FA50-31D4A9E2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44" y="4149080"/>
            <a:ext cx="8001000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Készítette: Dr. Pántya Róbert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pantya.robert@uni-mate.hu</a:t>
            </a:r>
            <a:endParaRPr lang="hu-HU" altLang="hu-HU" sz="4400" dirty="0">
              <a:solidFill>
                <a:schemeClr val="bg1"/>
              </a:solidFill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E99CB505-6843-95AD-307D-9663EE040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44" y="2564904"/>
            <a:ext cx="8001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1.előadás</a:t>
            </a:r>
            <a:endParaRPr lang="hu-HU" altLang="hu-H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3">
            <a:extLst>
              <a:ext uri="{FF2B5EF4-FFF2-40B4-BE49-F238E27FC236}">
                <a16:creationId xmlns:a16="http://schemas.microsoft.com/office/drawing/2014/main" id="{50315AB9-B340-A599-B6D8-D69B61B5D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743075"/>
            <a:ext cx="2286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/>
              <a:t>Számítógép</a:t>
            </a:r>
          </a:p>
        </p:txBody>
      </p:sp>
      <p:sp>
        <p:nvSpPr>
          <p:cNvPr id="5123" name="Line 14">
            <a:extLst>
              <a:ext uri="{FF2B5EF4-FFF2-40B4-BE49-F238E27FC236}">
                <a16:creationId xmlns:a16="http://schemas.microsoft.com/office/drawing/2014/main" id="{2438E594-5A85-2286-C04E-706433CA5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9716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124" name="Text Box 15">
            <a:extLst>
              <a:ext uri="{FF2B5EF4-FFF2-40B4-BE49-F238E27FC236}">
                <a16:creationId xmlns:a16="http://schemas.microsoft.com/office/drawing/2014/main" id="{4E5CEC4F-8FBE-D22E-D810-B6C5364BC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43075"/>
            <a:ext cx="2133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 dirty="0"/>
              <a:t>Bemenő adatok</a:t>
            </a:r>
          </a:p>
        </p:txBody>
      </p:sp>
      <p:sp>
        <p:nvSpPr>
          <p:cNvPr id="5125" name="Text Box 16">
            <a:extLst>
              <a:ext uri="{FF2B5EF4-FFF2-40B4-BE49-F238E27FC236}">
                <a16:creationId xmlns:a16="http://schemas.microsoft.com/office/drawing/2014/main" id="{CAC0059B-05B2-2DAC-44D8-4616B78ED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743075"/>
            <a:ext cx="2133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/>
              <a:t>Kimenő adatok</a:t>
            </a:r>
          </a:p>
        </p:txBody>
      </p:sp>
      <p:sp>
        <p:nvSpPr>
          <p:cNvPr id="5126" name="Line 17">
            <a:extLst>
              <a:ext uri="{FF2B5EF4-FFF2-40B4-BE49-F238E27FC236}">
                <a16:creationId xmlns:a16="http://schemas.microsoft.com/office/drawing/2014/main" id="{EB9535BC-BB38-9F26-632F-41F642732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9716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127" name="Text Box 18">
            <a:extLst>
              <a:ext uri="{FF2B5EF4-FFF2-40B4-BE49-F238E27FC236}">
                <a16:creationId xmlns:a16="http://schemas.microsoft.com/office/drawing/2014/main" id="{FD0DD02E-72EC-627F-3E65-1DAEA0211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962275"/>
            <a:ext cx="2286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/>
              <a:t>Program</a:t>
            </a:r>
          </a:p>
        </p:txBody>
      </p:sp>
      <p:sp>
        <p:nvSpPr>
          <p:cNvPr id="5128" name="Line 19">
            <a:extLst>
              <a:ext uri="{FF2B5EF4-FFF2-40B4-BE49-F238E27FC236}">
                <a16:creationId xmlns:a16="http://schemas.microsoft.com/office/drawing/2014/main" id="{E9A2AAE9-F068-4DE4-548B-19383EE10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1908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129" name="Text Box 20">
            <a:extLst>
              <a:ext uri="{FF2B5EF4-FFF2-40B4-BE49-F238E27FC236}">
                <a16:creationId xmlns:a16="http://schemas.microsoft.com/office/drawing/2014/main" id="{FF98E152-F70D-3313-033A-9A515C67E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62275"/>
            <a:ext cx="2133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/>
              <a:t>Bemenet</a:t>
            </a:r>
          </a:p>
        </p:txBody>
      </p:sp>
      <p:sp>
        <p:nvSpPr>
          <p:cNvPr id="5130" name="Text Box 21">
            <a:extLst>
              <a:ext uri="{FF2B5EF4-FFF2-40B4-BE49-F238E27FC236}">
                <a16:creationId xmlns:a16="http://schemas.microsoft.com/office/drawing/2014/main" id="{6DD41D91-E6FF-3A8B-3997-331F99AD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962275"/>
            <a:ext cx="2133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hu-HU" altLang="hu-HU" sz="2400"/>
              <a:t>Kimenet</a:t>
            </a:r>
          </a:p>
        </p:txBody>
      </p:sp>
      <p:sp>
        <p:nvSpPr>
          <p:cNvPr id="5131" name="Line 22">
            <a:extLst>
              <a:ext uri="{FF2B5EF4-FFF2-40B4-BE49-F238E27FC236}">
                <a16:creationId xmlns:a16="http://schemas.microsoft.com/office/drawing/2014/main" id="{E0D4CBC9-D976-A84A-83A3-92A1BFDB1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1908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132" name="Line 23">
            <a:extLst>
              <a:ext uri="{FF2B5EF4-FFF2-40B4-BE49-F238E27FC236}">
                <a16:creationId xmlns:a16="http://schemas.microsoft.com/office/drawing/2014/main" id="{FEDCD5E6-8266-83E3-2254-72DCAD997B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495675"/>
            <a:ext cx="1676400" cy="16462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5133" name="Text Box 24">
            <a:extLst>
              <a:ext uri="{FF2B5EF4-FFF2-40B4-BE49-F238E27FC236}">
                <a16:creationId xmlns:a16="http://schemas.microsoft.com/office/drawing/2014/main" id="{BC120DD2-2D79-923F-8EF5-08B27EE3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903787"/>
            <a:ext cx="6019800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hu-HU" altLang="hu-HU" dirty="0"/>
              <a:t>Programozás,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hu-HU" altLang="hu-HU" dirty="0"/>
              <a:t>Programozási nyelv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4F9DB023-FE2D-B784-D45D-341256175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32" y="525632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 dirty="0"/>
              <a:t>A számítógép feladata: adatfeldolgozás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6943-9494-05E6-572F-CD6DAF48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ia számának helye 5">
            <a:extLst>
              <a:ext uri="{FF2B5EF4-FFF2-40B4-BE49-F238E27FC236}">
                <a16:creationId xmlns:a16="http://schemas.microsoft.com/office/drawing/2014/main" id="{51D7C1D7-EC7C-D1EF-EEDB-786A17A7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841588-4A93-47C3-9F99-21B7755F20B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hu-HU" altLang="hu-HU" sz="1400"/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DBE09BB3-55AB-8E55-EC35-A3A586FE3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 dirty="0"/>
              <a:t>Programozási nyelvek csoportosítása</a:t>
            </a:r>
          </a:p>
        </p:txBody>
      </p:sp>
      <p:sp>
        <p:nvSpPr>
          <p:cNvPr id="6148" name="Rectangle 8">
            <a:extLst>
              <a:ext uri="{FF2B5EF4-FFF2-40B4-BE49-F238E27FC236}">
                <a16:creationId xmlns:a16="http://schemas.microsoft.com/office/drawing/2014/main" id="{03934174-EA1A-516B-BFEF-921F19AC3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Amatőr </a:t>
            </a:r>
            <a:r>
              <a:rPr lang="hu-HU" altLang="hu-HU" dirty="0">
                <a:sym typeface="Symbol" panose="05050102010706020507" pitchFamily="18" charset="2"/>
              </a:rPr>
              <a:t> Professzionális</a:t>
            </a:r>
          </a:p>
          <a:p>
            <a:r>
              <a:rPr lang="hu-HU" altLang="hu-HU" dirty="0">
                <a:sym typeface="Symbol" panose="05050102010706020507" pitchFamily="18" charset="2"/>
              </a:rPr>
              <a:t>Alacsonyszintű   Magasszintű</a:t>
            </a:r>
          </a:p>
          <a:p>
            <a:r>
              <a:rPr lang="hu-HU" altLang="hu-HU" dirty="0">
                <a:sym typeface="Symbol" panose="05050102010706020507" pitchFamily="18" charset="2"/>
              </a:rPr>
              <a:t>Programozási nyelvek generációi</a:t>
            </a:r>
          </a:p>
          <a:p>
            <a:r>
              <a:rPr lang="hu-HU" altLang="hu-HU" dirty="0">
                <a:sym typeface="Symbol" panose="05050102010706020507" pitchFamily="18" charset="2"/>
              </a:rPr>
              <a:t>Számítási modellek alapján</a:t>
            </a:r>
          </a:p>
          <a:p>
            <a:r>
              <a:rPr lang="hu-HU" altLang="hu-HU" dirty="0">
                <a:sym typeface="Symbol" panose="05050102010706020507" pitchFamily="18" charset="2"/>
              </a:rPr>
              <a:t>Imperatív  Deklaratív</a:t>
            </a:r>
          </a:p>
          <a:p>
            <a:r>
              <a:rPr lang="hu-HU" altLang="hu-HU" dirty="0">
                <a:sym typeface="Symbol" panose="05050102010706020507" pitchFamily="18" charset="2"/>
              </a:rPr>
              <a:t>stb.</a:t>
            </a:r>
          </a:p>
          <a:p>
            <a:endParaRPr lang="hu-HU" altLang="hu-HU" dirty="0">
              <a:sym typeface="Symbol" panose="05050102010706020507" pitchFamily="18" charset="2"/>
            </a:endParaRPr>
          </a:p>
          <a:p>
            <a:endParaRPr lang="hu-HU" altLang="hu-HU" dirty="0"/>
          </a:p>
        </p:txBody>
      </p:sp>
    </p:spTree>
    <p:extLst>
      <p:ext uri="{BB962C8B-B14F-4D97-AF65-F5344CB8AC3E}">
        <p14:creationId xmlns:p14="http://schemas.microsoft.com/office/powerpoint/2010/main" val="35057148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ia számának helye 5">
            <a:extLst>
              <a:ext uri="{FF2B5EF4-FFF2-40B4-BE49-F238E27FC236}">
                <a16:creationId xmlns:a16="http://schemas.microsoft.com/office/drawing/2014/main" id="{7A4DBDC7-E0E1-4FD2-8BC7-391E7CDC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841588-4A93-47C3-9F99-21B7755F20B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hu-HU" altLang="hu-HU" sz="1400"/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B482BEE3-13FD-F51F-2A1E-329BB5F87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20" y="232152"/>
            <a:ext cx="4254624" cy="1036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b="1" dirty="0"/>
              <a:t>Amatőr programozási nyelvek jellemzői:</a:t>
            </a:r>
          </a:p>
        </p:txBody>
      </p:sp>
      <p:sp>
        <p:nvSpPr>
          <p:cNvPr id="6148" name="Rectangle 8">
            <a:extLst>
              <a:ext uri="{FF2B5EF4-FFF2-40B4-BE49-F238E27FC236}">
                <a16:creationId xmlns:a16="http://schemas.microsoft.com/office/drawing/2014/main" id="{20766F77-7AD9-4312-9BF6-4294E07D1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92" y="1340768"/>
            <a:ext cx="8229600" cy="5285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b="1" i="1" dirty="0"/>
              <a:t>Kis méretű feladatok</a:t>
            </a:r>
            <a:r>
              <a:rPr lang="hu-HU" altLang="hu-HU" dirty="0"/>
              <a:t> </a:t>
            </a:r>
            <a:br>
              <a:rPr lang="hu-HU" altLang="hu-HU" dirty="0"/>
            </a:br>
            <a:r>
              <a:rPr lang="hu-HU" altLang="hu-HU" dirty="0"/>
              <a:t>megoldása, kis méretű </a:t>
            </a:r>
            <a:br>
              <a:rPr lang="hu-HU" altLang="hu-HU" dirty="0"/>
            </a:br>
            <a:r>
              <a:rPr lang="hu-HU" altLang="hu-HU" dirty="0"/>
              <a:t>programok ( 50 -1000 utasítás ).</a:t>
            </a:r>
          </a:p>
          <a:p>
            <a:r>
              <a:rPr lang="hu-HU" altLang="hu-HU" dirty="0"/>
              <a:t>Általában </a:t>
            </a:r>
            <a:r>
              <a:rPr lang="hu-HU" altLang="hu-HU" b="1" i="1" dirty="0"/>
              <a:t>egy</a:t>
            </a:r>
            <a:r>
              <a:rPr lang="hu-HU" altLang="hu-HU" dirty="0"/>
              <a:t> vagy néhány </a:t>
            </a:r>
            <a:r>
              <a:rPr lang="hu-HU" altLang="hu-HU" b="1" i="1" dirty="0"/>
              <a:t>ember</a:t>
            </a:r>
            <a:r>
              <a:rPr lang="hu-HU" altLang="hu-HU" dirty="0"/>
              <a:t> írja, főfoglalkozásban </a:t>
            </a:r>
            <a:r>
              <a:rPr lang="hu-HU" altLang="hu-HU" b="1" i="1" dirty="0"/>
              <a:t>nem programozó</a:t>
            </a:r>
            <a:r>
              <a:rPr lang="hu-HU" altLang="hu-HU" dirty="0"/>
              <a:t>.</a:t>
            </a:r>
          </a:p>
          <a:p>
            <a:r>
              <a:rPr lang="hu-HU" altLang="hu-HU" dirty="0"/>
              <a:t>A program </a:t>
            </a:r>
            <a:r>
              <a:rPr lang="hu-HU" altLang="hu-HU" b="1" i="1" dirty="0"/>
              <a:t>szűk körben</a:t>
            </a:r>
            <a:r>
              <a:rPr lang="hu-HU" altLang="hu-HU" dirty="0"/>
              <a:t> használható, általában csak </a:t>
            </a:r>
            <a:r>
              <a:rPr lang="hu-HU" altLang="hu-HU" b="1" i="1" dirty="0"/>
              <a:t>egyféle gépen</a:t>
            </a:r>
            <a:r>
              <a:rPr lang="hu-HU" altLang="hu-HU" dirty="0"/>
              <a:t>.</a:t>
            </a:r>
          </a:p>
          <a:p>
            <a:r>
              <a:rPr lang="hu-HU" altLang="hu-HU" b="1" i="1" dirty="0"/>
              <a:t>Rövid életű</a:t>
            </a:r>
            <a:r>
              <a:rPr lang="hu-HU" altLang="hu-HU" dirty="0"/>
              <a:t> programok (hónapok).</a:t>
            </a:r>
          </a:p>
          <a:p>
            <a:r>
              <a:rPr lang="hu-HU" altLang="hu-HU" b="1" i="1" dirty="0"/>
              <a:t>Szerény hardver- és szoftverigények</a:t>
            </a:r>
            <a:r>
              <a:rPr lang="hu-HU" altLang="hu-HU" dirty="0"/>
              <a:t>, kevés fejlesztési eszköz használata.</a:t>
            </a:r>
          </a:p>
          <a:p>
            <a:endParaRPr lang="hu-HU" altLang="hu-HU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A073A4E-60B7-96C7-9EE0-F7A27A61F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84" y="232152"/>
            <a:ext cx="3373596" cy="21084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ia számának helye 5">
            <a:extLst>
              <a:ext uri="{FF2B5EF4-FFF2-40B4-BE49-F238E27FC236}">
                <a16:creationId xmlns:a16="http://schemas.microsoft.com/office/drawing/2014/main" id="{226A6BEB-D78B-B3D1-DBF2-BEF0BF60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064021-31F4-4819-82BE-F9684378CDA9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hu-HU" altLang="hu-HU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4202672-9247-5E75-6ED0-5BEF62168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04800"/>
            <a:ext cx="867422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/>
              <a:t>Professzionális programozási nyelvek jellemzői:</a:t>
            </a:r>
            <a:endParaRPr lang="hu-HU" altLang="hu-HU" b="1" dirty="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AA01A4F-1BFE-6989-3E25-EF6E514A5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84582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b="1" i="1"/>
              <a:t>Nagy feladatok</a:t>
            </a:r>
            <a:r>
              <a:rPr lang="hu-HU" altLang="hu-HU"/>
              <a:t> megoldása ( néhány ezer, de gyakran több milliós nagyságrendű utasítás ).</a:t>
            </a:r>
          </a:p>
          <a:p>
            <a:r>
              <a:rPr lang="hu-HU" altLang="hu-HU" b="1" i="1"/>
              <a:t>Programozói csoportok írják</a:t>
            </a:r>
            <a:r>
              <a:rPr lang="hu-HU" altLang="hu-HU"/>
              <a:t>, olyan </a:t>
            </a:r>
            <a:r>
              <a:rPr lang="hu-HU" altLang="hu-HU" b="1" i="1"/>
              <a:t>szakemberek</a:t>
            </a:r>
            <a:r>
              <a:rPr lang="hu-HU" altLang="hu-HU"/>
              <a:t>, akik célterületek specialistái.</a:t>
            </a:r>
          </a:p>
          <a:p>
            <a:r>
              <a:rPr lang="hu-HU" altLang="hu-HU"/>
              <a:t>A program</a:t>
            </a:r>
            <a:r>
              <a:rPr lang="hu-HU" altLang="hu-HU" b="1" i="1"/>
              <a:t> széles körben</a:t>
            </a:r>
            <a:r>
              <a:rPr lang="hu-HU" altLang="hu-HU"/>
              <a:t> használható, </a:t>
            </a:r>
            <a:r>
              <a:rPr lang="hu-HU" altLang="hu-HU" b="1" i="1"/>
              <a:t>nagyszámú gépen</a:t>
            </a:r>
            <a:r>
              <a:rPr lang="hu-HU" altLang="hu-HU"/>
              <a:t> gazdaságos használni.</a:t>
            </a:r>
          </a:p>
          <a:p>
            <a:r>
              <a:rPr lang="hu-HU" altLang="hu-HU" b="1" i="1"/>
              <a:t>Hosszú életű</a:t>
            </a:r>
            <a:r>
              <a:rPr lang="hu-HU" altLang="hu-HU"/>
              <a:t> programok (évek).</a:t>
            </a:r>
          </a:p>
          <a:p>
            <a:r>
              <a:rPr lang="hu-HU" altLang="hu-HU" b="1" i="1"/>
              <a:t>Sokféle hardver- és szoftverigény</a:t>
            </a:r>
            <a:r>
              <a:rPr lang="hu-HU" altLang="hu-HU"/>
              <a:t>, sok fejlesztői szoftvereszköz kell hozzá.</a:t>
            </a:r>
          </a:p>
          <a:p>
            <a:endParaRPr lang="hu-HU" altLang="hu-HU" dirty="0"/>
          </a:p>
        </p:txBody>
      </p:sp>
      <p:pic>
        <p:nvPicPr>
          <p:cNvPr id="3" name="Ábra 2">
            <a:extLst>
              <a:ext uri="{FF2B5EF4-FFF2-40B4-BE49-F238E27FC236}">
                <a16:creationId xmlns:a16="http://schemas.microsoft.com/office/drawing/2014/main" id="{A12948E0-C6E7-6D3B-D2F8-0AA3FA415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1000" y="3386400"/>
            <a:ext cx="1152000" cy="1152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1972E2D-FC92-23E7-336D-931D29299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642" y="5635320"/>
            <a:ext cx="864000" cy="864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17F34AD-E9FC-75A8-E960-1599A575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212" y="5635320"/>
            <a:ext cx="797872" cy="9000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A7CC11A-C4AE-458C-9CA4-D9F1DC7CFF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744" y="5400954"/>
            <a:ext cx="1188000" cy="118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ia számának helye 5">
            <a:extLst>
              <a:ext uri="{FF2B5EF4-FFF2-40B4-BE49-F238E27FC236}">
                <a16:creationId xmlns:a16="http://schemas.microsoft.com/office/drawing/2014/main" id="{E09E8F26-76B4-BAA8-E665-BCF29E17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DD48B7-8943-47A4-8454-452BED33D3C8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hu-HU" altLang="hu-HU" sz="140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478DC8B-727F-BF09-F2E6-F5CF1750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466" y="1416368"/>
            <a:ext cx="8497068" cy="5036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Legalacsonyabb szintű nyelv </a:t>
            </a:r>
            <a:br>
              <a:rPr lang="hu-HU" altLang="hu-HU" dirty="0"/>
            </a:br>
            <a:r>
              <a:rPr lang="hu-HU" altLang="hu-HU" dirty="0"/>
              <a:t>a GÉPI KÓD, amit a </a:t>
            </a:r>
            <a:br>
              <a:rPr lang="hu-HU" altLang="hu-HU" dirty="0"/>
            </a:br>
            <a:r>
              <a:rPr lang="hu-HU" altLang="hu-HU" dirty="0"/>
              <a:t>számítógép processzora megért.</a:t>
            </a:r>
            <a:r>
              <a:rPr lang="hu-HU" altLang="hu-HU" sz="1800" dirty="0"/>
              <a:t>	</a:t>
            </a:r>
          </a:p>
          <a:p>
            <a:r>
              <a:rPr lang="hu-HU" altLang="hu-HU" dirty="0"/>
              <a:t>Ennél egy szinttel magasabb szintű nyelvek az ALACSONYSZINTŰ nyelvek (pl. assembly), amelyek </a:t>
            </a:r>
            <a:r>
              <a:rPr lang="hu-HU" altLang="hu-HU" b="1" i="1" dirty="0"/>
              <a:t>gépközeli, géporientált</a:t>
            </a:r>
            <a:r>
              <a:rPr lang="hu-HU" altLang="hu-HU" dirty="0"/>
              <a:t> nyelvek.	</a:t>
            </a:r>
            <a:endParaRPr lang="hu-HU" altLang="hu-HU" sz="1600" dirty="0"/>
          </a:p>
          <a:p>
            <a:r>
              <a:rPr lang="hu-HU" altLang="hu-HU" dirty="0"/>
              <a:t>Ezek a nyelvek a számítógép hardverének, operációs rendszerének a </a:t>
            </a:r>
            <a:r>
              <a:rPr lang="hu-HU" altLang="hu-HU" b="1" i="1" dirty="0"/>
              <a:t>leghatékonyabb</a:t>
            </a:r>
            <a:r>
              <a:rPr lang="hu-HU" altLang="hu-HU" dirty="0"/>
              <a:t> </a:t>
            </a:r>
            <a:r>
              <a:rPr lang="hu-HU" altLang="hu-HU" b="1" i="1" dirty="0"/>
              <a:t>kihasználását</a:t>
            </a:r>
            <a:r>
              <a:rPr lang="hu-HU" altLang="hu-HU" dirty="0"/>
              <a:t> végzik (viszont bonyolultak, nehezen tanulhatóak, hardverfüggőek).</a:t>
            </a:r>
          </a:p>
          <a:p>
            <a:pPr>
              <a:spcBef>
                <a:spcPct val="0"/>
              </a:spcBef>
              <a:buFontTx/>
              <a:buNone/>
            </a:pPr>
            <a:endParaRPr lang="hu-HU" altLang="hu-HU" sz="1600" dirty="0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522AD83-08C6-B4A7-0F1E-B74E7F59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1216"/>
            <a:ext cx="5711552" cy="111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b="1" dirty="0"/>
              <a:t>Alacsony és magasszintű nyelvek jellemzői: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A0E17A0-B524-C1CF-7027-B07AE8338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01216"/>
            <a:ext cx="2760901" cy="22303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4">
            <a:extLst>
              <a:ext uri="{FF2B5EF4-FFF2-40B4-BE49-F238E27FC236}">
                <a16:creationId xmlns:a16="http://schemas.microsoft.com/office/drawing/2014/main" id="{AC694D6C-BC86-F545-AD36-F16F26CFB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463" y="64531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fld id="{3EEAAC7D-2932-4198-B5DB-4D2BC1534FCF}" type="slidenum">
              <a:rPr lang="hu-HU" altLang="hu-HU"/>
              <a:pPr/>
              <a:t>7</a:t>
            </a:fld>
            <a:endParaRPr lang="hu-HU" altLang="hu-HU"/>
          </a:p>
        </p:txBody>
      </p:sp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ADB110DC-85EC-B67B-900C-9C9E5BE56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51940"/>
              </p:ext>
            </p:extLst>
          </p:nvPr>
        </p:nvGraphicFramePr>
        <p:xfrm>
          <a:off x="755650" y="1215430"/>
          <a:ext cx="7664450" cy="437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990476" imgH="5130159" progId="Photoshop.Image.8">
                  <p:embed/>
                </p:oleObj>
              </mc:Choice>
              <mc:Fallback>
                <p:oleObj name="Image" r:id="rId2" imgW="8990476" imgH="5130159" progId="Photoshop.Image.8">
                  <p:embed/>
                  <p:pic>
                    <p:nvPicPr>
                      <p:cNvPr id="15366" name="Object 6">
                        <a:extLst>
                          <a:ext uri="{FF2B5EF4-FFF2-40B4-BE49-F238E27FC236}">
                            <a16:creationId xmlns:a16="http://schemas.microsoft.com/office/drawing/2014/main" id="{ADB110DC-85EC-B67B-900C-9C9E5BE561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215430"/>
                        <a:ext cx="7664450" cy="437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8">
            <a:extLst>
              <a:ext uri="{FF2B5EF4-FFF2-40B4-BE49-F238E27FC236}">
                <a16:creationId xmlns:a16="http://schemas.microsoft.com/office/drawing/2014/main" id="{223BC9A5-B093-50B0-F46A-1FAFB071C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781194"/>
            <a:ext cx="777679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hu-HU" altLang="hu-HU" b="1" dirty="0"/>
              <a:t> Memóriacím		Gépi kódú utasítás				Assembly utasítás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137A7E24-0E85-2886-DB22-55A8F48C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548680"/>
            <a:ext cx="2416522" cy="5040312"/>
          </a:xfrm>
          <a:prstGeom prst="rect">
            <a:avLst/>
          </a:prstGeom>
          <a:solidFill>
            <a:srgbClr val="FFFF99">
              <a:alpha val="1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u-HU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173C30F9-EA46-7326-C0CF-972107AB4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8680"/>
            <a:ext cx="3848100" cy="5040312"/>
          </a:xfrm>
          <a:prstGeom prst="rect">
            <a:avLst/>
          </a:prstGeom>
          <a:solidFill>
            <a:srgbClr val="CCFF99">
              <a:alpha val="1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 dirty="0">
              <a:highlight>
                <a:srgbClr val="CCFF99"/>
              </a:highlight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680B8C98-220E-06C6-7FAD-CDDA56CB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15" y="5733256"/>
            <a:ext cx="81859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hu-HU" altLang="hu-HU" sz="2400" dirty="0"/>
              <a:t>Forrás: Kovács E., </a:t>
            </a:r>
            <a:r>
              <a:rPr lang="hu-HU" altLang="hu-HU" sz="2400" dirty="0" err="1"/>
              <a:t>Hernyák</a:t>
            </a:r>
            <a:r>
              <a:rPr lang="hu-HU" altLang="hu-HU" sz="2400" dirty="0"/>
              <a:t> Z., </a:t>
            </a:r>
            <a:r>
              <a:rPr lang="hu-HU" altLang="hu-HU" sz="2400" dirty="0" err="1"/>
              <a:t>Radványi</a:t>
            </a:r>
            <a:r>
              <a:rPr lang="hu-HU" altLang="hu-HU" sz="2400" dirty="0"/>
              <a:t> T., Király R.: A C# programozási nyelv a felsőoktatásban -  Programozás tankönyv </a:t>
            </a:r>
          </a:p>
        </p:txBody>
      </p:sp>
    </p:spTree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ia számának helye 5">
            <a:extLst>
              <a:ext uri="{FF2B5EF4-FFF2-40B4-BE49-F238E27FC236}">
                <a16:creationId xmlns:a16="http://schemas.microsoft.com/office/drawing/2014/main" id="{03A3059F-6696-0E9E-E25F-98D5A82A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86E1BC-C0E9-439F-990F-5E0173819965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hu-HU" altLang="hu-HU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86DA82F8-CBBC-ADDB-F091-7E92729C4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84582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A MAGASSZINTŰ nyelvek </a:t>
            </a:r>
            <a:br>
              <a:rPr lang="hu-HU" altLang="hu-HU" dirty="0"/>
            </a:br>
            <a:r>
              <a:rPr lang="hu-HU" altLang="hu-HU" b="1" dirty="0"/>
              <a:t>feladatorientált</a:t>
            </a:r>
            <a:r>
              <a:rPr lang="hu-HU" altLang="hu-HU" dirty="0"/>
              <a:t> nyelvek.</a:t>
            </a:r>
          </a:p>
          <a:p>
            <a:r>
              <a:rPr lang="hu-HU" altLang="hu-HU" dirty="0"/>
              <a:t>Egy feladat megoldására </a:t>
            </a:r>
            <a:br>
              <a:rPr lang="hu-HU" altLang="hu-HU" dirty="0"/>
            </a:br>
            <a:r>
              <a:rPr lang="hu-HU" altLang="hu-HU" b="1" dirty="0"/>
              <a:t>hatékonyan</a:t>
            </a:r>
            <a:r>
              <a:rPr lang="hu-HU" altLang="hu-HU" dirty="0"/>
              <a:t> alkalmazható eszközök.</a:t>
            </a:r>
          </a:p>
          <a:p>
            <a:r>
              <a:rPr lang="hu-HU" altLang="hu-HU" dirty="0"/>
              <a:t>Nem a számítógép lehetőségeinek a maradéktalan kihasználására törekszenek, viszont </a:t>
            </a:r>
            <a:r>
              <a:rPr lang="hu-HU" altLang="hu-HU" b="1" dirty="0"/>
              <a:t>hordozható programot</a:t>
            </a:r>
            <a:r>
              <a:rPr lang="hu-HU" altLang="hu-HU" dirty="0"/>
              <a:t> tudnak előállítani.</a:t>
            </a:r>
          </a:p>
          <a:p>
            <a:r>
              <a:rPr lang="hu-HU" altLang="hu-HU" b="1" dirty="0"/>
              <a:t>Emberközeli nyelvek</a:t>
            </a:r>
            <a:r>
              <a:rPr lang="hu-HU" altLang="hu-HU" dirty="0"/>
              <a:t>, az emberi gondolkodáshoz közelebb állnak (nem olyan bonyolultak, könnyebben tanulhatók).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A6DCF70-C770-E7E1-7743-AD7AC633A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602" y="269046"/>
            <a:ext cx="2896598" cy="246551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F21AFD0D-4BCC-9001-34CE-9CD43D101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8680" y="104325"/>
            <a:ext cx="7406640" cy="1356360"/>
          </a:xfrm>
        </p:spPr>
        <p:txBody>
          <a:bodyPr>
            <a:normAutofit/>
          </a:bodyPr>
          <a:lstStyle/>
          <a:p>
            <a:r>
              <a:rPr lang="hu-HU" altLang="hu-H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Programozási nyelvek generációi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2F1C6A7-5A89-46FB-276D-DF5650645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9532" y="1268760"/>
            <a:ext cx="8532948" cy="5271687"/>
          </a:xfrm>
        </p:spPr>
        <p:txBody>
          <a:bodyPr>
            <a:noAutofit/>
          </a:bodyPr>
          <a:lstStyle/>
          <a:p>
            <a:pPr marL="355600" indent="-355600">
              <a:lnSpc>
                <a:spcPct val="90000"/>
              </a:lnSpc>
              <a:buFont typeface="+mj-lt"/>
              <a:buAutoNum type="arabicPeriod"/>
              <a:tabLst>
                <a:tab pos="3771900" algn="l"/>
              </a:tabLst>
            </a:pP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Gépi kód</a:t>
            </a:r>
          </a:p>
          <a:p>
            <a:pPr marL="355600" indent="-355600">
              <a:lnSpc>
                <a:spcPct val="90000"/>
              </a:lnSpc>
              <a:buFont typeface="+mj-lt"/>
              <a:buAutoNum type="arabicPeriod"/>
              <a:tabLst>
                <a:tab pos="3771900" algn="l"/>
              </a:tabLst>
            </a:pP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hu-HU" altLang="hu-H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hu-HU" altLang="hu-HU" sz="2800" dirty="0"/>
          </a:p>
          <a:p>
            <a:pPr marL="355600" indent="-355600">
              <a:lnSpc>
                <a:spcPct val="90000"/>
              </a:lnSpc>
              <a:buFont typeface="+mj-lt"/>
              <a:buAutoNum type="arabicPeriod"/>
              <a:tabLst>
                <a:tab pos="3771900" algn="l"/>
              </a:tabLst>
            </a:pP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Procedurális nyelvek (eljárás-orientált nyelvek) </a:t>
            </a:r>
            <a:b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altLang="hu-H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pl.: </a:t>
            </a:r>
            <a:r>
              <a:rPr lang="hu-HU" altLang="hu-H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Fortran</a:t>
            </a:r>
            <a:r>
              <a:rPr lang="hu-HU" altLang="hu-H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Pascal, C</a:t>
            </a:r>
          </a:p>
          <a:p>
            <a:pPr marL="355600" indent="-355600">
              <a:lnSpc>
                <a:spcPct val="90000"/>
              </a:lnSpc>
              <a:buFont typeface="+mj-lt"/>
              <a:buAutoNum type="arabicPeriod"/>
              <a:tabLst>
                <a:tab pos="3771900" algn="l"/>
              </a:tabLst>
            </a:pPr>
            <a:endParaRPr lang="hu-HU" altLang="hu-H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6790" lvl="2" indent="-609600">
              <a:buNone/>
              <a:tabLst>
                <a:tab pos="3771900" algn="l"/>
              </a:tabLst>
            </a:pPr>
            <a:r>
              <a:rPr lang="hu-HU" alt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3.5.  </a:t>
            </a: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Objektum-orientált nyelvek: </a:t>
            </a:r>
            <a:r>
              <a:rPr lang="hu-HU" altLang="hu-H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C++, Java, C#</a:t>
            </a:r>
          </a:p>
          <a:p>
            <a:pPr marL="986790" lvl="2" indent="-609600">
              <a:buNone/>
              <a:tabLst>
                <a:tab pos="3771900" algn="l"/>
              </a:tabLst>
            </a:pPr>
            <a:endParaRPr lang="hu-HU" altLang="hu-HU" sz="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>
              <a:buFont typeface="+mj-lt"/>
              <a:buAutoNum type="arabicPeriod"/>
              <a:tabLst>
                <a:tab pos="3771900" algn="l"/>
              </a:tabLst>
            </a:pP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Specializált nyelvek (problémaorientált)</a:t>
            </a:r>
          </a:p>
          <a:p>
            <a:pPr marL="1371600" lvl="2" indent="-457200">
              <a:lnSpc>
                <a:spcPct val="90000"/>
              </a:lnSpc>
              <a:spcBef>
                <a:spcPct val="15000"/>
              </a:spcBef>
              <a:tabLst>
                <a:tab pos="3771900" algn="l"/>
              </a:tabLst>
            </a:pPr>
            <a:r>
              <a:rPr lang="hu-HU" alt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funkcionális: 	LISP</a:t>
            </a:r>
          </a:p>
          <a:p>
            <a:pPr marL="1371600" lvl="2" indent="-457200">
              <a:lnSpc>
                <a:spcPct val="90000"/>
              </a:lnSpc>
              <a:spcBef>
                <a:spcPct val="15000"/>
              </a:spcBef>
              <a:tabLst>
                <a:tab pos="3771900" algn="l"/>
              </a:tabLst>
            </a:pPr>
            <a:r>
              <a:rPr lang="hu-HU" alt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Logikai:	</a:t>
            </a:r>
            <a:r>
              <a:rPr lang="hu-HU" altLang="hu-H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endParaRPr lang="hu-HU" altLang="hu-HU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90000"/>
              </a:lnSpc>
              <a:spcBef>
                <a:spcPct val="15000"/>
              </a:spcBef>
              <a:tabLst>
                <a:tab pos="3771900" algn="l"/>
              </a:tabLst>
            </a:pPr>
            <a:r>
              <a:rPr lang="hu-HU" altLang="hu-H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Adatbáziskezelő:	SQL</a:t>
            </a:r>
          </a:p>
          <a:p>
            <a:pPr marL="355600" indent="-355600">
              <a:spcBef>
                <a:spcPct val="15000"/>
              </a:spcBef>
              <a:buFont typeface="+mj-lt"/>
              <a:buAutoNum type="arabicPeriod"/>
              <a:tabLst>
                <a:tab pos="3771900" algn="l"/>
              </a:tabLst>
            </a:pPr>
            <a:r>
              <a:rPr lang="hu-HU" altLang="hu-H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Mesterséges intelligencia nyelvek (közelít a természetes nyelvekhez)</a:t>
            </a:r>
          </a:p>
        </p:txBody>
      </p:sp>
      <p:sp>
        <p:nvSpPr>
          <p:cNvPr id="28674" name="Dia számának helye 5">
            <a:extLst>
              <a:ext uri="{FF2B5EF4-FFF2-40B4-BE49-F238E27FC236}">
                <a16:creationId xmlns:a16="http://schemas.microsoft.com/office/drawing/2014/main" id="{0F866ECB-2BA7-2CFE-E3D7-A951BA58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221325-0E5F-426C-ACF6-AA15AE904295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hu-HU" altLang="hu-HU" sz="1400"/>
          </a:p>
        </p:txBody>
      </p:sp>
    </p:spTree>
    <p:extLst>
      <p:ext uri="{BB962C8B-B14F-4D97-AF65-F5344CB8AC3E}">
        <p14:creationId xmlns:p14="http://schemas.microsoft.com/office/powerpoint/2010/main" val="33366614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ia számának helye 5">
            <a:extLst>
              <a:ext uri="{FF2B5EF4-FFF2-40B4-BE49-F238E27FC236}">
                <a16:creationId xmlns:a16="http://schemas.microsoft.com/office/drawing/2014/main" id="{AAD7782F-B94A-8406-A403-51AB4BF2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4B6AEB-B5E5-4D43-A07D-48EC03884CA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hu-HU" altLang="hu-HU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C74CB12-E1B3-2E78-1F6F-D5DD077B2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4" y="950154"/>
            <a:ext cx="8515672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 dirty="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9AF6453-8563-23AA-BBA3-281CAF687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66936"/>
            <a:ext cx="80010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 anchorCtr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b="1" dirty="0"/>
              <a:t>Nyelvekkel kapcsolatos fontos fogalmak: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374CF69-01DF-7FD7-6184-7245284EA4AD}"/>
              </a:ext>
            </a:extLst>
          </p:cNvPr>
          <p:cNvGraphicFramePr>
            <a:graphicFrameLocks noGrp="1"/>
          </p:cNvGraphicFramePr>
          <p:nvPr/>
        </p:nvGraphicFramePr>
        <p:xfrm>
          <a:off x="261696" y="1196752"/>
          <a:ext cx="8620608" cy="5392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1902359671"/>
                    </a:ext>
                  </a:extLst>
                </a:gridCol>
                <a:gridCol w="6244344">
                  <a:extLst>
                    <a:ext uri="{9D8B030D-6E8A-4147-A177-3AD203B41FA5}">
                      <a16:colId xmlns:a16="http://schemas.microsoft.com/office/drawing/2014/main" val="1391078363"/>
                    </a:ext>
                  </a:extLst>
                </a:gridCol>
              </a:tblGrid>
              <a:tr h="1418369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Szintaxis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Egy programnyelven írt program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formai helyességére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vonatkozó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szabályok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gyűjteménye.</a:t>
                      </a:r>
                      <a:endParaRPr lang="hu-HU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818459"/>
                  </a:ext>
                </a:extLst>
              </a:tr>
              <a:tr h="1023563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Szemantika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program jelentéseit,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tartalmi helyességét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leíró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szabályok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leírása.</a:t>
                      </a:r>
                      <a:endParaRPr lang="hu-HU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028072"/>
                  </a:ext>
                </a:extLst>
              </a:tr>
              <a:tr h="2950269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Fordító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 adott nyelven (</a:t>
                      </a:r>
                      <a:r>
                        <a:rPr lang="hu-HU" altLang="hu-HU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forrásnyelven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megírt programot egy program (</a:t>
                      </a:r>
                      <a:r>
                        <a:rPr lang="hu-HU" altLang="hu-HU" sz="280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lefordít egy másik nyelvre (</a:t>
                      </a:r>
                      <a:r>
                        <a:rPr lang="hu-HU" altLang="hu-HU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célnyelvre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 </a:t>
                      </a:r>
                      <a:b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 célnyelvi program futtatásához ezután sem a forrásnyelvű programra, sem a fordítóprogramra nincs szükség.)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6600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0DB1-1B6D-A64A-AB33-E9B3A223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ia számának helye 5">
            <a:extLst>
              <a:ext uri="{FF2B5EF4-FFF2-40B4-BE49-F238E27FC236}">
                <a16:creationId xmlns:a16="http://schemas.microsoft.com/office/drawing/2014/main" id="{B9121DE6-C04D-2F66-58F4-1C5CC4F9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4B6AEB-B5E5-4D43-A07D-48EC03884CA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hu-HU" altLang="hu-HU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D2AED6B-3549-B96F-DF4E-544005A63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4" y="950154"/>
            <a:ext cx="8515672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u-HU" altLang="hu-HU" dirty="0"/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DB06357F-5B14-1354-3525-976A14BC58B2}"/>
              </a:ext>
            </a:extLst>
          </p:cNvPr>
          <p:cNvGraphicFramePr>
            <a:graphicFrameLocks noGrp="1"/>
          </p:cNvGraphicFramePr>
          <p:nvPr/>
        </p:nvGraphicFramePr>
        <p:xfrm>
          <a:off x="314164" y="440172"/>
          <a:ext cx="8515672" cy="5773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7338">
                  <a:extLst>
                    <a:ext uri="{9D8B030D-6E8A-4147-A177-3AD203B41FA5}">
                      <a16:colId xmlns:a16="http://schemas.microsoft.com/office/drawing/2014/main" val="1902359671"/>
                    </a:ext>
                  </a:extLst>
                </a:gridCol>
                <a:gridCol w="6168334">
                  <a:extLst>
                    <a:ext uri="{9D8B030D-6E8A-4147-A177-3AD203B41FA5}">
                      <a16:colId xmlns:a16="http://schemas.microsoft.com/office/drawing/2014/main" val="1391078363"/>
                    </a:ext>
                  </a:extLst>
                </a:gridCol>
              </a:tblGrid>
              <a:tr h="2090304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Értelmező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hu-HU" altLang="hu-HU" sz="2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interpreter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 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programszöveget nem alakítja át, hanem azt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utasításonként olvassa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elemzi, s a felismert utasítást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azonnal végre is hajtja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majd megkeresi a végrehajtásban következő utasítást.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818459"/>
                  </a:ext>
                </a:extLst>
              </a:tr>
              <a:tr h="1918291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Utasítások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olyan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sorozata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amely a számítógépen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önállóan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képes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megoldani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egy feladatot. (A program háttértáron futtatható formában, egy file-ban van.)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028072"/>
                  </a:ext>
                </a:extLst>
              </a:tr>
              <a:tr h="1630206">
                <a:tc>
                  <a:txBody>
                    <a:bodyPr/>
                    <a:lstStyle/>
                    <a:p>
                      <a:r>
                        <a:rPr lang="hu-HU" altLang="hu-HU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Algoritmus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hu-HU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Számítási,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megoldási folyamat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illetve annak leírása különböző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feladatok</a:t>
                      </a:r>
                      <a:r>
                        <a:rPr lang="hu-HU" altLang="hu-HU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hu-HU" altLang="hu-HU" sz="28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megoldására</a:t>
                      </a:r>
                      <a:r>
                        <a:rPr lang="hu-HU" altLang="hu-HU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6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7281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ia számának helye 3">
            <a:extLst>
              <a:ext uri="{FF2B5EF4-FFF2-40B4-BE49-F238E27FC236}">
                <a16:creationId xmlns:a16="http://schemas.microsoft.com/office/drawing/2014/main" id="{651CD369-4259-D526-0A17-2D423481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7522ED-3767-435B-A125-6A995F131ED5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hu-HU" altLang="hu-HU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C3E6134-80FF-E745-31A1-BA4D788EE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80728"/>
            <a:ext cx="8515672" cy="557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Pontosan definiált,</a:t>
            </a:r>
          </a:p>
          <a:p>
            <a:r>
              <a:rPr lang="hu-HU" altLang="hu-HU" b="1" i="1" dirty="0"/>
              <a:t>Végrehajtható</a:t>
            </a:r>
            <a:r>
              <a:rPr lang="hu-HU" altLang="hu-HU" dirty="0"/>
              <a:t>, lehet hozzá találni végrehajtót (processzort),</a:t>
            </a:r>
          </a:p>
          <a:p>
            <a:r>
              <a:rPr lang="hu-HU" altLang="hu-HU" b="1" i="1" dirty="0"/>
              <a:t>Lépésenként</a:t>
            </a:r>
            <a:r>
              <a:rPr lang="hu-HU" altLang="hu-HU" dirty="0"/>
              <a:t> hajtható végre. A lépések vagy elemi tevékenységek, vagy újabb algoritmusok,</a:t>
            </a:r>
          </a:p>
          <a:p>
            <a:r>
              <a:rPr lang="hu-HU" altLang="hu-HU" dirty="0"/>
              <a:t>Az algoritmus </a:t>
            </a:r>
            <a:r>
              <a:rPr lang="hu-HU" altLang="hu-HU" b="1" i="1" dirty="0"/>
              <a:t>leírásának</a:t>
            </a:r>
            <a:r>
              <a:rPr lang="hu-HU" altLang="hu-HU" dirty="0"/>
              <a:t> </a:t>
            </a:r>
            <a:r>
              <a:rPr lang="hu-HU" altLang="hu-HU" b="1" i="1" dirty="0"/>
              <a:t>sorrendje</a:t>
            </a:r>
            <a:r>
              <a:rPr lang="hu-HU" altLang="hu-HU" dirty="0"/>
              <a:t> megegyezik a </a:t>
            </a:r>
            <a:r>
              <a:rPr lang="hu-HU" altLang="hu-HU" b="1" i="1" dirty="0"/>
              <a:t>végrehajtás sorrendjével</a:t>
            </a:r>
            <a:r>
              <a:rPr lang="hu-HU" altLang="hu-HU" dirty="0"/>
              <a:t>,</a:t>
            </a:r>
          </a:p>
          <a:p>
            <a:r>
              <a:rPr lang="hu-HU" altLang="hu-HU" b="1" i="1" dirty="0"/>
              <a:t>Véges leírása </a:t>
            </a:r>
            <a:r>
              <a:rPr lang="hu-HU" altLang="hu-HU" dirty="0"/>
              <a:t>egy folyamatnak (a végrehajtás nem biztos, hogy véges),</a:t>
            </a:r>
          </a:p>
          <a:p>
            <a:r>
              <a:rPr lang="hu-HU" altLang="hu-HU" dirty="0"/>
              <a:t>Kódolva a </a:t>
            </a:r>
            <a:r>
              <a:rPr lang="hu-HU" altLang="hu-HU" b="1" i="1" dirty="0"/>
              <a:t>programot</a:t>
            </a:r>
            <a:r>
              <a:rPr lang="hu-HU" altLang="hu-HU" dirty="0"/>
              <a:t> eredményezi.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F319155-DACB-A9EE-20E8-415F471AC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884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 dirty="0">
                <a:sym typeface="Wingdings" panose="05000000000000000000" pitchFamily="2" charset="2"/>
              </a:rPr>
              <a:t>Az Algoritmus jellemzői:</a:t>
            </a:r>
            <a:endParaRPr lang="hu-HU" altLang="hu-HU" b="1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ia számának helye 3">
            <a:extLst>
              <a:ext uri="{FF2B5EF4-FFF2-40B4-BE49-F238E27FC236}">
                <a16:creationId xmlns:a16="http://schemas.microsoft.com/office/drawing/2014/main" id="{38D28CD5-48D9-7423-4FDD-DB5F13B6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89C38F-699A-4A91-9E6B-9078D13ED018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hu-HU" altLang="hu-HU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6907ED3-5C29-743A-24F2-3499067E1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8680"/>
            <a:ext cx="876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hu-HU" altLang="hu-HU" b="1" dirty="0"/>
              <a:t>Például:</a:t>
            </a:r>
            <a:endParaRPr lang="hu-HU" altLang="hu-HU" dirty="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688AAE8-FDE3-A3B7-295A-53E2A1623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628800"/>
            <a:ext cx="6248400" cy="3733800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Gondolj egy számot!</a:t>
            </a:r>
          </a:p>
          <a:p>
            <a:r>
              <a:rPr lang="hu-HU" altLang="hu-HU" dirty="0"/>
              <a:t>Szorozd meg 2-vel!</a:t>
            </a:r>
          </a:p>
          <a:p>
            <a:r>
              <a:rPr lang="hu-HU" altLang="hu-HU" dirty="0"/>
              <a:t>Adj hozzá 8-at!</a:t>
            </a:r>
          </a:p>
          <a:p>
            <a:r>
              <a:rPr lang="hu-HU" altLang="hu-HU" dirty="0"/>
              <a:t>Oszd el 2-vel!</a:t>
            </a:r>
          </a:p>
          <a:p>
            <a:r>
              <a:rPr lang="hu-HU" altLang="hu-HU" dirty="0"/>
              <a:t>Vond ki belőle a gondolt számot!</a:t>
            </a:r>
          </a:p>
          <a:p>
            <a:r>
              <a:rPr lang="hu-HU" altLang="hu-HU" dirty="0"/>
              <a:t>Közöld a végeredményt!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ia számának helye 3">
            <a:extLst>
              <a:ext uri="{FF2B5EF4-FFF2-40B4-BE49-F238E27FC236}">
                <a16:creationId xmlns:a16="http://schemas.microsoft.com/office/drawing/2014/main" id="{2799CEC2-024A-B082-0D71-F2F26705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91DC65-A687-4752-AE1F-97F808A07B1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hu-HU" altLang="hu-HU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87061A5-EFE3-5EF7-94C7-4A8161F15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88392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sz="3100" dirty="0"/>
              <a:t>Az utasítások egymásutánját </a:t>
            </a:r>
            <a:r>
              <a:rPr lang="hu-HU" altLang="hu-HU" sz="3100" b="1" dirty="0" err="1"/>
              <a:t>SZEKVENCIÁ</a:t>
            </a:r>
            <a:r>
              <a:rPr lang="hu-HU" altLang="hu-HU" sz="3100" dirty="0" err="1"/>
              <a:t>nak</a:t>
            </a:r>
            <a:r>
              <a:rPr lang="hu-HU" altLang="hu-HU" sz="3100" dirty="0"/>
              <a:t> nevezzük.</a:t>
            </a:r>
          </a:p>
          <a:p>
            <a:endParaRPr lang="hu-HU" altLang="hu-HU" sz="1200" dirty="0"/>
          </a:p>
          <a:p>
            <a:r>
              <a:rPr lang="hu-HU" altLang="hu-HU" sz="3100" dirty="0"/>
              <a:t>Az algoritmus bizonyos részeit - valamilyen feltételtől függően - meg is </a:t>
            </a:r>
            <a:r>
              <a:rPr lang="hu-HU" altLang="hu-HU" sz="3100" b="1" i="1" dirty="0"/>
              <a:t>ismételhetjük</a:t>
            </a:r>
            <a:r>
              <a:rPr lang="hu-HU" altLang="hu-HU" sz="3100" dirty="0"/>
              <a:t>.</a:t>
            </a:r>
          </a:p>
          <a:p>
            <a:r>
              <a:rPr lang="hu-HU" altLang="hu-HU" sz="3100" dirty="0"/>
              <a:t>Az ismétlést </a:t>
            </a:r>
            <a:r>
              <a:rPr lang="hu-HU" altLang="hu-HU" sz="3100" b="1" dirty="0" err="1"/>
              <a:t>CIKLUS</a:t>
            </a:r>
            <a:r>
              <a:rPr lang="hu-HU" altLang="hu-HU" sz="3100" dirty="0" err="1"/>
              <a:t>nak</a:t>
            </a:r>
            <a:r>
              <a:rPr lang="hu-HU" altLang="hu-HU" sz="3100" dirty="0"/>
              <a:t> (</a:t>
            </a:r>
            <a:r>
              <a:rPr lang="hu-HU" altLang="hu-HU" sz="3100" b="1" dirty="0"/>
              <a:t>iteráció</a:t>
            </a:r>
            <a:r>
              <a:rPr lang="hu-HU" altLang="hu-HU" sz="3100" dirty="0"/>
              <a:t>nak) nevezzük.</a:t>
            </a:r>
          </a:p>
          <a:p>
            <a:r>
              <a:rPr lang="hu-HU" altLang="hu-HU" sz="3100" dirty="0"/>
              <a:t>Amit ismételni kell az a </a:t>
            </a:r>
            <a:r>
              <a:rPr lang="hu-HU" altLang="hu-HU" sz="3100" b="1" dirty="0"/>
              <a:t>CIKLUSMAG</a:t>
            </a:r>
            <a:r>
              <a:rPr lang="hu-HU" altLang="hu-HU" sz="3100" dirty="0"/>
              <a:t>.</a:t>
            </a:r>
          </a:p>
          <a:p>
            <a:endParaRPr lang="hu-HU" altLang="hu-HU" sz="1800" dirty="0"/>
          </a:p>
          <a:p>
            <a:r>
              <a:rPr lang="hu-HU" altLang="hu-HU" sz="3100" dirty="0"/>
              <a:t>Bizonyos részeit az algoritmusnak csak egy </a:t>
            </a:r>
            <a:r>
              <a:rPr lang="hu-HU" altLang="hu-HU" sz="3100" b="1" i="1" dirty="0"/>
              <a:t>feltétel</a:t>
            </a:r>
            <a:r>
              <a:rPr lang="hu-HU" altLang="hu-HU" sz="3100" dirty="0"/>
              <a:t> teljesülése esetén kell végrehajtani.</a:t>
            </a:r>
          </a:p>
          <a:p>
            <a:r>
              <a:rPr lang="hu-HU" altLang="hu-HU" sz="3100" dirty="0"/>
              <a:t>Ha a feltétel nem teljesül, akkor mást kell csinálni.</a:t>
            </a:r>
          </a:p>
          <a:p>
            <a:r>
              <a:rPr lang="hu-HU" altLang="hu-HU" sz="3100" dirty="0"/>
              <a:t>Ezt nevezzük </a:t>
            </a:r>
            <a:r>
              <a:rPr lang="hu-HU" altLang="hu-HU" sz="3100" b="1" dirty="0" err="1"/>
              <a:t>ELÁGAZÁS</a:t>
            </a:r>
            <a:r>
              <a:rPr lang="hu-HU" altLang="hu-HU" sz="3100" dirty="0" err="1"/>
              <a:t>nak</a:t>
            </a:r>
            <a:r>
              <a:rPr lang="hu-HU" altLang="hu-HU" sz="3100" dirty="0"/>
              <a:t> (</a:t>
            </a:r>
            <a:r>
              <a:rPr lang="hu-HU" altLang="hu-HU" sz="3100" b="1" dirty="0"/>
              <a:t>szelekció</a:t>
            </a:r>
            <a:r>
              <a:rPr lang="hu-HU" altLang="hu-HU" sz="3100" dirty="0"/>
              <a:t>nak).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5DE86C87-E062-95B9-3760-049B31436D7E}"/>
              </a:ext>
            </a:extLst>
          </p:cNvPr>
          <p:cNvCxnSpPr/>
          <p:nvPr/>
        </p:nvCxnSpPr>
        <p:spPr>
          <a:xfrm>
            <a:off x="2987824" y="1484784"/>
            <a:ext cx="31683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985FBC49-CB63-E42B-DB3F-70433A7220F9}"/>
              </a:ext>
            </a:extLst>
          </p:cNvPr>
          <p:cNvCxnSpPr/>
          <p:nvPr/>
        </p:nvCxnSpPr>
        <p:spPr>
          <a:xfrm>
            <a:off x="2987824" y="4005064"/>
            <a:ext cx="31683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ia számának helye 3">
            <a:extLst>
              <a:ext uri="{FF2B5EF4-FFF2-40B4-BE49-F238E27FC236}">
                <a16:creationId xmlns:a16="http://schemas.microsoft.com/office/drawing/2014/main" id="{FECCA60B-320D-310E-AA49-471CDC77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09B757-D48A-4AEE-AD6B-A3D9B46E3F5F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hu-HU" altLang="hu-HU" sz="1400"/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DF00D222-3467-8158-959B-7EF845CB8A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317574"/>
              </p:ext>
            </p:extLst>
          </p:nvPr>
        </p:nvGraphicFramePr>
        <p:xfrm>
          <a:off x="2310655" y="300166"/>
          <a:ext cx="5573713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Kép" r:id="rId2" imgW="5756148" imgH="6601968" progId="Word.Picture.8">
                  <p:embed/>
                </p:oleObj>
              </mc:Choice>
              <mc:Fallback>
                <p:oleObj name="Kép" r:id="rId2" imgW="5756148" imgH="6601968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655" y="300166"/>
                        <a:ext cx="5573713" cy="617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D01B077C-2E9E-1BF9-CCCE-C66AD3E4F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36712"/>
            <a:ext cx="2596344" cy="17281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ia számának helye 3">
            <a:extLst>
              <a:ext uri="{FF2B5EF4-FFF2-40B4-BE49-F238E27FC236}">
                <a16:creationId xmlns:a16="http://schemas.microsoft.com/office/drawing/2014/main" id="{951FF53F-4804-0562-1F26-3EB0A08A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9F02DA-E5D5-4EE6-B646-96B7D3E5639B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hu-HU" altLang="hu-HU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4BE4D03-6F70-A08F-86B7-42146377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76" y="160184"/>
            <a:ext cx="90043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7444" tIns="43722" rIns="87444" bIns="43722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hu-HU" sz="4400" b="1" dirty="0" err="1"/>
              <a:t>Hallgat</a:t>
            </a:r>
            <a:r>
              <a:rPr lang="hu-HU" altLang="hu-HU" sz="4400" b="1" dirty="0"/>
              <a:t>ói lekérdező rendszer</a:t>
            </a:r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ED49C65A-F374-0498-C1C5-98A3138C0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534400" cy="5508625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35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63600" indent="-388938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468438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87538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306638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63838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21038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78238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35438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hu-HU" altLang="hu-HU" sz="2800" b="1" dirty="0">
                <a:solidFill>
                  <a:srgbClr val="000000"/>
                </a:solidFill>
              </a:rPr>
              <a:t>F</a:t>
            </a:r>
            <a:r>
              <a:rPr lang="en-US" altLang="hu-HU" sz="2800" b="1" dirty="0" err="1">
                <a:solidFill>
                  <a:srgbClr val="000000"/>
                </a:solidFill>
              </a:rPr>
              <a:t>eladatspecifikáció</a:t>
            </a:r>
            <a:endParaRPr lang="hu-HU" altLang="hu-HU" sz="2800" dirty="0">
              <a:solidFill>
                <a:srgbClr val="000000"/>
              </a:solidFill>
            </a:endParaRPr>
          </a:p>
          <a:p>
            <a:pPr algn="just">
              <a:spcBef>
                <a:spcPct val="50000"/>
              </a:spcBef>
              <a:buFontTx/>
              <a:buNone/>
            </a:pPr>
            <a:r>
              <a:rPr lang="hu-HU" altLang="hu-HU" sz="2800" dirty="0">
                <a:solidFill>
                  <a:srgbClr val="000000"/>
                </a:solidFill>
              </a:rPr>
              <a:t>Minden hallgatóról nyilvántartjuk a következő információt: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hu-HU" altLang="hu-HU" dirty="0">
                <a:solidFill>
                  <a:srgbClr val="000000"/>
                </a:solidFill>
              </a:rPr>
              <a:t>Hallgató azonosítója (</a:t>
            </a:r>
            <a:r>
              <a:rPr lang="hu-HU" altLang="hu-HU" dirty="0" err="1">
                <a:solidFill>
                  <a:srgbClr val="000000"/>
                </a:solidFill>
              </a:rPr>
              <a:t>Neptun</a:t>
            </a:r>
            <a:r>
              <a:rPr lang="hu-HU" altLang="hu-HU" dirty="0">
                <a:solidFill>
                  <a:srgbClr val="000000"/>
                </a:solidFill>
              </a:rPr>
              <a:t> kód, egyedi)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hu-HU" altLang="hu-HU" dirty="0">
                <a:solidFill>
                  <a:srgbClr val="000000"/>
                </a:solidFill>
              </a:rPr>
              <a:t>Hallgató neve (</a:t>
            </a:r>
            <a:r>
              <a:rPr lang="hu-HU" altLang="hu-HU" dirty="0" err="1">
                <a:solidFill>
                  <a:srgbClr val="000000"/>
                </a:solidFill>
              </a:rPr>
              <a:t>max</a:t>
            </a:r>
            <a:r>
              <a:rPr lang="hu-HU" altLang="hu-HU" dirty="0">
                <a:solidFill>
                  <a:srgbClr val="000000"/>
                </a:solidFill>
              </a:rPr>
              <a:t>. 30 betű)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hu-HU" altLang="hu-HU" dirty="0">
                <a:solidFill>
                  <a:srgbClr val="000000"/>
                </a:solidFill>
              </a:rPr>
              <a:t>Jegy a </a:t>
            </a:r>
            <a:r>
              <a:rPr lang="hu-HU" altLang="hu-HU" b="1" i="1" dirty="0">
                <a:solidFill>
                  <a:srgbClr val="000000"/>
                </a:solidFill>
              </a:rPr>
              <a:t>Bevezetés a programozásba </a:t>
            </a:r>
            <a:r>
              <a:rPr lang="hu-HU" altLang="hu-HU" dirty="0">
                <a:solidFill>
                  <a:srgbClr val="000000"/>
                </a:solidFill>
              </a:rPr>
              <a:t>tárgyból (1</a:t>
            </a:r>
            <a:r>
              <a:rPr lang="hu-HU" altLang="hu-HU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hu-HU" altLang="hu-HU" dirty="0">
                <a:solidFill>
                  <a:srgbClr val="000000"/>
                </a:solidFill>
              </a:rPr>
              <a:t>5)</a:t>
            </a:r>
          </a:p>
          <a:p>
            <a:pPr algn="just">
              <a:spcBef>
                <a:spcPts val="1000"/>
              </a:spcBef>
              <a:spcAft>
                <a:spcPts val="300"/>
              </a:spcAft>
              <a:buFontTx/>
              <a:buNone/>
            </a:pPr>
            <a:r>
              <a:rPr lang="hu-HU" altLang="hu-HU" sz="2800" dirty="0">
                <a:solidFill>
                  <a:srgbClr val="000000"/>
                </a:solidFill>
              </a:rPr>
              <a:t>A program kérje be a hallgató azonosítóját, majd az alapján írja ki a hallgató nevét és jegyét.</a:t>
            </a:r>
          </a:p>
          <a:p>
            <a:pPr algn="just">
              <a:spcBef>
                <a:spcPts val="1000"/>
              </a:spcBef>
              <a:spcAft>
                <a:spcPts val="300"/>
              </a:spcAft>
              <a:buFontTx/>
              <a:buNone/>
            </a:pPr>
            <a:r>
              <a:rPr lang="hu-HU" altLang="hu-HU" sz="2800" dirty="0">
                <a:solidFill>
                  <a:srgbClr val="000000"/>
                </a:solidFill>
              </a:rPr>
              <a:t>Ha nincs ilyen hallgató, adjon hibaüzenetet!</a:t>
            </a:r>
          </a:p>
          <a:p>
            <a:pPr algn="just">
              <a:spcBef>
                <a:spcPts val="1000"/>
              </a:spcBef>
              <a:spcAft>
                <a:spcPts val="300"/>
              </a:spcAft>
              <a:buFontTx/>
              <a:buNone/>
            </a:pPr>
            <a:r>
              <a:rPr lang="hu-HU" altLang="hu-HU" sz="2800" dirty="0">
                <a:solidFill>
                  <a:srgbClr val="000000"/>
                </a:solidFill>
              </a:rPr>
              <a:t>Mindezt tegye addig, amíg a hallgató azonosítójaként egy „*”-ot nem adnak meg. Ekkor a program </a:t>
            </a:r>
            <a:r>
              <a:rPr lang="hu-HU" altLang="hu-HU" sz="2800" dirty="0" err="1">
                <a:solidFill>
                  <a:srgbClr val="000000"/>
                </a:solidFill>
              </a:rPr>
              <a:t>köszönjön</a:t>
            </a:r>
            <a:r>
              <a:rPr lang="hu-HU" altLang="hu-HU" sz="2800" dirty="0">
                <a:solidFill>
                  <a:srgbClr val="000000"/>
                </a:solidFill>
              </a:rPr>
              <a:t> el!</a:t>
            </a:r>
            <a:endParaRPr lang="en-US" altLang="hu-HU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ia számának helye 3">
            <a:extLst>
              <a:ext uri="{FF2B5EF4-FFF2-40B4-BE49-F238E27FC236}">
                <a16:creationId xmlns:a16="http://schemas.microsoft.com/office/drawing/2014/main" id="{39E9C81B-00B3-C0FE-2556-7AB56FBA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912D2A-C91E-4B5E-AD54-712CDB8E69AD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hu-HU" altLang="hu-HU" sz="1400"/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0338C566-94FF-008F-2952-B4D02ED90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49749"/>
              </p:ext>
            </p:extLst>
          </p:nvPr>
        </p:nvGraphicFramePr>
        <p:xfrm>
          <a:off x="319088" y="509588"/>
          <a:ext cx="8632825" cy="591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35765" imgH="5436938" progId="Word.Document.8">
                  <p:embed/>
                </p:oleObj>
              </mc:Choice>
              <mc:Fallback>
                <p:oleObj name="Document" r:id="rId2" imgW="7935765" imgH="54369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509588"/>
                        <a:ext cx="8632825" cy="591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ia számának helye 3">
            <a:extLst>
              <a:ext uri="{FF2B5EF4-FFF2-40B4-BE49-F238E27FC236}">
                <a16:creationId xmlns:a16="http://schemas.microsoft.com/office/drawing/2014/main" id="{5F1452B4-FD1A-6AA4-F37B-23551430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22EE6A-E9F6-459E-90B5-F122976870CE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hu-HU" altLang="hu-HU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88ADFCF-8F40-A18C-D196-E471568D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" y="692696"/>
            <a:ext cx="7769225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400" b="1" dirty="0"/>
              <a:t>Algoritmusleíró eszközök</a:t>
            </a:r>
            <a:endParaRPr lang="en-US" altLang="hu-HU" sz="4400" b="1" dirty="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925A1CA-5EDA-0896-D474-F2E3758E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988" y="1988840"/>
            <a:ext cx="76200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sz="3600" dirty="0"/>
              <a:t>Folyamatábra,</a:t>
            </a:r>
          </a:p>
          <a:p>
            <a:r>
              <a:rPr lang="hu-HU" altLang="hu-HU" sz="3600" dirty="0" err="1"/>
              <a:t>Struktogram</a:t>
            </a:r>
            <a:r>
              <a:rPr lang="hu-HU" altLang="hu-HU" sz="3600" dirty="0"/>
              <a:t>,</a:t>
            </a:r>
          </a:p>
          <a:p>
            <a:r>
              <a:rPr lang="hu-HU" altLang="hu-HU" sz="3600" dirty="0"/>
              <a:t>Mondatszerű leírás,</a:t>
            </a:r>
          </a:p>
          <a:p>
            <a:r>
              <a:rPr lang="hu-HU" altLang="hu-HU" sz="3600" dirty="0"/>
              <a:t>Jackson-leírás,</a:t>
            </a:r>
          </a:p>
          <a:p>
            <a:r>
              <a:rPr lang="hu-HU" altLang="hu-HU" sz="3600" dirty="0"/>
              <a:t>egyéb.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ia számának helye 3">
            <a:extLst>
              <a:ext uri="{FF2B5EF4-FFF2-40B4-BE49-F238E27FC236}">
                <a16:creationId xmlns:a16="http://schemas.microsoft.com/office/drawing/2014/main" id="{5C2F4D0D-8B58-4781-FFE8-27FCAF14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056855-D3F4-41A7-9E60-B377933A2BBA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hu-HU" altLang="hu-HU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1B98B90-F2B7-44F6-9BFA-3770C8ADF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83" y="220512"/>
            <a:ext cx="37322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hu-HU" sz="4400" b="1" dirty="0" err="1"/>
              <a:t>Folyamatábra</a:t>
            </a:r>
            <a:endParaRPr lang="en-US" altLang="hu-HU" sz="4400" b="1" dirty="0"/>
          </a:p>
        </p:txBody>
      </p:sp>
      <p:grpSp>
        <p:nvGrpSpPr>
          <p:cNvPr id="24580" name="Group 3">
            <a:extLst>
              <a:ext uri="{FF2B5EF4-FFF2-40B4-BE49-F238E27FC236}">
                <a16:creationId xmlns:a16="http://schemas.microsoft.com/office/drawing/2014/main" id="{CF44365D-E068-C02D-05DB-42E7D75F496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81000"/>
            <a:ext cx="4648200" cy="6172200"/>
            <a:chOff x="2592" y="144"/>
            <a:chExt cx="3360" cy="4080"/>
          </a:xfrm>
        </p:grpSpPr>
        <p:sp>
          <p:nvSpPr>
            <p:cNvPr id="24581" name="Line 4">
              <a:extLst>
                <a:ext uri="{FF2B5EF4-FFF2-40B4-BE49-F238E27FC236}">
                  <a16:creationId xmlns:a16="http://schemas.microsoft.com/office/drawing/2014/main" id="{E16EA2BC-8EDE-1C2A-90EE-078A87D3C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760"/>
              <a:ext cx="3" cy="2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24582" name="Group 5">
              <a:extLst>
                <a:ext uri="{FF2B5EF4-FFF2-40B4-BE49-F238E27FC236}">
                  <a16:creationId xmlns:a16="http://schemas.microsoft.com/office/drawing/2014/main" id="{3ED0FE2A-AFC1-320F-263C-6D4F0CE99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144"/>
              <a:ext cx="937" cy="238"/>
              <a:chOff x="1" y="0"/>
              <a:chExt cx="19998" cy="20216"/>
            </a:xfrm>
          </p:grpSpPr>
          <p:grpSp>
            <p:nvGrpSpPr>
              <p:cNvPr id="24690" name="Group 6">
                <a:extLst>
                  <a:ext uri="{FF2B5EF4-FFF2-40B4-BE49-F238E27FC236}">
                    <a16:creationId xmlns:a16="http://schemas.microsoft.com/office/drawing/2014/main" id="{0376BDA1-94CF-3AB1-2ACC-BF6DB756AF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" y="0"/>
                <a:ext cx="19998" cy="20216"/>
                <a:chOff x="1" y="0"/>
                <a:chExt cx="19998" cy="20216"/>
              </a:xfrm>
            </p:grpSpPr>
            <p:sp>
              <p:nvSpPr>
                <p:cNvPr id="24692" name="Line 7">
                  <a:extLst>
                    <a:ext uri="{FF2B5EF4-FFF2-40B4-BE49-F238E27FC236}">
                      <a16:creationId xmlns:a16="http://schemas.microsoft.com/office/drawing/2014/main" id="{736AAA33-2DCD-84BE-0A03-6BEBC1FFE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4" y="0"/>
                  <a:ext cx="11432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grpSp>
              <p:nvGrpSpPr>
                <p:cNvPr id="24693" name="Group 8">
                  <a:extLst>
                    <a:ext uri="{FF2B5EF4-FFF2-40B4-BE49-F238E27FC236}">
                      <a16:creationId xmlns:a16="http://schemas.microsoft.com/office/drawing/2014/main" id="{B2D1C564-721B-7E6E-890A-825830837D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" y="0"/>
                  <a:ext cx="4293" cy="20216"/>
                  <a:chOff x="0" y="0"/>
                  <a:chExt cx="20000" cy="20000"/>
                </a:xfrm>
              </p:grpSpPr>
              <p:sp>
                <p:nvSpPr>
                  <p:cNvPr id="24698" name="Arc 9">
                    <a:extLst>
                      <a:ext uri="{FF2B5EF4-FFF2-40B4-BE49-F238E27FC236}">
                        <a16:creationId xmlns:a16="http://schemas.microsoft.com/office/drawing/2014/main" id="{DFEF68B8-D9A8-69B0-73EC-1C30C0692B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0" y="1000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99" name="Arc 10">
                    <a:extLst>
                      <a:ext uri="{FF2B5EF4-FFF2-40B4-BE49-F238E27FC236}">
                        <a16:creationId xmlns:a16="http://schemas.microsoft.com/office/drawing/2014/main" id="{3A68959C-1917-F16F-0A25-533B09925C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0" y="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24694" name="Line 11">
                  <a:extLst>
                    <a:ext uri="{FF2B5EF4-FFF2-40B4-BE49-F238E27FC236}">
                      <a16:creationId xmlns:a16="http://schemas.microsoft.com/office/drawing/2014/main" id="{69E2D449-BB18-2AF5-101A-6EA7E29B43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4" y="20132"/>
                  <a:ext cx="11432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grpSp>
              <p:nvGrpSpPr>
                <p:cNvPr id="24695" name="Group 12">
                  <a:extLst>
                    <a:ext uri="{FF2B5EF4-FFF2-40B4-BE49-F238E27FC236}">
                      <a16:creationId xmlns:a16="http://schemas.microsoft.com/office/drawing/2014/main" id="{F4C1DC57-6238-4C8E-C730-86C991A3D0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706" y="0"/>
                  <a:ext cx="4293" cy="20216"/>
                  <a:chOff x="0" y="0"/>
                  <a:chExt cx="20000" cy="20000"/>
                </a:xfrm>
              </p:grpSpPr>
              <p:sp>
                <p:nvSpPr>
                  <p:cNvPr id="24696" name="Arc 13">
                    <a:extLst>
                      <a:ext uri="{FF2B5EF4-FFF2-40B4-BE49-F238E27FC236}">
                        <a16:creationId xmlns:a16="http://schemas.microsoft.com/office/drawing/2014/main" id="{FEA9B549-4443-4E28-379E-B4E78CDAC1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0" y="1000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97" name="Arc 14">
                    <a:extLst>
                      <a:ext uri="{FF2B5EF4-FFF2-40B4-BE49-F238E27FC236}">
                        <a16:creationId xmlns:a16="http://schemas.microsoft.com/office/drawing/2014/main" id="{DCACC171-76B7-5698-3A41-E61C011781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</p:grpSp>
          <p:sp>
            <p:nvSpPr>
              <p:cNvPr id="24691" name="Rectangle 15">
                <a:extLst>
                  <a:ext uri="{FF2B5EF4-FFF2-40B4-BE49-F238E27FC236}">
                    <a16:creationId xmlns:a16="http://schemas.microsoft.com/office/drawing/2014/main" id="{17ED066B-897C-DD90-7D04-7F8FC92EE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" y="4004"/>
                <a:ext cx="14288" cy="12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AU" altLang="hu-HU" sz="1600"/>
                  <a:t>Start</a:t>
                </a:r>
                <a:endParaRPr lang="en-AU" altLang="hu-HU" sz="1800"/>
              </a:p>
            </p:txBody>
          </p:sp>
        </p:grpSp>
        <p:grpSp>
          <p:nvGrpSpPr>
            <p:cNvPr id="24583" name="Group 16">
              <a:extLst>
                <a:ext uri="{FF2B5EF4-FFF2-40B4-BE49-F238E27FC236}">
                  <a16:creationId xmlns:a16="http://schemas.microsoft.com/office/drawing/2014/main" id="{162570D3-547C-1827-6C23-F1FAEA58C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476"/>
              <a:ext cx="937" cy="237"/>
              <a:chOff x="-1" y="0"/>
              <a:chExt cx="20001" cy="20188"/>
            </a:xfrm>
          </p:grpSpPr>
          <p:grpSp>
            <p:nvGrpSpPr>
              <p:cNvPr id="24683" name="Group 17">
                <a:extLst>
                  <a:ext uri="{FF2B5EF4-FFF2-40B4-BE49-F238E27FC236}">
                    <a16:creationId xmlns:a16="http://schemas.microsoft.com/office/drawing/2014/main" id="{7B3AE44E-4725-8D18-547A-E1BC27E4C6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20001" cy="20188"/>
                <a:chOff x="-1" y="0"/>
                <a:chExt cx="20001" cy="20188"/>
              </a:xfrm>
            </p:grpSpPr>
            <p:sp>
              <p:nvSpPr>
                <p:cNvPr id="24685" name="Line 18">
                  <a:extLst>
                    <a:ext uri="{FF2B5EF4-FFF2-40B4-BE49-F238E27FC236}">
                      <a16:creationId xmlns:a16="http://schemas.microsoft.com/office/drawing/2014/main" id="{ADED6ED3-8954-34B4-84BD-F971A475D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11" y="0"/>
                  <a:ext cx="14289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6" name="Line 19">
                  <a:extLst>
                    <a:ext uri="{FF2B5EF4-FFF2-40B4-BE49-F238E27FC236}">
                      <a16:creationId xmlns:a16="http://schemas.microsoft.com/office/drawing/2014/main" id="{20282FDE-E7EF-D167-15E6-9D1D28F900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" y="20160"/>
                  <a:ext cx="20001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7" name="Line 20">
                  <a:extLst>
                    <a:ext uri="{FF2B5EF4-FFF2-40B4-BE49-F238E27FC236}">
                      <a16:creationId xmlns:a16="http://schemas.microsoft.com/office/drawing/2014/main" id="{900578A0-1872-6A06-60C1-92AFCA08D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90" y="0"/>
                  <a:ext cx="10" cy="201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8" name="Line 21">
                  <a:extLst>
                    <a:ext uri="{FF2B5EF4-FFF2-40B4-BE49-F238E27FC236}">
                      <a16:creationId xmlns:a16="http://schemas.microsoft.com/office/drawing/2014/main" id="{6806149D-743B-5C6D-0ED4-3FA002FE0F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" y="8064"/>
                  <a:ext cx="10" cy="1212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9" name="Line 22">
                  <a:extLst>
                    <a:ext uri="{FF2B5EF4-FFF2-40B4-BE49-F238E27FC236}">
                      <a16:creationId xmlns:a16="http://schemas.microsoft.com/office/drawing/2014/main" id="{1E8EB5D2-0DEA-DC0F-B3B1-D1FD4C7F22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-1" y="0"/>
                  <a:ext cx="5722" cy="809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sp>
            <p:nvSpPr>
              <p:cNvPr id="24684" name="Rectangle 23">
                <a:extLst>
                  <a:ext uri="{FF2B5EF4-FFF2-40B4-BE49-F238E27FC236}">
                    <a16:creationId xmlns:a16="http://schemas.microsoft.com/office/drawing/2014/main" id="{6941845B-0956-F8FE-B2C2-C3E42E4D7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" y="4004"/>
                <a:ext cx="17145" cy="121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AU" altLang="hu-HU" sz="1600"/>
                  <a:t>Azonosító</a:t>
                </a:r>
              </a:p>
            </p:txBody>
          </p:sp>
        </p:grpSp>
        <p:sp>
          <p:nvSpPr>
            <p:cNvPr id="24584" name="Line 24">
              <a:extLst>
                <a:ext uri="{FF2B5EF4-FFF2-40B4-BE49-F238E27FC236}">
                  <a16:creationId xmlns:a16="http://schemas.microsoft.com/office/drawing/2014/main" id="{0218B782-1A77-F0D5-132B-9D7D355F8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381"/>
              <a:ext cx="1" cy="9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85" name="Line 25">
              <a:extLst>
                <a:ext uri="{FF2B5EF4-FFF2-40B4-BE49-F238E27FC236}">
                  <a16:creationId xmlns:a16="http://schemas.microsoft.com/office/drawing/2014/main" id="{AAFD47B5-F420-7C4D-3D2B-81D99A158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376"/>
              <a:ext cx="1" cy="1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86" name="Line 26">
              <a:extLst>
                <a:ext uri="{FF2B5EF4-FFF2-40B4-BE49-F238E27FC236}">
                  <a16:creationId xmlns:a16="http://schemas.microsoft.com/office/drawing/2014/main" id="{88EC497B-8C14-2B2A-269D-B70351D58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713"/>
              <a:ext cx="1" cy="1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87" name="Rectangle 27">
              <a:extLst>
                <a:ext uri="{FF2B5EF4-FFF2-40B4-BE49-F238E27FC236}">
                  <a16:creationId xmlns:a16="http://schemas.microsoft.com/office/drawing/2014/main" id="{B49CA1A7-E273-D569-1B56-2D4B43071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1" y="1011"/>
              <a:ext cx="803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 dirty="0" err="1"/>
                <a:t>Azonosító</a:t>
              </a:r>
              <a:endParaRPr lang="en-AU" altLang="hu-HU" sz="1400" dirty="0"/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hu-HU" altLang="hu-HU" sz="1600" dirty="0">
                  <a:cs typeface="Times New Roman" panose="02020603050405020304" pitchFamily="18" charset="0"/>
                </a:rPr>
                <a:t>≠</a:t>
              </a:r>
              <a:r>
                <a:rPr lang="en-AU" altLang="hu-HU" sz="1600" dirty="0"/>
                <a:t> '*'</a:t>
              </a:r>
            </a:p>
          </p:txBody>
        </p:sp>
        <p:grpSp>
          <p:nvGrpSpPr>
            <p:cNvPr id="24588" name="Group 28">
              <a:extLst>
                <a:ext uri="{FF2B5EF4-FFF2-40B4-BE49-F238E27FC236}">
                  <a16:creationId xmlns:a16="http://schemas.microsoft.com/office/drawing/2014/main" id="{393CDEDD-C4A3-5013-71A3-870C7AD33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855"/>
              <a:ext cx="937" cy="522"/>
              <a:chOff x="0" y="0"/>
              <a:chExt cx="20000" cy="20000"/>
            </a:xfrm>
          </p:grpSpPr>
          <p:grpSp>
            <p:nvGrpSpPr>
              <p:cNvPr id="24677" name="Group 29">
                <a:extLst>
                  <a:ext uri="{FF2B5EF4-FFF2-40B4-BE49-F238E27FC236}">
                    <a16:creationId xmlns:a16="http://schemas.microsoft.com/office/drawing/2014/main" id="{EDFB6536-6DF4-E47A-512D-B3335B776B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"/>
                <a:ext cx="10005" cy="19987"/>
                <a:chOff x="0" y="0"/>
                <a:chExt cx="20000" cy="20001"/>
              </a:xfrm>
            </p:grpSpPr>
            <p:sp>
              <p:nvSpPr>
                <p:cNvPr id="24681" name="Line 30">
                  <a:extLst>
                    <a:ext uri="{FF2B5EF4-FFF2-40B4-BE49-F238E27FC236}">
                      <a16:creationId xmlns:a16="http://schemas.microsoft.com/office/drawing/2014/main" id="{2AF17732-CBAE-78BC-9D22-238F6A437A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20000" cy="1001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2" name="Line 31">
                  <a:extLst>
                    <a:ext uri="{FF2B5EF4-FFF2-40B4-BE49-F238E27FC236}">
                      <a16:creationId xmlns:a16="http://schemas.microsoft.com/office/drawing/2014/main" id="{3F214D58-80C2-1161-AE12-530A7A8A66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0" y="9988"/>
                  <a:ext cx="20000" cy="1001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grpSp>
            <p:nvGrpSpPr>
              <p:cNvPr id="24678" name="Group 32">
                <a:extLst>
                  <a:ext uri="{FF2B5EF4-FFF2-40B4-BE49-F238E27FC236}">
                    <a16:creationId xmlns:a16="http://schemas.microsoft.com/office/drawing/2014/main" id="{DD241390-15C5-606E-0825-3C12595945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95" y="0"/>
                <a:ext cx="10005" cy="19987"/>
                <a:chOff x="0" y="0"/>
                <a:chExt cx="20000" cy="20001"/>
              </a:xfrm>
            </p:grpSpPr>
            <p:sp>
              <p:nvSpPr>
                <p:cNvPr id="24679" name="Line 33">
                  <a:extLst>
                    <a:ext uri="{FF2B5EF4-FFF2-40B4-BE49-F238E27FC236}">
                      <a16:creationId xmlns:a16="http://schemas.microsoft.com/office/drawing/2014/main" id="{A20C8ED4-76E4-DC75-C2A9-0CAD7CB39F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1001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80" name="Line 34">
                  <a:extLst>
                    <a:ext uri="{FF2B5EF4-FFF2-40B4-BE49-F238E27FC236}">
                      <a16:creationId xmlns:a16="http://schemas.microsoft.com/office/drawing/2014/main" id="{7E82D66B-C8DD-9330-2743-55C12367B6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9988"/>
                  <a:ext cx="20000" cy="1001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</p:grpSp>
        <p:grpSp>
          <p:nvGrpSpPr>
            <p:cNvPr id="24589" name="Group 35">
              <a:extLst>
                <a:ext uri="{FF2B5EF4-FFF2-40B4-BE49-F238E27FC236}">
                  <a16:creationId xmlns:a16="http://schemas.microsoft.com/office/drawing/2014/main" id="{854E71B2-DE7F-DEED-127F-50986BE4B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3" y="1518"/>
              <a:ext cx="1506" cy="190"/>
              <a:chOff x="0" y="0"/>
              <a:chExt cx="20000" cy="20000"/>
            </a:xfrm>
          </p:grpSpPr>
          <p:sp>
            <p:nvSpPr>
              <p:cNvPr id="24674" name="Rectangle 36">
                <a:extLst>
                  <a:ext uri="{FF2B5EF4-FFF2-40B4-BE49-F238E27FC236}">
                    <a16:creationId xmlns:a16="http://schemas.microsoft.com/office/drawing/2014/main" id="{52774E3C-53B2-E40B-F57D-E9CF90316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19965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ts val="500"/>
                  </a:spcBef>
                  <a:buFontTx/>
                  <a:buNone/>
                </a:pPr>
                <a:r>
                  <a:rPr lang="en-AU" altLang="hu-HU" sz="1600"/>
                  <a:t>Hallgató keresése</a:t>
                </a:r>
              </a:p>
            </p:txBody>
          </p:sp>
          <p:sp>
            <p:nvSpPr>
              <p:cNvPr id="24675" name="Line 37">
                <a:extLst>
                  <a:ext uri="{FF2B5EF4-FFF2-40B4-BE49-F238E27FC236}">
                    <a16:creationId xmlns:a16="http://schemas.microsoft.com/office/drawing/2014/main" id="{21A2BFF3-F9EC-92E2-9C52-5E32400FF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15" y="0"/>
                <a:ext cx="6" cy="200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76" name="Line 38">
                <a:extLst>
                  <a:ext uri="{FF2B5EF4-FFF2-40B4-BE49-F238E27FC236}">
                    <a16:creationId xmlns:a16="http://schemas.microsoft.com/office/drawing/2014/main" id="{787BB05E-0F26-6238-7AC3-D9046BC67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2" y="0"/>
                <a:ext cx="7" cy="200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4590" name="Line 39">
              <a:extLst>
                <a:ext uri="{FF2B5EF4-FFF2-40B4-BE49-F238E27FC236}">
                  <a16:creationId xmlns:a16="http://schemas.microsoft.com/office/drawing/2014/main" id="{BE615E91-7BD9-F141-8832-4F51F8C7B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708"/>
              <a:ext cx="1" cy="9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91" name="Line 40">
              <a:extLst>
                <a:ext uri="{FF2B5EF4-FFF2-40B4-BE49-F238E27FC236}">
                  <a16:creationId xmlns:a16="http://schemas.microsoft.com/office/drawing/2014/main" id="{760AC296-1CA8-B205-DA16-571962F15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3224"/>
              <a:ext cx="5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24592" name="Group 41">
              <a:extLst>
                <a:ext uri="{FF2B5EF4-FFF2-40B4-BE49-F238E27FC236}">
                  <a16:creationId xmlns:a16="http://schemas.microsoft.com/office/drawing/2014/main" id="{3D09E568-1DD1-EFE4-1980-B2B09D0F3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8" y="1803"/>
              <a:ext cx="937" cy="474"/>
              <a:chOff x="0" y="0"/>
              <a:chExt cx="20000" cy="20000"/>
            </a:xfrm>
          </p:grpSpPr>
          <p:sp>
            <p:nvSpPr>
              <p:cNvPr id="24666" name="Rectangle 42">
                <a:extLst>
                  <a:ext uri="{FF2B5EF4-FFF2-40B4-BE49-F238E27FC236}">
                    <a16:creationId xmlns:a16="http://schemas.microsoft.com/office/drawing/2014/main" id="{10AED76E-EB24-E46B-F8A3-A57BCC6E7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7273"/>
                <a:ext cx="17144" cy="109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AU" altLang="hu-HU" sz="1600"/>
                  <a:t>Megvan?</a:t>
                </a:r>
              </a:p>
            </p:txBody>
          </p:sp>
          <p:grpSp>
            <p:nvGrpSpPr>
              <p:cNvPr id="24667" name="Group 43">
                <a:extLst>
                  <a:ext uri="{FF2B5EF4-FFF2-40B4-BE49-F238E27FC236}">
                    <a16:creationId xmlns:a16="http://schemas.microsoft.com/office/drawing/2014/main" id="{12F4CCC4-2691-416C-65F9-FECD60149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grpSp>
              <p:nvGrpSpPr>
                <p:cNvPr id="24668" name="Group 44">
                  <a:extLst>
                    <a:ext uri="{FF2B5EF4-FFF2-40B4-BE49-F238E27FC236}">
                      <a16:creationId xmlns:a16="http://schemas.microsoft.com/office/drawing/2014/main" id="{F6C0BB77-090D-2C6A-99E8-02366BCE2D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4"/>
                  <a:ext cx="10005" cy="19986"/>
                  <a:chOff x="0" y="0"/>
                  <a:chExt cx="20000" cy="20000"/>
                </a:xfrm>
              </p:grpSpPr>
              <p:sp>
                <p:nvSpPr>
                  <p:cNvPr id="24672" name="Line 45">
                    <a:extLst>
                      <a:ext uri="{FF2B5EF4-FFF2-40B4-BE49-F238E27FC236}">
                        <a16:creationId xmlns:a16="http://schemas.microsoft.com/office/drawing/2014/main" id="{C39E97EA-8784-F136-EB2C-4AA1C72351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0"/>
                    <a:ext cx="20000" cy="10014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73" name="Line 46">
                    <a:extLst>
                      <a:ext uri="{FF2B5EF4-FFF2-40B4-BE49-F238E27FC236}">
                        <a16:creationId xmlns:a16="http://schemas.microsoft.com/office/drawing/2014/main" id="{0777E1AB-BF90-B305-0034-2B4A7283EF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0" y="9986"/>
                    <a:ext cx="20000" cy="10014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grpSp>
              <p:nvGrpSpPr>
                <p:cNvPr id="24669" name="Group 47">
                  <a:extLst>
                    <a:ext uri="{FF2B5EF4-FFF2-40B4-BE49-F238E27FC236}">
                      <a16:creationId xmlns:a16="http://schemas.microsoft.com/office/drawing/2014/main" id="{B990ABAE-EC28-8456-B391-E2A9495F6F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95" y="0"/>
                  <a:ext cx="10005" cy="19986"/>
                  <a:chOff x="0" y="0"/>
                  <a:chExt cx="20000" cy="20000"/>
                </a:xfrm>
              </p:grpSpPr>
              <p:sp>
                <p:nvSpPr>
                  <p:cNvPr id="24670" name="Line 48">
                    <a:extLst>
                      <a:ext uri="{FF2B5EF4-FFF2-40B4-BE49-F238E27FC236}">
                        <a16:creationId xmlns:a16="http://schemas.microsoft.com/office/drawing/2014/main" id="{7BF9A101-EB4D-3E16-40A2-BBEC334108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20000" cy="10014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71" name="Line 49">
                    <a:extLst>
                      <a:ext uri="{FF2B5EF4-FFF2-40B4-BE49-F238E27FC236}">
                        <a16:creationId xmlns:a16="http://schemas.microsoft.com/office/drawing/2014/main" id="{C1282CB3-C2EF-9ED4-2258-1BDB70A2BC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0" y="9986"/>
                    <a:ext cx="20000" cy="10014"/>
                  </a:xfrm>
                  <a:prstGeom prst="line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</p:grpSp>
        </p:grpSp>
        <p:sp>
          <p:nvSpPr>
            <p:cNvPr id="24593" name="Rectangle 50">
              <a:extLst>
                <a:ext uri="{FF2B5EF4-FFF2-40B4-BE49-F238E27FC236}">
                  <a16:creationId xmlns:a16="http://schemas.microsoft.com/office/drawing/2014/main" id="{CED942BF-B661-384C-028A-24EABF5CB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" y="950"/>
              <a:ext cx="401" cy="1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Nem</a:t>
              </a:r>
            </a:p>
          </p:txBody>
        </p:sp>
        <p:sp>
          <p:nvSpPr>
            <p:cNvPr id="24594" name="Line 51">
              <a:extLst>
                <a:ext uri="{FF2B5EF4-FFF2-40B4-BE49-F238E27FC236}">
                  <a16:creationId xmlns:a16="http://schemas.microsoft.com/office/drawing/2014/main" id="{FE140215-C567-53A4-7400-83F6A37CA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" y="2277"/>
              <a:ext cx="9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95" name="Line 52">
              <a:extLst>
                <a:ext uri="{FF2B5EF4-FFF2-40B4-BE49-F238E27FC236}">
                  <a16:creationId xmlns:a16="http://schemas.microsoft.com/office/drawing/2014/main" id="{1ECFC74A-BFA9-7211-1ADA-0F1FD19B5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" y="2277"/>
              <a:ext cx="0" cy="2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96" name="Line 53">
              <a:extLst>
                <a:ext uri="{FF2B5EF4-FFF2-40B4-BE49-F238E27FC236}">
                  <a16:creationId xmlns:a16="http://schemas.microsoft.com/office/drawing/2014/main" id="{F0164254-D8B0-DE61-0E11-097C370E1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1" y="2277"/>
              <a:ext cx="0" cy="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597" name="Rectangle 54">
              <a:extLst>
                <a:ext uri="{FF2B5EF4-FFF2-40B4-BE49-F238E27FC236}">
                  <a16:creationId xmlns:a16="http://schemas.microsoft.com/office/drawing/2014/main" id="{EF8E16C0-318D-CC9E-30BE-9F393C9FE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" y="2304"/>
              <a:ext cx="936" cy="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Hibaüzenet</a:t>
              </a:r>
            </a:p>
          </p:txBody>
        </p:sp>
        <p:grpSp>
          <p:nvGrpSpPr>
            <p:cNvPr id="24598" name="Group 55">
              <a:extLst>
                <a:ext uri="{FF2B5EF4-FFF2-40B4-BE49-F238E27FC236}">
                  <a16:creationId xmlns:a16="http://schemas.microsoft.com/office/drawing/2014/main" id="{48158FEC-7165-B750-5C3A-B6E3224E0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2561"/>
              <a:ext cx="440" cy="48"/>
              <a:chOff x="0" y="0"/>
              <a:chExt cx="20001" cy="20000"/>
            </a:xfrm>
          </p:grpSpPr>
          <p:sp>
            <p:nvSpPr>
              <p:cNvPr id="24664" name="Arc 56">
                <a:extLst>
                  <a:ext uri="{FF2B5EF4-FFF2-40B4-BE49-F238E27FC236}">
                    <a16:creationId xmlns:a16="http://schemas.microsoft.com/office/drawing/2014/main" id="{6889707F-570B-E947-76D3-2A405698AC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65" name="Arc 57">
                <a:extLst>
                  <a:ext uri="{FF2B5EF4-FFF2-40B4-BE49-F238E27FC236}">
                    <a16:creationId xmlns:a16="http://schemas.microsoft.com/office/drawing/2014/main" id="{DABC6DB9-7C45-52B5-E82B-B7AED99422E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999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24599" name="Group 58">
              <a:extLst>
                <a:ext uri="{FF2B5EF4-FFF2-40B4-BE49-F238E27FC236}">
                  <a16:creationId xmlns:a16="http://schemas.microsoft.com/office/drawing/2014/main" id="{AD16EE0B-4F4C-9021-3BCB-4CD3AB2E3E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0" y="2466"/>
              <a:ext cx="441" cy="48"/>
              <a:chOff x="0" y="0"/>
              <a:chExt cx="20000" cy="19997"/>
            </a:xfrm>
          </p:grpSpPr>
          <p:sp>
            <p:nvSpPr>
              <p:cNvPr id="24662" name="Arc 59">
                <a:extLst>
                  <a:ext uri="{FF2B5EF4-FFF2-40B4-BE49-F238E27FC236}">
                    <a16:creationId xmlns:a16="http://schemas.microsoft.com/office/drawing/2014/main" id="{074283A6-2840-9E7B-8C52-C9204DE9E1B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0" y="0"/>
                <a:ext cx="10000" cy="19861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3054 h 21600"/>
                  <a:gd name="T4" fmla="*/ 0 w 21600"/>
                  <a:gd name="T5" fmla="*/ 1305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63" name="Arc 60">
                <a:extLst>
                  <a:ext uri="{FF2B5EF4-FFF2-40B4-BE49-F238E27FC236}">
                    <a16:creationId xmlns:a16="http://schemas.microsoft.com/office/drawing/2014/main" id="{8FC09603-157F-C87F-BDCA-CF2C3D632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0" y="136"/>
                <a:ext cx="10000" cy="19861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3054 h 21600"/>
                  <a:gd name="T4" fmla="*/ 0 w 21600"/>
                  <a:gd name="T5" fmla="*/ 1305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4600" name="Line 61">
              <a:extLst>
                <a:ext uri="{FF2B5EF4-FFF2-40B4-BE49-F238E27FC236}">
                  <a16:creationId xmlns:a16="http://schemas.microsoft.com/office/drawing/2014/main" id="{60F122B3-6E74-42BA-8F22-9F0111A3D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5" y="2504"/>
              <a:ext cx="56" cy="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24601" name="Group 62">
              <a:extLst>
                <a:ext uri="{FF2B5EF4-FFF2-40B4-BE49-F238E27FC236}">
                  <a16:creationId xmlns:a16="http://schemas.microsoft.com/office/drawing/2014/main" id="{A607FC4C-35BC-2936-8128-B5547C6603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2040"/>
              <a:ext cx="468" cy="237"/>
              <a:chOff x="0" y="0"/>
              <a:chExt cx="20000" cy="20188"/>
            </a:xfrm>
          </p:grpSpPr>
          <p:sp>
            <p:nvSpPr>
              <p:cNvPr id="24660" name="Line 63">
                <a:extLst>
                  <a:ext uri="{FF2B5EF4-FFF2-40B4-BE49-F238E27FC236}">
                    <a16:creationId xmlns:a16="http://schemas.microsoft.com/office/drawing/2014/main" id="{1346A53C-4DDE-6A84-1D12-3F5FFDA33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61" name="Line 64">
                <a:extLst>
                  <a:ext uri="{FF2B5EF4-FFF2-40B4-BE49-F238E27FC236}">
                    <a16:creationId xmlns:a16="http://schemas.microsoft.com/office/drawing/2014/main" id="{8749DEBE-9AD7-A56B-0562-D6FB9C834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80" y="0"/>
                <a:ext cx="20" cy="2018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4602" name="Line 65">
              <a:extLst>
                <a:ext uri="{FF2B5EF4-FFF2-40B4-BE49-F238E27FC236}">
                  <a16:creationId xmlns:a16="http://schemas.microsoft.com/office/drawing/2014/main" id="{9375B1A9-AB52-EA91-9985-32EB3C1B3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2040"/>
              <a:ext cx="4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03" name="Line 66">
              <a:extLst>
                <a:ext uri="{FF2B5EF4-FFF2-40B4-BE49-F238E27FC236}">
                  <a16:creationId xmlns:a16="http://schemas.microsoft.com/office/drawing/2014/main" id="{F436AEC0-D3EE-16A6-FC4F-A999FBD60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0" y="2040"/>
              <a:ext cx="1" cy="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04" name="Line 67">
              <a:extLst>
                <a:ext uri="{FF2B5EF4-FFF2-40B4-BE49-F238E27FC236}">
                  <a16:creationId xmlns:a16="http://schemas.microsoft.com/office/drawing/2014/main" id="{8F1AFE12-6FE1-B9E4-3637-DB6D32D2E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2" y="2277"/>
              <a:ext cx="9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05" name="Line 68">
              <a:extLst>
                <a:ext uri="{FF2B5EF4-FFF2-40B4-BE49-F238E27FC236}">
                  <a16:creationId xmlns:a16="http://schemas.microsoft.com/office/drawing/2014/main" id="{9A7C3C5A-1F8C-17EF-3D1C-2212A2D99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2" y="2277"/>
              <a:ext cx="0" cy="4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06" name="Line 69">
              <a:extLst>
                <a:ext uri="{FF2B5EF4-FFF2-40B4-BE49-F238E27FC236}">
                  <a16:creationId xmlns:a16="http://schemas.microsoft.com/office/drawing/2014/main" id="{5D46BBD4-2DCA-50E4-BDF3-E3EABCB55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277"/>
              <a:ext cx="1" cy="4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07" name="Rectangle 70">
              <a:extLst>
                <a:ext uri="{FF2B5EF4-FFF2-40B4-BE49-F238E27FC236}">
                  <a16:creationId xmlns:a16="http://schemas.microsoft.com/office/drawing/2014/main" id="{EBC70246-D380-D4A1-24EC-0DEC609B2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2296"/>
              <a:ext cx="937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Hallgató.Név, Hallgató.Jegy</a:t>
              </a:r>
            </a:p>
          </p:txBody>
        </p:sp>
        <p:grpSp>
          <p:nvGrpSpPr>
            <p:cNvPr id="24608" name="Group 71">
              <a:extLst>
                <a:ext uri="{FF2B5EF4-FFF2-40B4-BE49-F238E27FC236}">
                  <a16:creationId xmlns:a16="http://schemas.microsoft.com/office/drawing/2014/main" id="{DC9DF5BA-58B4-FF53-DD4D-3757A51C2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2771"/>
              <a:ext cx="441" cy="82"/>
              <a:chOff x="0" y="0"/>
              <a:chExt cx="20001" cy="20000"/>
            </a:xfrm>
          </p:grpSpPr>
          <p:sp>
            <p:nvSpPr>
              <p:cNvPr id="24658" name="Arc 72">
                <a:extLst>
                  <a:ext uri="{FF2B5EF4-FFF2-40B4-BE49-F238E27FC236}">
                    <a16:creationId xmlns:a16="http://schemas.microsoft.com/office/drawing/2014/main" id="{73854473-C80E-D911-0518-C5CF16E51E2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59" name="Arc 73">
                <a:extLst>
                  <a:ext uri="{FF2B5EF4-FFF2-40B4-BE49-F238E27FC236}">
                    <a16:creationId xmlns:a16="http://schemas.microsoft.com/office/drawing/2014/main" id="{2FC9416C-6A16-35AC-8CB2-7ECE252B67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999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24609" name="Group 74">
              <a:extLst>
                <a:ext uri="{FF2B5EF4-FFF2-40B4-BE49-F238E27FC236}">
                  <a16:creationId xmlns:a16="http://schemas.microsoft.com/office/drawing/2014/main" id="{A0486BB1-5AC8-BE67-0FAF-5BD950B4A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7" y="2605"/>
              <a:ext cx="442" cy="84"/>
              <a:chOff x="0" y="0"/>
              <a:chExt cx="20000" cy="19997"/>
            </a:xfrm>
          </p:grpSpPr>
          <p:sp>
            <p:nvSpPr>
              <p:cNvPr id="24656" name="Arc 75">
                <a:extLst>
                  <a:ext uri="{FF2B5EF4-FFF2-40B4-BE49-F238E27FC236}">
                    <a16:creationId xmlns:a16="http://schemas.microsoft.com/office/drawing/2014/main" id="{00FEB8F2-FC3C-5D1E-80D2-0680FA5AC7F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0" y="0"/>
                <a:ext cx="10000" cy="19684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2372 h 21600"/>
                  <a:gd name="T4" fmla="*/ 0 w 21600"/>
                  <a:gd name="T5" fmla="*/ 1237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57" name="Arc 76">
                <a:extLst>
                  <a:ext uri="{FF2B5EF4-FFF2-40B4-BE49-F238E27FC236}">
                    <a16:creationId xmlns:a16="http://schemas.microsoft.com/office/drawing/2014/main" id="{B183A762-FE0D-03CE-CA1B-E2FD69DF1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0" y="313"/>
                <a:ext cx="10000" cy="19684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2372 h 21600"/>
                  <a:gd name="T4" fmla="*/ 0 w 21600"/>
                  <a:gd name="T5" fmla="*/ 1237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4610" name="Line 77">
              <a:extLst>
                <a:ext uri="{FF2B5EF4-FFF2-40B4-BE49-F238E27FC236}">
                  <a16:creationId xmlns:a16="http://schemas.microsoft.com/office/drawing/2014/main" id="{C2BCB183-B162-03C5-08CF-9B44BA3D7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7" y="2675"/>
              <a:ext cx="56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24611" name="Group 78">
              <a:extLst>
                <a:ext uri="{FF2B5EF4-FFF2-40B4-BE49-F238E27FC236}">
                  <a16:creationId xmlns:a16="http://schemas.microsoft.com/office/drawing/2014/main" id="{F411DBCA-63B5-B22C-627A-00989BFB0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6" y="2993"/>
              <a:ext cx="937" cy="238"/>
              <a:chOff x="-1" y="0"/>
              <a:chExt cx="20001" cy="20188"/>
            </a:xfrm>
          </p:grpSpPr>
          <p:grpSp>
            <p:nvGrpSpPr>
              <p:cNvPr id="24649" name="Group 79">
                <a:extLst>
                  <a:ext uri="{FF2B5EF4-FFF2-40B4-BE49-F238E27FC236}">
                    <a16:creationId xmlns:a16="http://schemas.microsoft.com/office/drawing/2014/main" id="{A3EA7EA2-4C31-1318-42CE-E255CD1BFB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" y="0"/>
                <a:ext cx="20001" cy="20188"/>
                <a:chOff x="-1" y="0"/>
                <a:chExt cx="20001" cy="20188"/>
              </a:xfrm>
            </p:grpSpPr>
            <p:sp>
              <p:nvSpPr>
                <p:cNvPr id="24651" name="Line 80">
                  <a:extLst>
                    <a:ext uri="{FF2B5EF4-FFF2-40B4-BE49-F238E27FC236}">
                      <a16:creationId xmlns:a16="http://schemas.microsoft.com/office/drawing/2014/main" id="{B61DF1FF-F367-1B62-3550-091ACF0A1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11" y="0"/>
                  <a:ext cx="14289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52" name="Line 81">
                  <a:extLst>
                    <a:ext uri="{FF2B5EF4-FFF2-40B4-BE49-F238E27FC236}">
                      <a16:creationId xmlns:a16="http://schemas.microsoft.com/office/drawing/2014/main" id="{C572E808-4216-E957-50BC-083F0E6A0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" y="20160"/>
                  <a:ext cx="20001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53" name="Line 82">
                  <a:extLst>
                    <a:ext uri="{FF2B5EF4-FFF2-40B4-BE49-F238E27FC236}">
                      <a16:creationId xmlns:a16="http://schemas.microsoft.com/office/drawing/2014/main" id="{A41A9C65-529B-E74F-7137-2CED335895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990" y="0"/>
                  <a:ext cx="10" cy="201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54" name="Line 83">
                  <a:extLst>
                    <a:ext uri="{FF2B5EF4-FFF2-40B4-BE49-F238E27FC236}">
                      <a16:creationId xmlns:a16="http://schemas.microsoft.com/office/drawing/2014/main" id="{A46DA590-F60F-0F73-0133-331553389E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" y="8064"/>
                  <a:ext cx="10" cy="1212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24655" name="Line 84">
                  <a:extLst>
                    <a:ext uri="{FF2B5EF4-FFF2-40B4-BE49-F238E27FC236}">
                      <a16:creationId xmlns:a16="http://schemas.microsoft.com/office/drawing/2014/main" id="{FF3FE105-036A-0433-E336-D45B8D519F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-1" y="0"/>
                  <a:ext cx="5722" cy="809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</p:grpSp>
          <p:sp>
            <p:nvSpPr>
              <p:cNvPr id="24650" name="Rectangle 85">
                <a:extLst>
                  <a:ext uri="{FF2B5EF4-FFF2-40B4-BE49-F238E27FC236}">
                    <a16:creationId xmlns:a16="http://schemas.microsoft.com/office/drawing/2014/main" id="{97559F06-75F1-C7B1-1C34-29432CC6F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" y="4004"/>
                <a:ext cx="17145" cy="121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AU" altLang="hu-HU" sz="1600"/>
                  <a:t>Azonosító</a:t>
                </a:r>
              </a:p>
            </p:txBody>
          </p:sp>
        </p:grpSp>
        <p:grpSp>
          <p:nvGrpSpPr>
            <p:cNvPr id="24612" name="Group 86">
              <a:extLst>
                <a:ext uri="{FF2B5EF4-FFF2-40B4-BE49-F238E27FC236}">
                  <a16:creationId xmlns:a16="http://schemas.microsoft.com/office/drawing/2014/main" id="{87A531C2-FCA9-38EA-847A-D0E0533E8E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1" y="3986"/>
              <a:ext cx="937" cy="238"/>
              <a:chOff x="1" y="0"/>
              <a:chExt cx="19998" cy="20216"/>
            </a:xfrm>
          </p:grpSpPr>
          <p:grpSp>
            <p:nvGrpSpPr>
              <p:cNvPr id="24639" name="Group 87">
                <a:extLst>
                  <a:ext uri="{FF2B5EF4-FFF2-40B4-BE49-F238E27FC236}">
                    <a16:creationId xmlns:a16="http://schemas.microsoft.com/office/drawing/2014/main" id="{5FB147AB-726E-79E1-CE43-876603A7C3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" y="0"/>
                <a:ext cx="19998" cy="20216"/>
                <a:chOff x="1" y="0"/>
                <a:chExt cx="19998" cy="20216"/>
              </a:xfrm>
            </p:grpSpPr>
            <p:sp>
              <p:nvSpPr>
                <p:cNvPr id="24641" name="Line 88">
                  <a:extLst>
                    <a:ext uri="{FF2B5EF4-FFF2-40B4-BE49-F238E27FC236}">
                      <a16:creationId xmlns:a16="http://schemas.microsoft.com/office/drawing/2014/main" id="{C6514A12-7E05-B45F-23AA-3D5DA905A5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4" y="0"/>
                  <a:ext cx="11432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grpSp>
              <p:nvGrpSpPr>
                <p:cNvPr id="24642" name="Group 89">
                  <a:extLst>
                    <a:ext uri="{FF2B5EF4-FFF2-40B4-BE49-F238E27FC236}">
                      <a16:creationId xmlns:a16="http://schemas.microsoft.com/office/drawing/2014/main" id="{BB1BD035-8BEB-50F3-0B90-1E997AE32B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" y="0"/>
                  <a:ext cx="4293" cy="20216"/>
                  <a:chOff x="0" y="0"/>
                  <a:chExt cx="20000" cy="20000"/>
                </a:xfrm>
              </p:grpSpPr>
              <p:sp>
                <p:nvSpPr>
                  <p:cNvPr id="24647" name="Arc 90">
                    <a:extLst>
                      <a:ext uri="{FF2B5EF4-FFF2-40B4-BE49-F238E27FC236}">
                        <a16:creationId xmlns:a16="http://schemas.microsoft.com/office/drawing/2014/main" id="{538F368C-7742-AB39-53F0-6A584FD7B4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0" y="1000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48" name="Arc 91">
                    <a:extLst>
                      <a:ext uri="{FF2B5EF4-FFF2-40B4-BE49-F238E27FC236}">
                        <a16:creationId xmlns:a16="http://schemas.microsoft.com/office/drawing/2014/main" id="{37DD370D-75E3-AA94-9039-E8A371CD0A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0" y="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  <p:sp>
              <p:nvSpPr>
                <p:cNvPr id="24643" name="Line 92">
                  <a:extLst>
                    <a:ext uri="{FF2B5EF4-FFF2-40B4-BE49-F238E27FC236}">
                      <a16:creationId xmlns:a16="http://schemas.microsoft.com/office/drawing/2014/main" id="{3D3D2900-476A-FFC8-77EF-3AE6B2FBB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84" y="20132"/>
                  <a:ext cx="11432" cy="2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grpSp>
              <p:nvGrpSpPr>
                <p:cNvPr id="24644" name="Group 93">
                  <a:extLst>
                    <a:ext uri="{FF2B5EF4-FFF2-40B4-BE49-F238E27FC236}">
                      <a16:creationId xmlns:a16="http://schemas.microsoft.com/office/drawing/2014/main" id="{D5C76FE9-5B41-F588-CF63-DF2980B28A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706" y="0"/>
                  <a:ext cx="4293" cy="20216"/>
                  <a:chOff x="0" y="0"/>
                  <a:chExt cx="20000" cy="20000"/>
                </a:xfrm>
              </p:grpSpPr>
              <p:sp>
                <p:nvSpPr>
                  <p:cNvPr id="24645" name="Arc 94">
                    <a:extLst>
                      <a:ext uri="{FF2B5EF4-FFF2-40B4-BE49-F238E27FC236}">
                        <a16:creationId xmlns:a16="http://schemas.microsoft.com/office/drawing/2014/main" id="{3BDE5D28-55EF-D1A1-B694-6801A8CBE1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0" y="1000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  <p:sp>
                <p:nvSpPr>
                  <p:cNvPr id="24646" name="Arc 95">
                    <a:extLst>
                      <a:ext uri="{FF2B5EF4-FFF2-40B4-BE49-F238E27FC236}">
                        <a16:creationId xmlns:a16="http://schemas.microsoft.com/office/drawing/2014/main" id="{121DBBC3-FAEE-8D5F-9834-26513724F6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000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3612 w 21600"/>
                      <a:gd name="T3" fmla="*/ 213 h 21600"/>
                      <a:gd name="T4" fmla="*/ 0 w 21600"/>
                      <a:gd name="T5" fmla="*/ 213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hu-HU"/>
                  </a:p>
                </p:txBody>
              </p:sp>
            </p:grpSp>
          </p:grpSp>
          <p:sp>
            <p:nvSpPr>
              <p:cNvPr id="24640" name="Rectangle 96">
                <a:extLst>
                  <a:ext uri="{FF2B5EF4-FFF2-40B4-BE49-F238E27FC236}">
                    <a16:creationId xmlns:a16="http://schemas.microsoft.com/office/drawing/2014/main" id="{8FD21D5C-F35F-F74E-F817-65D567B6A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" y="4004"/>
                <a:ext cx="14288" cy="12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AU" altLang="hu-HU" sz="1600"/>
                  <a:t>Stop</a:t>
                </a:r>
                <a:endParaRPr lang="en-AU" altLang="hu-HU" sz="1800"/>
              </a:p>
            </p:txBody>
          </p:sp>
        </p:grpSp>
        <p:sp>
          <p:nvSpPr>
            <p:cNvPr id="24613" name="Line 97">
              <a:extLst>
                <a:ext uri="{FF2B5EF4-FFF2-40B4-BE49-F238E27FC236}">
                  <a16:creationId xmlns:a16="http://schemas.microsoft.com/office/drawing/2014/main" id="{F2048DB8-7D13-3F8A-0DE4-137787FBF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" y="3532"/>
              <a:ext cx="93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14" name="Line 98">
              <a:extLst>
                <a:ext uri="{FF2B5EF4-FFF2-40B4-BE49-F238E27FC236}">
                  <a16:creationId xmlns:a16="http://schemas.microsoft.com/office/drawing/2014/main" id="{D44B8212-670A-BF8B-EF63-68A65EAF1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" y="3532"/>
              <a:ext cx="1" cy="2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15" name="Line 99">
              <a:extLst>
                <a:ext uri="{FF2B5EF4-FFF2-40B4-BE49-F238E27FC236}">
                  <a16:creationId xmlns:a16="http://schemas.microsoft.com/office/drawing/2014/main" id="{5F1D79B9-1ED3-7B88-CA0D-0D6FBE0B1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8" y="3532"/>
              <a:ext cx="0" cy="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16" name="Rectangle 100">
              <a:extLst>
                <a:ext uri="{FF2B5EF4-FFF2-40B4-BE49-F238E27FC236}">
                  <a16:creationId xmlns:a16="http://schemas.microsoft.com/office/drawing/2014/main" id="{0D3F71A1-C7BA-7FDF-63EC-C5A024421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" y="3552"/>
              <a:ext cx="937" cy="1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Elköszönés</a:t>
              </a:r>
            </a:p>
          </p:txBody>
        </p:sp>
        <p:grpSp>
          <p:nvGrpSpPr>
            <p:cNvPr id="24617" name="Group 101">
              <a:extLst>
                <a:ext uri="{FF2B5EF4-FFF2-40B4-BE49-F238E27FC236}">
                  <a16:creationId xmlns:a16="http://schemas.microsoft.com/office/drawing/2014/main" id="{7ABD35D8-0665-0C5B-896F-0AAFF0118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1" y="3817"/>
              <a:ext cx="441" cy="47"/>
              <a:chOff x="0" y="0"/>
              <a:chExt cx="20001" cy="20000"/>
            </a:xfrm>
          </p:grpSpPr>
          <p:sp>
            <p:nvSpPr>
              <p:cNvPr id="24637" name="Arc 102">
                <a:extLst>
                  <a:ext uri="{FF2B5EF4-FFF2-40B4-BE49-F238E27FC236}">
                    <a16:creationId xmlns:a16="http://schemas.microsoft.com/office/drawing/2014/main" id="{DBA01D6E-F59A-394D-7991-472BE2214D7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38" name="Arc 103">
                <a:extLst>
                  <a:ext uri="{FF2B5EF4-FFF2-40B4-BE49-F238E27FC236}">
                    <a16:creationId xmlns:a16="http://schemas.microsoft.com/office/drawing/2014/main" id="{357EE3D3-C76B-0C2E-A42E-62598A4DDD4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9990" y="0"/>
                <a:ext cx="10011" cy="20000"/>
              </a:xfrm>
              <a:custGeom>
                <a:avLst/>
                <a:gdLst>
                  <a:gd name="T0" fmla="*/ 0 w 21600"/>
                  <a:gd name="T1" fmla="*/ 0 h 21600"/>
                  <a:gd name="T2" fmla="*/ 214 w 21600"/>
                  <a:gd name="T3" fmla="*/ 13612 h 21600"/>
                  <a:gd name="T4" fmla="*/ 0 w 21600"/>
                  <a:gd name="T5" fmla="*/ 1361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24618" name="Group 104">
              <a:extLst>
                <a:ext uri="{FF2B5EF4-FFF2-40B4-BE49-F238E27FC236}">
                  <a16:creationId xmlns:a16="http://schemas.microsoft.com/office/drawing/2014/main" id="{318216CF-7BB2-002B-E36E-1AE37CA7B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7" y="3722"/>
              <a:ext cx="441" cy="48"/>
              <a:chOff x="0" y="0"/>
              <a:chExt cx="20000" cy="19997"/>
            </a:xfrm>
          </p:grpSpPr>
          <p:sp>
            <p:nvSpPr>
              <p:cNvPr id="24635" name="Arc 105">
                <a:extLst>
                  <a:ext uri="{FF2B5EF4-FFF2-40B4-BE49-F238E27FC236}">
                    <a16:creationId xmlns:a16="http://schemas.microsoft.com/office/drawing/2014/main" id="{D57C9A90-4055-D022-8FB5-1B9CF06746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0" y="0"/>
                <a:ext cx="10000" cy="19861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3054 h 21600"/>
                  <a:gd name="T4" fmla="*/ 0 w 21600"/>
                  <a:gd name="T5" fmla="*/ 1305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636" name="Arc 106">
                <a:extLst>
                  <a:ext uri="{FF2B5EF4-FFF2-40B4-BE49-F238E27FC236}">
                    <a16:creationId xmlns:a16="http://schemas.microsoft.com/office/drawing/2014/main" id="{96F4EBF1-207B-08BF-60AF-EB4135404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00" y="136"/>
                <a:ext cx="10000" cy="19861"/>
              </a:xfrm>
              <a:custGeom>
                <a:avLst/>
                <a:gdLst>
                  <a:gd name="T0" fmla="*/ 0 w 21600"/>
                  <a:gd name="T1" fmla="*/ 0 h 21600"/>
                  <a:gd name="T2" fmla="*/ 213 w 21600"/>
                  <a:gd name="T3" fmla="*/ 13054 h 21600"/>
                  <a:gd name="T4" fmla="*/ 0 w 21600"/>
                  <a:gd name="T5" fmla="*/ 1305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4619" name="Line 107">
              <a:extLst>
                <a:ext uri="{FF2B5EF4-FFF2-40B4-BE49-F238E27FC236}">
                  <a16:creationId xmlns:a16="http://schemas.microsoft.com/office/drawing/2014/main" id="{A5352711-779F-3D4A-0CEE-16FE6D4B5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3766"/>
              <a:ext cx="55" cy="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0" name="Line 108">
              <a:extLst>
                <a:ext uri="{FF2B5EF4-FFF2-40B4-BE49-F238E27FC236}">
                  <a16:creationId xmlns:a16="http://schemas.microsoft.com/office/drawing/2014/main" id="{1CC3B5BD-6757-F3F6-01D5-87A604C19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9" y="3801"/>
              <a:ext cx="0" cy="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1" name="Line 109">
              <a:extLst>
                <a:ext uri="{FF2B5EF4-FFF2-40B4-BE49-F238E27FC236}">
                  <a16:creationId xmlns:a16="http://schemas.microsoft.com/office/drawing/2014/main" id="{DCD193C8-8803-1811-DC2C-C44F2FC24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4" y="3325"/>
              <a:ext cx="167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2" name="Line 110">
              <a:extLst>
                <a:ext uri="{FF2B5EF4-FFF2-40B4-BE49-F238E27FC236}">
                  <a16:creationId xmlns:a16="http://schemas.microsoft.com/office/drawing/2014/main" id="{F2062E8C-8C0C-E9FB-AAB0-F997598C9B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4" y="760"/>
              <a:ext cx="167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3" name="Rectangle 111">
              <a:extLst>
                <a:ext uri="{FF2B5EF4-FFF2-40B4-BE49-F238E27FC236}">
                  <a16:creationId xmlns:a16="http://schemas.microsoft.com/office/drawing/2014/main" id="{A0220A6C-4166-003B-E6A8-9F2F2E1C2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296"/>
              <a:ext cx="401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Igen</a:t>
              </a:r>
            </a:p>
          </p:txBody>
        </p:sp>
        <p:sp>
          <p:nvSpPr>
            <p:cNvPr id="24624" name="Line 112">
              <a:extLst>
                <a:ext uri="{FF2B5EF4-FFF2-40B4-BE49-F238E27FC236}">
                  <a16:creationId xmlns:a16="http://schemas.microsoft.com/office/drawing/2014/main" id="{DBE6D563-C2FC-CADD-429C-045BE9CD3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5" y="1110"/>
              <a:ext cx="1217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5" name="Line 113">
              <a:extLst>
                <a:ext uri="{FF2B5EF4-FFF2-40B4-BE49-F238E27FC236}">
                  <a16:creationId xmlns:a16="http://schemas.microsoft.com/office/drawing/2014/main" id="{FE65CEAA-CC18-B3A6-AE9E-461D0CF46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2" y="1110"/>
              <a:ext cx="0" cy="1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6" name="Line 114">
              <a:extLst>
                <a:ext uri="{FF2B5EF4-FFF2-40B4-BE49-F238E27FC236}">
                  <a16:creationId xmlns:a16="http://schemas.microsoft.com/office/drawing/2014/main" id="{EE1176AA-F516-24F8-99B0-BBE0BDC4C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50" y="2184"/>
              <a:ext cx="2" cy="120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7" name="Line 115">
              <a:extLst>
                <a:ext uri="{FF2B5EF4-FFF2-40B4-BE49-F238E27FC236}">
                  <a16:creationId xmlns:a16="http://schemas.microsoft.com/office/drawing/2014/main" id="{541417FA-9ECD-4E64-C189-1A6DED8A48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82" y="3387"/>
              <a:ext cx="16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8" name="Line 116">
              <a:extLst>
                <a:ext uri="{FF2B5EF4-FFF2-40B4-BE49-F238E27FC236}">
                  <a16:creationId xmlns:a16="http://schemas.microsoft.com/office/drawing/2014/main" id="{159124C6-5A0A-F91B-73C0-167B42E0B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9" y="3387"/>
              <a:ext cx="0" cy="14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29" name="Line 117">
              <a:extLst>
                <a:ext uri="{FF2B5EF4-FFF2-40B4-BE49-F238E27FC236}">
                  <a16:creationId xmlns:a16="http://schemas.microsoft.com/office/drawing/2014/main" id="{7F1582E0-32C4-1FCE-17D5-395649261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03" y="2537"/>
              <a:ext cx="2" cy="3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30" name="Line 118">
              <a:extLst>
                <a:ext uri="{FF2B5EF4-FFF2-40B4-BE49-F238E27FC236}">
                  <a16:creationId xmlns:a16="http://schemas.microsoft.com/office/drawing/2014/main" id="{7CA99A0E-B417-E8C6-18F7-E4A45BA39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1" y="2831"/>
              <a:ext cx="1862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31" name="Line 119">
              <a:extLst>
                <a:ext uri="{FF2B5EF4-FFF2-40B4-BE49-F238E27FC236}">
                  <a16:creationId xmlns:a16="http://schemas.microsoft.com/office/drawing/2014/main" id="{E9477E43-E63D-75DA-9B99-AE2F5EF99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3" y="2832"/>
              <a:ext cx="3" cy="1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32" name="Line 120">
              <a:extLst>
                <a:ext uri="{FF2B5EF4-FFF2-40B4-BE49-F238E27FC236}">
                  <a16:creationId xmlns:a16="http://schemas.microsoft.com/office/drawing/2014/main" id="{67A04AC7-4840-65C7-512C-11509E91D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3" y="2702"/>
              <a:ext cx="2" cy="1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633" name="Rectangle 121">
              <a:extLst>
                <a:ext uri="{FF2B5EF4-FFF2-40B4-BE49-F238E27FC236}">
                  <a16:creationId xmlns:a16="http://schemas.microsoft.com/office/drawing/2014/main" id="{1FEAFBBF-FBEA-2402-45BD-2ABF5A1EB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1824"/>
              <a:ext cx="475" cy="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Nem</a:t>
              </a:r>
              <a:endParaRPr lang="en-AU" altLang="hu-HU" sz="1000"/>
            </a:p>
          </p:txBody>
        </p:sp>
        <p:sp>
          <p:nvSpPr>
            <p:cNvPr id="24634" name="Rectangle 122">
              <a:extLst>
                <a:ext uri="{FF2B5EF4-FFF2-40B4-BE49-F238E27FC236}">
                  <a16:creationId xmlns:a16="http://schemas.microsoft.com/office/drawing/2014/main" id="{4B81D03E-57FD-B889-BA6F-4F2BDAE9F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824"/>
              <a:ext cx="476" cy="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Igen</a:t>
              </a:r>
              <a:endParaRPr lang="en-AU" altLang="hu-HU" sz="1000"/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ia számának helye 3">
            <a:extLst>
              <a:ext uri="{FF2B5EF4-FFF2-40B4-BE49-F238E27FC236}">
                <a16:creationId xmlns:a16="http://schemas.microsoft.com/office/drawing/2014/main" id="{80448692-2D2A-89C6-36B4-B1EB9E11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53FD23-24E5-4401-90CF-C5B2D6B57B1D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hu-HU" altLang="hu-HU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10A65DE8-B8FD-2576-0951-F3A3F6FA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31699"/>
            <a:ext cx="373221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hu-HU" sz="4400" b="1" dirty="0" err="1"/>
              <a:t>Struktogram</a:t>
            </a:r>
            <a:endParaRPr lang="en-US" altLang="hu-HU" sz="4400" b="1" dirty="0"/>
          </a:p>
        </p:txBody>
      </p:sp>
      <p:grpSp>
        <p:nvGrpSpPr>
          <p:cNvPr id="25604" name="Group 3">
            <a:extLst>
              <a:ext uri="{FF2B5EF4-FFF2-40B4-BE49-F238E27FC236}">
                <a16:creationId xmlns:a16="http://schemas.microsoft.com/office/drawing/2014/main" id="{8233590C-4895-8D09-3161-CBC1311C2CA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371600"/>
            <a:ext cx="6550025" cy="4246563"/>
            <a:chOff x="0" y="0"/>
            <a:chExt cx="20000" cy="20001"/>
          </a:xfrm>
        </p:grpSpPr>
        <p:sp>
          <p:nvSpPr>
            <p:cNvPr id="25605" name="Rectangle 4">
              <a:extLst>
                <a:ext uri="{FF2B5EF4-FFF2-40B4-BE49-F238E27FC236}">
                  <a16:creationId xmlns:a16="http://schemas.microsoft.com/office/drawing/2014/main" id="{73039B2B-D1F4-FCD8-B149-97328CED3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21"/>
              <a:ext cx="19943" cy="1533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Azonosító &lt;&gt; '*'</a:t>
              </a:r>
            </a:p>
          </p:txBody>
        </p:sp>
        <p:sp>
          <p:nvSpPr>
            <p:cNvPr id="25606" name="Rectangle 5">
              <a:extLst>
                <a:ext uri="{FF2B5EF4-FFF2-40B4-BE49-F238E27FC236}">
                  <a16:creationId xmlns:a16="http://schemas.microsoft.com/office/drawing/2014/main" id="{C706CC61-9E74-E335-84E9-1FBE3979F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9450"/>
              <a:ext cx="6993" cy="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hu-HU" altLang="hu-HU" sz="2200"/>
                <a:t>Igen</a:t>
              </a:r>
            </a:p>
          </p:txBody>
        </p:sp>
        <p:sp>
          <p:nvSpPr>
            <p:cNvPr id="25607" name="Rectangle 6">
              <a:extLst>
                <a:ext uri="{FF2B5EF4-FFF2-40B4-BE49-F238E27FC236}">
                  <a16:creationId xmlns:a16="http://schemas.microsoft.com/office/drawing/2014/main" id="{24F24E83-8E10-FDC7-F6DC-B5157C435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7" y="9115"/>
              <a:ext cx="6993" cy="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hu-HU" altLang="hu-HU" sz="2200"/>
                <a:t>Nem</a:t>
              </a:r>
            </a:p>
          </p:txBody>
        </p:sp>
        <p:sp>
          <p:nvSpPr>
            <p:cNvPr id="25608" name="Rectangle 7">
              <a:extLst>
                <a:ext uri="{FF2B5EF4-FFF2-40B4-BE49-F238E27FC236}">
                  <a16:creationId xmlns:a16="http://schemas.microsoft.com/office/drawing/2014/main" id="{87894A56-A9E2-F185-7297-78DE6F087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" y="11168"/>
              <a:ext cx="8652" cy="414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Ki: Hallgató.Név, Hallgató.Jegy</a:t>
              </a:r>
            </a:p>
          </p:txBody>
        </p:sp>
        <p:sp>
          <p:nvSpPr>
            <p:cNvPr id="25609" name="Rectangle 8">
              <a:extLst>
                <a:ext uri="{FF2B5EF4-FFF2-40B4-BE49-F238E27FC236}">
                  <a16:creationId xmlns:a16="http://schemas.microsoft.com/office/drawing/2014/main" id="{BF945C60-A5E7-32EE-584B-1B9131522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" y="11168"/>
              <a:ext cx="8653" cy="414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1200"/>
                </a:spcBef>
                <a:buFontTx/>
                <a:buNone/>
              </a:pPr>
              <a:r>
                <a:rPr lang="hu-HU" altLang="hu-HU" sz="2200"/>
                <a:t>Hibaüzenet</a:t>
              </a:r>
            </a:p>
          </p:txBody>
        </p:sp>
        <p:sp>
          <p:nvSpPr>
            <p:cNvPr id="25610" name="Rectangle 9">
              <a:extLst>
                <a:ext uri="{FF2B5EF4-FFF2-40B4-BE49-F238E27FC236}">
                  <a16:creationId xmlns:a16="http://schemas.microsoft.com/office/drawing/2014/main" id="{5A6A3D32-882F-2609-18E5-8095FF314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" y="7555"/>
              <a:ext cx="17305" cy="36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hu-HU" altLang="hu-HU" sz="1000"/>
            </a:p>
          </p:txBody>
        </p:sp>
        <p:sp>
          <p:nvSpPr>
            <p:cNvPr id="25611" name="Line 10">
              <a:extLst>
                <a:ext uri="{FF2B5EF4-FFF2-40B4-BE49-F238E27FC236}">
                  <a16:creationId xmlns:a16="http://schemas.microsoft.com/office/drawing/2014/main" id="{5634ED94-0A38-4239-10FF-5DF4FE991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7666"/>
              <a:ext cx="8542" cy="352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612" name="Line 11">
              <a:extLst>
                <a:ext uri="{FF2B5EF4-FFF2-40B4-BE49-F238E27FC236}">
                  <a16:creationId xmlns:a16="http://schemas.microsoft.com/office/drawing/2014/main" id="{02A92080-F021-BB02-178D-435F4BEF1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" y="7574"/>
              <a:ext cx="8626" cy="35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613" name="Rectangle 12">
              <a:extLst>
                <a:ext uri="{FF2B5EF4-FFF2-40B4-BE49-F238E27FC236}">
                  <a16:creationId xmlns:a16="http://schemas.microsoft.com/office/drawing/2014/main" id="{0AE27D52-2610-DDB9-B444-98690CB77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9" y="8165"/>
              <a:ext cx="6993" cy="20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hu-HU" altLang="hu-HU" sz="2200"/>
                <a:t>Megvan?</a:t>
              </a:r>
            </a:p>
          </p:txBody>
        </p:sp>
        <p:sp>
          <p:nvSpPr>
            <p:cNvPr id="25614" name="Rectangle 13">
              <a:extLst>
                <a:ext uri="{FF2B5EF4-FFF2-40B4-BE49-F238E27FC236}">
                  <a16:creationId xmlns:a16="http://schemas.microsoft.com/office/drawing/2014/main" id="{BE04E6A4-E03D-5CAB-7F37-FE3B7DF95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936" cy="26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Azonosító beolvasása</a:t>
              </a:r>
            </a:p>
          </p:txBody>
        </p:sp>
        <p:sp>
          <p:nvSpPr>
            <p:cNvPr id="25615" name="Rectangle 14">
              <a:extLst>
                <a:ext uri="{FF2B5EF4-FFF2-40B4-BE49-F238E27FC236}">
                  <a16:creationId xmlns:a16="http://schemas.microsoft.com/office/drawing/2014/main" id="{954C6B3A-824C-7FB5-3688-978E18C64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" y="5173"/>
              <a:ext cx="17298" cy="238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Keresés</a:t>
              </a:r>
            </a:p>
          </p:txBody>
        </p:sp>
        <p:sp>
          <p:nvSpPr>
            <p:cNvPr id="25616" name="Rectangle 15">
              <a:extLst>
                <a:ext uri="{FF2B5EF4-FFF2-40B4-BE49-F238E27FC236}">
                  <a16:creationId xmlns:a16="http://schemas.microsoft.com/office/drawing/2014/main" id="{8C0A5986-7294-77AE-314B-8792E912C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" y="15326"/>
              <a:ext cx="17298" cy="266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Azonosító beolvasása</a:t>
              </a:r>
            </a:p>
          </p:txBody>
        </p:sp>
        <p:sp>
          <p:nvSpPr>
            <p:cNvPr id="25617" name="Rectangle 16">
              <a:extLst>
                <a:ext uri="{FF2B5EF4-FFF2-40B4-BE49-F238E27FC236}">
                  <a16:creationId xmlns:a16="http://schemas.microsoft.com/office/drawing/2014/main" id="{B4001A66-C2C6-C042-3A9D-D9EB5B2C2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987"/>
              <a:ext cx="19936" cy="201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300"/>
                </a:spcBef>
                <a:buFontTx/>
                <a:buNone/>
              </a:pPr>
              <a:r>
                <a:rPr lang="hu-HU" altLang="hu-HU" sz="2200"/>
                <a:t>Elköszönés</a:t>
              </a: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a számának helye 3">
            <a:extLst>
              <a:ext uri="{FF2B5EF4-FFF2-40B4-BE49-F238E27FC236}">
                <a16:creationId xmlns:a16="http://schemas.microsoft.com/office/drawing/2014/main" id="{AC9477C1-8F37-9B9A-926B-31DEB7FD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6B5D4-7A58-40C9-BEC1-AB673EE2E5D1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hu-HU" altLang="hu-HU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F26015E-85DB-F8C7-28FF-1F96299D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32" y="404664"/>
            <a:ext cx="8424936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hu-HU" sz="4400" b="1" dirty="0" err="1"/>
              <a:t>Mondatszerű</a:t>
            </a:r>
            <a:r>
              <a:rPr lang="en-US" altLang="hu-HU" sz="4400" b="1" dirty="0"/>
              <a:t> </a:t>
            </a:r>
            <a:r>
              <a:rPr lang="en-US" altLang="hu-HU" sz="4400" b="1" dirty="0" err="1"/>
              <a:t>leírás</a:t>
            </a:r>
            <a:r>
              <a:rPr lang="hu-HU" altLang="hu-HU" sz="4400" b="1" dirty="0"/>
              <a:t> (</a:t>
            </a:r>
            <a:r>
              <a:rPr lang="hu-HU" altLang="hu-HU" sz="4400" b="1" dirty="0" err="1"/>
              <a:t>pszeudokód</a:t>
            </a:r>
            <a:r>
              <a:rPr lang="hu-HU" altLang="hu-HU" sz="4400" b="1" dirty="0"/>
              <a:t>)</a:t>
            </a:r>
            <a:endParaRPr lang="en-US" altLang="hu-HU" sz="4400" b="1" dirty="0"/>
          </a:p>
        </p:txBody>
      </p:sp>
      <p:sp>
        <p:nvSpPr>
          <p:cNvPr id="26628" name="Text Box 3">
            <a:extLst>
              <a:ext uri="{FF2B5EF4-FFF2-40B4-BE49-F238E27FC236}">
                <a16:creationId xmlns:a16="http://schemas.microsoft.com/office/drawing/2014/main" id="{32D1788B-8382-5886-AC4D-E22E6C73C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143000"/>
            <a:ext cx="715962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07070"/>
                    </a:gs>
                    <a:gs pos="50000">
                      <a:srgbClr val="FFFFFF"/>
                    </a:gs>
                    <a:gs pos="100000">
                      <a:srgbClr val="707070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tabLst>
                <a:tab pos="577850" algn="l"/>
                <a:tab pos="1143000" algn="l"/>
                <a:tab pos="1720850" algn="l"/>
                <a:tab pos="2286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 defTabSz="762000">
              <a:spcBef>
                <a:spcPct val="20000"/>
              </a:spcBef>
              <a:buChar char="–"/>
              <a:tabLst>
                <a:tab pos="577850" algn="l"/>
                <a:tab pos="1143000" algn="l"/>
                <a:tab pos="1720850" algn="l"/>
                <a:tab pos="2286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6350" indent="-228600" defTabSz="762000">
              <a:spcBef>
                <a:spcPct val="20000"/>
              </a:spcBef>
              <a:buChar char="•"/>
              <a:tabLst>
                <a:tab pos="577850" algn="l"/>
                <a:tab pos="1143000" algn="l"/>
                <a:tab pos="1720850" algn="l"/>
                <a:tab pos="2286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5450" indent="-228600" defTabSz="762000">
              <a:spcBef>
                <a:spcPct val="20000"/>
              </a:spcBef>
              <a:buChar char="–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4550" indent="-228600" defTabSz="762000">
              <a:spcBef>
                <a:spcPct val="20000"/>
              </a:spcBef>
              <a:buChar char="»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175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95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615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335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7850" algn="l"/>
                <a:tab pos="1143000" algn="l"/>
                <a:tab pos="1720850" algn="l"/>
                <a:tab pos="2286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da-DK" altLang="hu-HU" sz="2400"/>
              <a:t>Program:</a:t>
            </a:r>
            <a:br>
              <a:rPr lang="da-DK" altLang="hu-HU" sz="2400"/>
            </a:br>
            <a:r>
              <a:rPr lang="da-DK" altLang="hu-HU" sz="2400"/>
              <a:t>	Be: Azonosító</a:t>
            </a:r>
            <a:br>
              <a:rPr lang="da-DK" altLang="hu-HU" sz="2400"/>
            </a:br>
            <a:r>
              <a:rPr lang="da-DK" altLang="hu-HU" sz="2400"/>
              <a:t>	Ciklus amíg Azonosító </a:t>
            </a:r>
            <a:r>
              <a:rPr lang="hu-HU" altLang="hu-HU" sz="2400"/>
              <a:t>≠</a:t>
            </a:r>
            <a:r>
              <a:rPr lang="da-DK" altLang="hu-HU" sz="2400"/>
              <a:t> '*'</a:t>
            </a:r>
            <a:br>
              <a:rPr lang="da-DK" altLang="hu-HU" sz="2400"/>
            </a:br>
            <a:r>
              <a:rPr lang="da-DK" altLang="hu-HU" sz="2400"/>
              <a:t>		Keres(Azonosító, Hallgató, Megvan)</a:t>
            </a:r>
            <a:br>
              <a:rPr lang="da-DK" altLang="hu-HU" sz="2400"/>
            </a:br>
            <a:r>
              <a:rPr lang="da-DK" altLang="hu-HU" sz="2400"/>
              <a:t>		Ha Megvan akkor</a:t>
            </a:r>
            <a:br>
              <a:rPr lang="da-DK" altLang="hu-HU" sz="2400"/>
            </a:br>
            <a:r>
              <a:rPr lang="da-DK" altLang="hu-HU" sz="2400"/>
              <a:t>			Ki: Hallgató.Név, Hallgató.Jegy</a:t>
            </a:r>
            <a:br>
              <a:rPr lang="da-DK" altLang="hu-HU" sz="2400"/>
            </a:br>
            <a:r>
              <a:rPr lang="da-DK" altLang="hu-HU" sz="2400"/>
              <a:t>		egyébként</a:t>
            </a:r>
            <a:br>
              <a:rPr lang="da-DK" altLang="hu-HU" sz="2400"/>
            </a:br>
            <a:r>
              <a:rPr lang="da-DK" altLang="hu-HU" sz="2400"/>
              <a:t>			Ki: Hibaüzenet</a:t>
            </a:r>
            <a:br>
              <a:rPr lang="da-DK" altLang="hu-HU" sz="2400"/>
            </a:br>
            <a:r>
              <a:rPr lang="da-DK" altLang="hu-HU" sz="2400"/>
              <a:t>		Elágazás vége</a:t>
            </a:r>
            <a:br>
              <a:rPr lang="da-DK" altLang="hu-HU" sz="2400"/>
            </a:br>
            <a:r>
              <a:rPr lang="da-DK" altLang="hu-HU" sz="2400"/>
              <a:t>		Be: Azonosító</a:t>
            </a:r>
            <a:br>
              <a:rPr lang="da-DK" altLang="hu-HU" sz="2400"/>
            </a:br>
            <a:r>
              <a:rPr lang="da-DK" altLang="hu-HU" sz="2400"/>
              <a:t>	Ciklus vége</a:t>
            </a:r>
            <a:br>
              <a:rPr lang="da-DK" altLang="hu-HU" sz="2400"/>
            </a:br>
            <a:r>
              <a:rPr lang="da-DK" altLang="hu-HU" sz="2400"/>
              <a:t>	Elköszönés</a:t>
            </a:r>
            <a:br>
              <a:rPr lang="da-DK" altLang="hu-HU" sz="2400"/>
            </a:br>
            <a:r>
              <a:rPr lang="da-DK" altLang="hu-HU" sz="2400"/>
              <a:t>Program vége.</a:t>
            </a:r>
            <a:endParaRPr lang="en-US" altLang="hu-HU" sz="24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ia számának helye 3">
            <a:extLst>
              <a:ext uri="{FF2B5EF4-FFF2-40B4-BE49-F238E27FC236}">
                <a16:creationId xmlns:a16="http://schemas.microsoft.com/office/drawing/2014/main" id="{9746F1F2-D4C5-EA62-7BDC-A6B7A6A9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2DC1EA-7014-4442-9CC5-262C9D3C157E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hu-HU" altLang="hu-HU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FE1932E0-185D-0FF9-E10D-A4ABA8ADD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5" y="357188"/>
            <a:ext cx="380841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hu-HU" sz="4400" b="1" dirty="0"/>
              <a:t>Jackson </a:t>
            </a:r>
            <a:r>
              <a:rPr lang="en-US" altLang="hu-HU" sz="4400" b="1" dirty="0" err="1"/>
              <a:t>ábra</a:t>
            </a:r>
            <a:endParaRPr lang="en-US" altLang="hu-HU" sz="4400" b="1" dirty="0"/>
          </a:p>
        </p:txBody>
      </p:sp>
      <p:grpSp>
        <p:nvGrpSpPr>
          <p:cNvPr id="27652" name="Group 3">
            <a:extLst>
              <a:ext uri="{FF2B5EF4-FFF2-40B4-BE49-F238E27FC236}">
                <a16:creationId xmlns:a16="http://schemas.microsoft.com/office/drawing/2014/main" id="{CA434F02-405D-F14D-441C-D0F1779C607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81000"/>
            <a:ext cx="6854825" cy="6029325"/>
            <a:chOff x="864" y="240"/>
            <a:chExt cx="4318" cy="3798"/>
          </a:xfrm>
        </p:grpSpPr>
        <p:sp>
          <p:nvSpPr>
            <p:cNvPr id="27653" name="Line 4">
              <a:extLst>
                <a:ext uri="{FF2B5EF4-FFF2-40B4-BE49-F238E27FC236}">
                  <a16:creationId xmlns:a16="http://schemas.microsoft.com/office/drawing/2014/main" id="{7E45B55C-F4FD-6878-4A7C-47FEA7620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9" y="513"/>
              <a:ext cx="1136" cy="50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54" name="Line 5">
              <a:extLst>
                <a:ext uri="{FF2B5EF4-FFF2-40B4-BE49-F238E27FC236}">
                  <a16:creationId xmlns:a16="http://schemas.microsoft.com/office/drawing/2014/main" id="{44D860B2-D8AF-CF36-02F4-278C43D3C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4" y="485"/>
              <a:ext cx="1" cy="52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55" name="Line 6">
              <a:extLst>
                <a:ext uri="{FF2B5EF4-FFF2-40B4-BE49-F238E27FC236}">
                  <a16:creationId xmlns:a16="http://schemas.microsoft.com/office/drawing/2014/main" id="{E6E22DDC-1307-37C1-9CB4-C44FD0729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485"/>
              <a:ext cx="1290" cy="5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56" name="Line 7">
              <a:extLst>
                <a:ext uri="{FF2B5EF4-FFF2-40B4-BE49-F238E27FC236}">
                  <a16:creationId xmlns:a16="http://schemas.microsoft.com/office/drawing/2014/main" id="{35233916-5480-551E-70D6-B1BE80E91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4" y="1414"/>
              <a:ext cx="0" cy="4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57" name="Rectangle 8">
              <a:extLst>
                <a:ext uri="{FF2B5EF4-FFF2-40B4-BE49-F238E27FC236}">
                  <a16:creationId xmlns:a16="http://schemas.microsoft.com/office/drawing/2014/main" id="{14D02A47-EAA2-DB7C-5F91-A6E1FF16F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40"/>
              <a:ext cx="1256" cy="31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Program</a:t>
              </a:r>
              <a:endParaRPr lang="en-AU" altLang="hu-HU" sz="1000"/>
            </a:p>
          </p:txBody>
        </p:sp>
        <p:sp>
          <p:nvSpPr>
            <p:cNvPr id="27658" name="Rectangle 9">
              <a:extLst>
                <a:ext uri="{FF2B5EF4-FFF2-40B4-BE49-F238E27FC236}">
                  <a16:creationId xmlns:a16="http://schemas.microsoft.com/office/drawing/2014/main" id="{EDB1F0BD-B488-95D5-9B2F-36B5988D5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2823"/>
              <a:ext cx="1129" cy="31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4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Megvan?</a:t>
              </a:r>
            </a:p>
          </p:txBody>
        </p:sp>
        <p:sp>
          <p:nvSpPr>
            <p:cNvPr id="27659" name="Rectangle 10">
              <a:extLst>
                <a:ext uri="{FF2B5EF4-FFF2-40B4-BE49-F238E27FC236}">
                  <a16:creationId xmlns:a16="http://schemas.microsoft.com/office/drawing/2014/main" id="{B2216A79-6E52-38D3-C8A2-AAE5BDCE6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979"/>
              <a:ext cx="1177" cy="47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60000"/>
                </a:lnSpc>
                <a:spcBef>
                  <a:spcPct val="0"/>
                </a:spcBef>
                <a:buFontTx/>
                <a:buNone/>
              </a:pPr>
              <a:r>
                <a:rPr lang="en-AU" altLang="hu-HU" sz="1800"/>
                <a:t>Be: Azonosító</a:t>
              </a:r>
            </a:p>
          </p:txBody>
        </p:sp>
        <p:sp>
          <p:nvSpPr>
            <p:cNvPr id="27660" name="Rectangle 11">
              <a:extLst>
                <a:ext uri="{FF2B5EF4-FFF2-40B4-BE49-F238E27FC236}">
                  <a16:creationId xmlns:a16="http://schemas.microsoft.com/office/drawing/2014/main" id="{753F39E0-E51F-F9DE-821E-226864DC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978"/>
              <a:ext cx="1129" cy="47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7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Elköszönés</a:t>
              </a:r>
            </a:p>
          </p:txBody>
        </p:sp>
        <p:sp>
          <p:nvSpPr>
            <p:cNvPr id="27661" name="Rectangle 12">
              <a:extLst>
                <a:ext uri="{FF2B5EF4-FFF2-40B4-BE49-F238E27FC236}">
                  <a16:creationId xmlns:a16="http://schemas.microsoft.com/office/drawing/2014/main" id="{F50548E2-7359-66CA-FF5F-E74C1F4DC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" y="1839"/>
              <a:ext cx="1256" cy="61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en-AU" altLang="hu-HU" sz="1800"/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AU" altLang="hu-HU" sz="1800"/>
                <a:t>Egy hallgató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AU" altLang="hu-HU" sz="1800"/>
                <a:t>feldolgozása</a:t>
              </a:r>
              <a:endParaRPr lang="en-AU" altLang="hu-HU" sz="1000"/>
            </a:p>
          </p:txBody>
        </p:sp>
        <p:sp>
          <p:nvSpPr>
            <p:cNvPr id="27662" name="Rectangle 13">
              <a:extLst>
                <a:ext uri="{FF2B5EF4-FFF2-40B4-BE49-F238E27FC236}">
                  <a16:creationId xmlns:a16="http://schemas.microsoft.com/office/drawing/2014/main" id="{BD9DD776-2EA6-4DCB-BCFA-69E480F5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1846"/>
              <a:ext cx="18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3000"/>
                <a:t>*</a:t>
              </a:r>
              <a:endParaRPr lang="en-AU" altLang="hu-HU" sz="1000"/>
            </a:p>
          </p:txBody>
        </p:sp>
        <p:sp>
          <p:nvSpPr>
            <p:cNvPr id="27663" name="Rectangle 14">
              <a:extLst>
                <a:ext uri="{FF2B5EF4-FFF2-40B4-BE49-F238E27FC236}">
                  <a16:creationId xmlns:a16="http://schemas.microsoft.com/office/drawing/2014/main" id="{0190D720-4DFF-AAA4-05C8-4A7703DFD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978"/>
              <a:ext cx="1256" cy="47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AU" altLang="hu-HU" sz="1800"/>
                <a:t>Hallgatók</a:t>
              </a:r>
            </a:p>
            <a:p>
              <a:pPr algn="ctr"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feldolgozása</a:t>
              </a:r>
            </a:p>
          </p:txBody>
        </p:sp>
        <p:sp>
          <p:nvSpPr>
            <p:cNvPr id="27664" name="Rectangle 15">
              <a:extLst>
                <a:ext uri="{FF2B5EF4-FFF2-40B4-BE49-F238E27FC236}">
                  <a16:creationId xmlns:a16="http://schemas.microsoft.com/office/drawing/2014/main" id="{FC211362-813A-10AD-A9BB-BF1E4DBF0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2823"/>
              <a:ext cx="1128" cy="31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4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Be: Azonosító</a:t>
              </a:r>
            </a:p>
          </p:txBody>
        </p:sp>
        <p:sp>
          <p:nvSpPr>
            <p:cNvPr id="27665" name="Rectangle 16">
              <a:extLst>
                <a:ext uri="{FF2B5EF4-FFF2-40B4-BE49-F238E27FC236}">
                  <a16:creationId xmlns:a16="http://schemas.microsoft.com/office/drawing/2014/main" id="{B36063D0-466C-C1D4-4F76-04082236E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3561"/>
              <a:ext cx="1579" cy="47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/>
                <a:t>Ki: Hallgató.Név, Hallgató.Jegy</a:t>
              </a:r>
              <a:endParaRPr lang="en-AU" altLang="hu-HU" sz="1000"/>
            </a:p>
          </p:txBody>
        </p:sp>
        <p:sp>
          <p:nvSpPr>
            <p:cNvPr id="27666" name="Rectangle 17">
              <a:extLst>
                <a:ext uri="{FF2B5EF4-FFF2-40B4-BE49-F238E27FC236}">
                  <a16:creationId xmlns:a16="http://schemas.microsoft.com/office/drawing/2014/main" id="{F0F65623-2027-5CDB-0A43-66C952E5B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561"/>
              <a:ext cx="1256" cy="47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1500"/>
                </a:spcBef>
                <a:buFontTx/>
                <a:buNone/>
              </a:pPr>
              <a:br>
                <a:rPr lang="en-AU" altLang="hu-HU" sz="1800"/>
              </a:br>
              <a:r>
                <a:rPr lang="en-AU" altLang="hu-HU" sz="1800"/>
                <a:t>Ki: Hibaüzenet</a:t>
              </a:r>
              <a:endParaRPr lang="en-AU" altLang="hu-HU" sz="1600"/>
            </a:p>
          </p:txBody>
        </p:sp>
        <p:sp>
          <p:nvSpPr>
            <p:cNvPr id="27667" name="Rectangle 18">
              <a:extLst>
                <a:ext uri="{FF2B5EF4-FFF2-40B4-BE49-F238E27FC236}">
                  <a16:creationId xmlns:a16="http://schemas.microsoft.com/office/drawing/2014/main" id="{8BA039D5-4AEE-3861-75C2-C5B978B3F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823"/>
              <a:ext cx="1557" cy="51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500"/>
                </a:spcBef>
                <a:buFontTx/>
                <a:buNone/>
              </a:pPr>
              <a:r>
                <a:rPr lang="en-AU" altLang="hu-HU" sz="1800" u="sng"/>
                <a:t>Keres(Azonosító, Hallgató, Megvan)</a:t>
              </a:r>
              <a:endParaRPr lang="en-AU" altLang="hu-HU" sz="1800"/>
            </a:p>
          </p:txBody>
        </p:sp>
        <p:sp>
          <p:nvSpPr>
            <p:cNvPr id="27668" name="Line 19">
              <a:extLst>
                <a:ext uri="{FF2B5EF4-FFF2-40B4-BE49-F238E27FC236}">
                  <a16:creationId xmlns:a16="http://schemas.microsoft.com/office/drawing/2014/main" id="{4E7338E9-8571-ADEA-46F5-3E7533865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" y="2454"/>
              <a:ext cx="0" cy="3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69" name="Line 20">
              <a:extLst>
                <a:ext uri="{FF2B5EF4-FFF2-40B4-BE49-F238E27FC236}">
                  <a16:creationId xmlns:a16="http://schemas.microsoft.com/office/drawing/2014/main" id="{9F093A9B-36F6-F042-4E2A-70CE80C4B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1" y="2454"/>
              <a:ext cx="930" cy="3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70" name="Line 21">
              <a:extLst>
                <a:ext uri="{FF2B5EF4-FFF2-40B4-BE49-F238E27FC236}">
                  <a16:creationId xmlns:a16="http://schemas.microsoft.com/office/drawing/2014/main" id="{3ED65D53-F791-E70D-0F9A-043E5F90B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454"/>
              <a:ext cx="928" cy="3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71" name="Line 22">
              <a:extLst>
                <a:ext uri="{FF2B5EF4-FFF2-40B4-BE49-F238E27FC236}">
                  <a16:creationId xmlns:a16="http://schemas.microsoft.com/office/drawing/2014/main" id="{547D6B0F-ED48-E522-205C-39400D541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145"/>
              <a:ext cx="599" cy="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72" name="Line 23">
              <a:extLst>
                <a:ext uri="{FF2B5EF4-FFF2-40B4-BE49-F238E27FC236}">
                  <a16:creationId xmlns:a16="http://schemas.microsoft.com/office/drawing/2014/main" id="{2898B7FA-9FBF-E5DE-D49A-56DCEB39A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3145"/>
              <a:ext cx="663" cy="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673" name="Rectangle 24">
              <a:extLst>
                <a:ext uri="{FF2B5EF4-FFF2-40B4-BE49-F238E27FC236}">
                  <a16:creationId xmlns:a16="http://schemas.microsoft.com/office/drawing/2014/main" id="{94ACF687-A20A-360B-CEA3-38EB12ACD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3535"/>
              <a:ext cx="181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2200"/>
                <a:t>o</a:t>
              </a:r>
              <a:endParaRPr lang="en-AU" altLang="hu-HU" sz="1000"/>
            </a:p>
          </p:txBody>
        </p:sp>
        <p:sp>
          <p:nvSpPr>
            <p:cNvPr id="27674" name="Rectangle 25">
              <a:extLst>
                <a:ext uri="{FF2B5EF4-FFF2-40B4-BE49-F238E27FC236}">
                  <a16:creationId xmlns:a16="http://schemas.microsoft.com/office/drawing/2014/main" id="{098E958D-FF20-1BF2-98B8-FBD0D47F2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3528"/>
              <a:ext cx="1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2200"/>
                <a:t>o</a:t>
              </a:r>
              <a:endParaRPr lang="en-AU" altLang="hu-HU" sz="1000"/>
            </a:p>
          </p:txBody>
        </p:sp>
        <p:sp>
          <p:nvSpPr>
            <p:cNvPr id="27675" name="Rectangle 26">
              <a:extLst>
                <a:ext uri="{FF2B5EF4-FFF2-40B4-BE49-F238E27FC236}">
                  <a16:creationId xmlns:a16="http://schemas.microsoft.com/office/drawing/2014/main" id="{55E9FD37-A03E-3679-5DAE-CC501F412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1598"/>
              <a:ext cx="1287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Azonosító </a:t>
              </a:r>
              <a:r>
                <a:rPr lang="hu-HU" altLang="hu-HU" sz="1600"/>
                <a:t>≠</a:t>
              </a:r>
              <a:r>
                <a:rPr lang="en-AU" altLang="hu-HU" sz="1600"/>
                <a:t> '*'</a:t>
              </a:r>
            </a:p>
          </p:txBody>
        </p:sp>
        <p:sp>
          <p:nvSpPr>
            <p:cNvPr id="27676" name="Rectangle 27">
              <a:extLst>
                <a:ext uri="{FF2B5EF4-FFF2-40B4-BE49-F238E27FC236}">
                  <a16:creationId xmlns:a16="http://schemas.microsoft.com/office/drawing/2014/main" id="{8B9CD21F-5AA0-F097-60CA-3AE877B98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368"/>
              <a:ext cx="638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AU" altLang="hu-HU" sz="1600"/>
            </a:p>
          </p:txBody>
        </p:sp>
        <p:sp>
          <p:nvSpPr>
            <p:cNvPr id="27677" name="Rectangle 28">
              <a:extLst>
                <a:ext uri="{FF2B5EF4-FFF2-40B4-BE49-F238E27FC236}">
                  <a16:creationId xmlns:a16="http://schemas.microsoft.com/office/drawing/2014/main" id="{8B8857F2-58CE-B9B6-5051-DF973D375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3351"/>
              <a:ext cx="638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AU" altLang="hu-HU" sz="1600"/>
                <a:t>Igen</a:t>
              </a: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ia számának helye 5">
            <a:extLst>
              <a:ext uri="{FF2B5EF4-FFF2-40B4-BE49-F238E27FC236}">
                <a16:creationId xmlns:a16="http://schemas.microsoft.com/office/drawing/2014/main" id="{2D7891EB-87A7-DE3C-68F8-5BF1688B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D659CE-947D-4DEE-817A-C2586AF29AEA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hu-HU" altLang="hu-HU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1B9D43A-E3FE-BC2D-B9B9-410D2B19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5943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/>
              <a:t>Neumann-elvű nyelvek </a:t>
            </a:r>
            <a:br>
              <a:rPr lang="hu-HU" altLang="hu-HU"/>
            </a:br>
            <a:r>
              <a:rPr lang="hu-HU" altLang="hu-HU"/>
              <a:t>(a legtöbb ilyen),</a:t>
            </a:r>
          </a:p>
          <a:p>
            <a:r>
              <a:rPr lang="hu-HU" altLang="hu-HU"/>
              <a:t>Automata elvű nyelvek,</a:t>
            </a:r>
          </a:p>
          <a:p>
            <a:r>
              <a:rPr lang="hu-HU" altLang="hu-HU"/>
              <a:t>Funkcionális nyelvek,</a:t>
            </a:r>
          </a:p>
          <a:p>
            <a:r>
              <a:rPr lang="hu-HU" altLang="hu-HU"/>
              <a:t>Logikai nyelvek.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0D3380D-2E95-FF2F-A65E-43D5F06A0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/>
              <a:t>Számítási modellek: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E5A206BA-31E7-ED54-1D69-628F21B6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9540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>
                <a:sym typeface="Wingdings" panose="05000000000000000000" pitchFamily="2" charset="2"/>
              </a:rPr>
              <a:t>(Az a gép, amely a nyelv mögé képzelhető, amellyel a program végrehajtható.)</a:t>
            </a:r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43753640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ia számának helye 5">
            <a:extLst>
              <a:ext uri="{FF2B5EF4-FFF2-40B4-BE49-F238E27FC236}">
                <a16:creationId xmlns:a16="http://schemas.microsoft.com/office/drawing/2014/main" id="{B2C9A8B9-BEBA-268A-AA24-D9F97AC5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911545-D308-4D24-A385-5492B4F4EBDD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hu-HU" altLang="hu-HU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8C300BA-8141-F20D-6940-486B45568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/>
              <a:t>Neumann-elvű nyelvek</a:t>
            </a:r>
            <a:r>
              <a:rPr lang="hu-HU" altLang="hu-HU"/>
              <a:t> jellemzői: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C624B5B-BD18-EEE5-14C1-4B9002F71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8458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/>
              <a:t>Neumann-elvű nyelvek mögé egy Neumann- elvű számítógépet képzelünk. </a:t>
            </a:r>
          </a:p>
          <a:p>
            <a:pPr>
              <a:buFontTx/>
              <a:buNone/>
            </a:pPr>
            <a:r>
              <a:rPr lang="hu-HU" altLang="hu-HU" i="1"/>
              <a:t>Ez rendelkezik</a:t>
            </a:r>
            <a:r>
              <a:rPr lang="hu-HU" altLang="hu-HU"/>
              <a:t>:</a:t>
            </a:r>
          </a:p>
          <a:p>
            <a:r>
              <a:rPr lang="hu-HU" altLang="hu-HU"/>
              <a:t>írható-olvasható </a:t>
            </a:r>
            <a:r>
              <a:rPr lang="hu-HU" altLang="hu-HU" b="1" i="1"/>
              <a:t>memóriával</a:t>
            </a:r>
            <a:r>
              <a:rPr lang="hu-HU" altLang="hu-HU"/>
              <a:t> (ugyanolyan módon tároljuk az adatokat és utasításokat),</a:t>
            </a:r>
          </a:p>
          <a:p>
            <a:r>
              <a:rPr lang="hu-HU" altLang="hu-HU"/>
              <a:t>program végrehajtása: utasítások </a:t>
            </a:r>
            <a:r>
              <a:rPr lang="hu-HU" altLang="hu-HU" b="1" i="1"/>
              <a:t>szekvenciális</a:t>
            </a:r>
            <a:r>
              <a:rPr lang="hu-HU" altLang="hu-HU"/>
              <a:t> végrehajtása,</a:t>
            </a:r>
          </a:p>
          <a:p>
            <a:r>
              <a:rPr lang="hu-HU" altLang="hu-HU"/>
              <a:t>megjelenik a </a:t>
            </a:r>
            <a:r>
              <a:rPr lang="hu-HU" altLang="hu-HU" b="1" i="1"/>
              <a:t>változó</a:t>
            </a:r>
            <a:r>
              <a:rPr lang="hu-HU" altLang="hu-HU"/>
              <a:t> fogalma, </a:t>
            </a:r>
          </a:p>
          <a:p>
            <a:r>
              <a:rPr lang="hu-HU" altLang="hu-HU"/>
              <a:t>lehet </a:t>
            </a:r>
            <a:r>
              <a:rPr lang="hu-HU" altLang="hu-HU" b="1" i="1"/>
              <a:t>elágazásokat</a:t>
            </a:r>
            <a:r>
              <a:rPr lang="hu-HU" altLang="hu-HU"/>
              <a:t>, </a:t>
            </a:r>
            <a:r>
              <a:rPr lang="hu-HU" altLang="hu-HU" b="1" i="1"/>
              <a:t>ciklusokat</a:t>
            </a:r>
            <a:r>
              <a:rPr lang="hu-HU" altLang="hu-HU"/>
              <a:t> szervezni .</a:t>
            </a:r>
          </a:p>
        </p:txBody>
      </p:sp>
    </p:spTree>
    <p:extLst>
      <p:ext uri="{BB962C8B-B14F-4D97-AF65-F5344CB8AC3E}">
        <p14:creationId xmlns:p14="http://schemas.microsoft.com/office/powerpoint/2010/main" val="334501266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ia számának helye 5">
            <a:extLst>
              <a:ext uri="{FF2B5EF4-FFF2-40B4-BE49-F238E27FC236}">
                <a16:creationId xmlns:a16="http://schemas.microsoft.com/office/drawing/2014/main" id="{5D22980F-7CF5-1720-A9B6-2D28B5A3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8C59A7-BFBB-4DAD-97A6-DC742BE13214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hu-HU" altLang="hu-HU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F166F28-D191-9326-B953-70BD36478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908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 dirty="0"/>
              <a:t>Funkcionális nyelvek</a:t>
            </a:r>
            <a:r>
              <a:rPr lang="hu-HU" altLang="hu-HU" dirty="0"/>
              <a:t> jellemzői: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C22EA49-1CCE-59C5-24C8-8B720F19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14400"/>
            <a:ext cx="84582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hu-HU" altLang="hu-HU" dirty="0"/>
              <a:t>végrehajtója egy </a:t>
            </a:r>
            <a:r>
              <a:rPr lang="hu-HU" altLang="hu-HU" b="1" i="1" dirty="0"/>
              <a:t>automata</a:t>
            </a:r>
            <a:r>
              <a:rPr lang="hu-HU" altLang="hu-HU" dirty="0"/>
              <a:t>,</a:t>
            </a:r>
          </a:p>
          <a:p>
            <a:pPr>
              <a:spcBef>
                <a:spcPts val="0"/>
              </a:spcBef>
            </a:pPr>
            <a:r>
              <a:rPr lang="hu-HU" altLang="hu-HU" dirty="0"/>
              <a:t>az automata rendelkezik </a:t>
            </a:r>
            <a:r>
              <a:rPr lang="hu-HU" altLang="hu-HU" b="1" i="1" dirty="0"/>
              <a:t>állapotokkal</a:t>
            </a:r>
            <a:r>
              <a:rPr lang="hu-HU" altLang="hu-HU" dirty="0"/>
              <a:t>, s az állapotok közötti átmenetet leíró függvényekkel.</a:t>
            </a: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E6A6D5F5-6BDD-A7C3-5DE0-2412E57ED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 dirty="0"/>
              <a:t>Automata-elvű nyelvek</a:t>
            </a:r>
            <a:r>
              <a:rPr lang="hu-HU" altLang="hu-HU" dirty="0"/>
              <a:t> jellemzői:</a:t>
            </a: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F0C009B4-4177-AD7A-0A49-D351E18F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196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47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93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b="1"/>
              <a:t>Logikai nyelvek</a:t>
            </a:r>
            <a:r>
              <a:rPr lang="hu-HU" altLang="hu-HU"/>
              <a:t> jellemzői:</a:t>
            </a: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92CC8627-EF70-FFE6-DCB0-93E72FAA3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04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a program egy </a:t>
            </a:r>
            <a:r>
              <a:rPr lang="hu-HU" altLang="hu-HU" b="1" i="1" dirty="0"/>
              <a:t>függvény</a:t>
            </a:r>
            <a:r>
              <a:rPr lang="hu-HU" altLang="hu-HU" dirty="0"/>
              <a:t>, a program végrehajtása a </a:t>
            </a:r>
            <a:r>
              <a:rPr lang="hu-HU" altLang="hu-HU" u="sng" dirty="0"/>
              <a:t>függvény kifejtéséből</a:t>
            </a:r>
            <a:r>
              <a:rPr lang="hu-HU" altLang="hu-HU" dirty="0"/>
              <a:t> áll.</a:t>
            </a: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B725633C-74BC-AA63-3A60-77D3295D3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53000"/>
            <a:ext cx="84582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hu-HU" altLang="hu-HU" dirty="0"/>
              <a:t>a program egy </a:t>
            </a:r>
            <a:r>
              <a:rPr lang="hu-HU" altLang="hu-HU" b="1" i="1" dirty="0"/>
              <a:t>logikai függvény</a:t>
            </a:r>
            <a:r>
              <a:rPr lang="hu-HU" altLang="hu-HU" dirty="0"/>
              <a:t>,</a:t>
            </a:r>
          </a:p>
          <a:p>
            <a:pPr>
              <a:spcBef>
                <a:spcPts val="0"/>
              </a:spcBef>
            </a:pPr>
            <a:r>
              <a:rPr lang="hu-HU" altLang="hu-HU" dirty="0"/>
              <a:t>a program végrehajtása a </a:t>
            </a:r>
            <a:r>
              <a:rPr lang="hu-HU" altLang="hu-HU" u="sng" dirty="0"/>
              <a:t>logikai függvény kiértékelése</a:t>
            </a:r>
            <a:r>
              <a:rPr lang="hu-HU" alt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4227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DB8B83EB-A18D-7C6C-6E50-418AEB112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42350" cy="1379538"/>
          </a:xfrm>
        </p:spPr>
        <p:txBody>
          <a:bodyPr>
            <a:normAutofit/>
          </a:bodyPr>
          <a:lstStyle/>
          <a:p>
            <a:r>
              <a:rPr lang="hu-HU" altLang="hu-HU" sz="4000" b="1"/>
              <a:t>Programozási nyelvek csoportosítása programozási stílus szerint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5DB0C51-7A76-A834-BB59-E7C41D2D25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0212" y="1916832"/>
            <a:ext cx="8713788" cy="4608512"/>
          </a:xfrm>
        </p:spPr>
        <p:txBody>
          <a:bodyPr/>
          <a:lstStyle/>
          <a:p>
            <a:pPr>
              <a:buFontTx/>
              <a:buNone/>
            </a:pPr>
            <a:r>
              <a:rPr lang="hu-HU" altLang="hu-HU" sz="3000" b="1" dirty="0"/>
              <a:t>Programozási paradigmák </a:t>
            </a:r>
            <a:br>
              <a:rPr lang="hu-HU" altLang="hu-HU" sz="3000" b="1" dirty="0"/>
            </a:br>
            <a:r>
              <a:rPr lang="hu-HU" altLang="hu-HU" sz="3000" b="1" dirty="0"/>
              <a:t>(minták, módszerek, technikák)</a:t>
            </a:r>
          </a:p>
          <a:p>
            <a:pPr>
              <a:buFontTx/>
              <a:buNone/>
            </a:pPr>
            <a:endParaRPr lang="hu-HU" altLang="hu-HU" sz="500" b="1" dirty="0"/>
          </a:p>
          <a:p>
            <a:r>
              <a:rPr lang="hu-HU" altLang="hu-HU" sz="3000" b="1" i="1" dirty="0"/>
              <a:t> Imperatív</a:t>
            </a:r>
            <a:r>
              <a:rPr lang="hu-HU" altLang="hu-HU" sz="3000" dirty="0"/>
              <a:t> </a:t>
            </a:r>
          </a:p>
          <a:p>
            <a:pPr marL="538163" lvl="1" indent="-182563"/>
            <a:r>
              <a:rPr lang="hu-HU" altLang="hu-HU" sz="2800" dirty="0"/>
              <a:t> Procedurális – eljárás-orientált</a:t>
            </a:r>
          </a:p>
          <a:p>
            <a:pPr marL="538163" lvl="1" indent="-182563"/>
            <a:r>
              <a:rPr lang="hu-HU" altLang="hu-HU" sz="2800" dirty="0"/>
              <a:t> Objektum-orientált</a:t>
            </a:r>
          </a:p>
          <a:p>
            <a:r>
              <a:rPr lang="hu-HU" altLang="hu-HU" sz="3000" b="1" i="1" dirty="0"/>
              <a:t> Deklaratív</a:t>
            </a:r>
          </a:p>
          <a:p>
            <a:pPr marL="630238" lvl="1" indent="-274638"/>
            <a:r>
              <a:rPr lang="hu-HU" altLang="hu-HU" sz="3000" dirty="0"/>
              <a:t> Funkcionális, </a:t>
            </a:r>
          </a:p>
          <a:p>
            <a:pPr marL="630238" lvl="1" indent="-274638"/>
            <a:r>
              <a:rPr lang="hu-HU" altLang="hu-HU" sz="3000" dirty="0"/>
              <a:t> Logikai (szabály alapú).</a:t>
            </a:r>
          </a:p>
        </p:txBody>
      </p:sp>
      <p:sp>
        <p:nvSpPr>
          <p:cNvPr id="29698" name="Dia számának helye 5">
            <a:extLst>
              <a:ext uri="{FF2B5EF4-FFF2-40B4-BE49-F238E27FC236}">
                <a16:creationId xmlns:a16="http://schemas.microsoft.com/office/drawing/2014/main" id="{98E3CD61-80BC-448C-23C9-050E32AC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D27942-761F-4DF7-B7E1-DD9A8CFFB423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23C1A00C-D957-E71F-B0EA-85E5AF72B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60350"/>
            <a:ext cx="8569325" cy="6337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hu-HU" altLang="hu-HU" sz="3600" b="1" dirty="0"/>
              <a:t>Imperatív</a:t>
            </a:r>
          </a:p>
          <a:p>
            <a:pPr marL="355600" indent="-320675"/>
            <a:r>
              <a:rPr lang="hu-HU" altLang="hu-HU" sz="3000" b="1" i="1" dirty="0"/>
              <a:t>Algoritmus-vezérelt</a:t>
            </a:r>
            <a:r>
              <a:rPr lang="hu-HU" altLang="hu-HU" sz="3000" dirty="0"/>
              <a:t> nyelvek.</a:t>
            </a:r>
          </a:p>
          <a:p>
            <a:pPr marL="355600" indent="-320675"/>
            <a:r>
              <a:rPr lang="hu-HU" altLang="hu-HU" sz="3000" b="1" i="1" dirty="0"/>
              <a:t>Neumann</a:t>
            </a:r>
            <a:r>
              <a:rPr lang="hu-HU" altLang="hu-HU" sz="3000" dirty="0"/>
              <a:t>-architektúrához köthető.</a:t>
            </a:r>
          </a:p>
          <a:p>
            <a:pPr marL="355600" indent="-320675"/>
            <a:r>
              <a:rPr lang="hu-HU" altLang="hu-HU" sz="3000" dirty="0"/>
              <a:t>A programozó mondja meg, hogy </a:t>
            </a:r>
            <a:r>
              <a:rPr lang="hu-HU" altLang="hu-HU" sz="3000" b="1" i="1" dirty="0"/>
              <a:t>mit</a:t>
            </a:r>
            <a:r>
              <a:rPr lang="hu-HU" altLang="hu-HU" sz="3000" dirty="0"/>
              <a:t>, </a:t>
            </a:r>
            <a:r>
              <a:rPr lang="hu-HU" altLang="hu-HU" sz="3000" b="1" i="1" dirty="0"/>
              <a:t>hogyan</a:t>
            </a:r>
            <a:r>
              <a:rPr lang="hu-HU" altLang="hu-HU" sz="3000" dirty="0"/>
              <a:t> kell </a:t>
            </a:r>
            <a:r>
              <a:rPr lang="hu-HU" altLang="hu-HU" sz="3000" b="1" i="1" dirty="0"/>
              <a:t>megoldani</a:t>
            </a:r>
            <a:r>
              <a:rPr lang="hu-HU" altLang="hu-HU" sz="3000" dirty="0"/>
              <a:t>.</a:t>
            </a:r>
          </a:p>
          <a:p>
            <a:pPr marL="355600" indent="-320675"/>
            <a:r>
              <a:rPr lang="hu-HU" altLang="hu-HU" sz="3000" dirty="0"/>
              <a:t>A programok </a:t>
            </a:r>
            <a:r>
              <a:rPr lang="hu-HU" altLang="hu-HU" sz="3000" b="1" i="1" dirty="0"/>
              <a:t>utasításokból</a:t>
            </a:r>
            <a:r>
              <a:rPr lang="hu-HU" altLang="hu-HU" sz="3000" dirty="0"/>
              <a:t> állnak.</a:t>
            </a:r>
          </a:p>
          <a:p>
            <a:pPr marL="355600" indent="-320675"/>
            <a:r>
              <a:rPr lang="hu-HU" altLang="hu-HU" sz="3000" dirty="0"/>
              <a:t>A programok </a:t>
            </a:r>
            <a:r>
              <a:rPr lang="hu-HU" altLang="hu-HU" sz="3000" u="sng" dirty="0"/>
              <a:t>további önálló részekre</a:t>
            </a:r>
            <a:r>
              <a:rPr lang="hu-HU" altLang="hu-HU" sz="3000" dirty="0"/>
              <a:t> bonthatók.</a:t>
            </a:r>
          </a:p>
          <a:p>
            <a:pPr marL="355600" indent="-320675"/>
            <a:r>
              <a:rPr lang="hu-HU" altLang="hu-HU" sz="3000" dirty="0"/>
              <a:t>Szekvencia, elágazás, ciklus.</a:t>
            </a:r>
          </a:p>
          <a:p>
            <a:pPr marL="355600" indent="-320675">
              <a:spcAft>
                <a:spcPts val="600"/>
              </a:spcAft>
            </a:pPr>
            <a:r>
              <a:rPr lang="hu-HU" altLang="hu-HU" sz="3000" dirty="0"/>
              <a:t>Van </a:t>
            </a:r>
            <a:r>
              <a:rPr lang="hu-HU" altLang="hu-HU" sz="3000" b="1" i="1" dirty="0"/>
              <a:t>értékadás</a:t>
            </a:r>
            <a:r>
              <a:rPr lang="hu-HU" altLang="hu-HU" sz="3000" dirty="0"/>
              <a:t>, léteznek </a:t>
            </a:r>
            <a:r>
              <a:rPr lang="hu-HU" altLang="hu-HU" sz="3000" b="1" i="1" dirty="0"/>
              <a:t>változók</a:t>
            </a:r>
            <a:r>
              <a:rPr lang="hu-HU" altLang="hu-HU" sz="3000" dirty="0"/>
              <a:t>.</a:t>
            </a:r>
          </a:p>
          <a:p>
            <a:pPr marL="355600" indent="-320675">
              <a:spcAft>
                <a:spcPts val="600"/>
              </a:spcAft>
            </a:pPr>
            <a:r>
              <a:rPr lang="hu-HU" altLang="hu-HU" sz="3000" dirty="0"/>
              <a:t>Fajtái:</a:t>
            </a:r>
          </a:p>
          <a:p>
            <a:pPr marL="538163" lvl="1" indent="-1825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altLang="hu-HU" sz="2800" b="1" i="1" dirty="0"/>
              <a:t>Eljárásorientált</a:t>
            </a:r>
            <a:r>
              <a:rPr lang="hu-HU" altLang="hu-HU" sz="2800" dirty="0"/>
              <a:t>: </a:t>
            </a:r>
            <a:br>
              <a:rPr lang="hu-HU" altLang="hu-HU" sz="2800" dirty="0"/>
            </a:br>
            <a:r>
              <a:rPr lang="hu-HU" altLang="hu-HU" sz="2800" dirty="0"/>
              <a:t>C, Ada, Pascal, Modula-2, Basic, </a:t>
            </a:r>
            <a:r>
              <a:rPr lang="hu-HU" altLang="hu-HU" sz="2800" dirty="0" err="1"/>
              <a:t>Fortran</a:t>
            </a:r>
            <a:r>
              <a:rPr lang="hu-HU" altLang="hu-HU" sz="2800" dirty="0"/>
              <a:t>, </a:t>
            </a:r>
            <a:r>
              <a:rPr lang="hu-HU" altLang="hu-HU" sz="2800" dirty="0" err="1"/>
              <a:t>Cobol</a:t>
            </a:r>
            <a:endParaRPr lang="hu-HU" altLang="hu-HU" sz="2800" dirty="0"/>
          </a:p>
          <a:p>
            <a:pPr marL="538163" lvl="1" indent="-1825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altLang="hu-HU" sz="2800" b="1" i="1" dirty="0"/>
              <a:t>Objektum-orientált</a:t>
            </a:r>
            <a:r>
              <a:rPr lang="hu-HU" altLang="hu-HU" sz="2800" dirty="0"/>
              <a:t>: </a:t>
            </a:r>
            <a:br>
              <a:rPr lang="hu-HU" altLang="hu-HU" sz="2800" dirty="0"/>
            </a:br>
            <a:r>
              <a:rPr lang="hu-HU" altLang="hu-HU" sz="2800" dirty="0"/>
              <a:t>C++, C#, Java, Delphi, </a:t>
            </a:r>
            <a:r>
              <a:rPr lang="hu-HU" altLang="hu-HU" sz="2800" dirty="0" err="1"/>
              <a:t>Simula</a:t>
            </a:r>
            <a:endParaRPr lang="hu-HU" altLang="hu-HU" sz="2800" dirty="0"/>
          </a:p>
        </p:txBody>
      </p:sp>
      <p:sp>
        <p:nvSpPr>
          <p:cNvPr id="30722" name="Dia számának helye 5">
            <a:extLst>
              <a:ext uri="{FF2B5EF4-FFF2-40B4-BE49-F238E27FC236}">
                <a16:creationId xmlns:a16="http://schemas.microsoft.com/office/drawing/2014/main" id="{8E0EE987-558B-6BF6-66F2-FA5E1AB1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F4146D-0D0D-436D-B68A-AE0401CD2157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10F47BFA-0B9E-830B-483C-67BC44E03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476250"/>
            <a:ext cx="8207375" cy="604837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hu-HU" altLang="hu-HU" sz="3600" b="1" dirty="0"/>
              <a:t>Deklaratív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000" b="1" i="1" dirty="0"/>
              <a:t>Nem algoritmikus</a:t>
            </a:r>
            <a:r>
              <a:rPr lang="hu-HU" altLang="hu-HU" sz="3000" dirty="0"/>
              <a:t> nyelvek.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000" dirty="0"/>
              <a:t>Kevésbé, illetve </a:t>
            </a:r>
            <a:r>
              <a:rPr lang="hu-HU" altLang="hu-HU" sz="3000" b="1" i="1" dirty="0"/>
              <a:t>nem</a:t>
            </a:r>
            <a:r>
              <a:rPr lang="hu-HU" altLang="hu-HU" sz="3000" dirty="0"/>
              <a:t> építenek a </a:t>
            </a:r>
            <a:r>
              <a:rPr lang="hu-HU" altLang="hu-HU" sz="3000" b="1" i="1" dirty="0"/>
              <a:t>Neumann</a:t>
            </a:r>
            <a:r>
              <a:rPr lang="hu-HU" altLang="hu-HU" sz="3000" dirty="0"/>
              <a:t>-architektúrára.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000" dirty="0"/>
              <a:t>A programozó csak azt mondja meg, hogy </a:t>
            </a:r>
            <a:r>
              <a:rPr lang="hu-HU" altLang="hu-HU" sz="3000" b="1" i="1" dirty="0"/>
              <a:t>mit</a:t>
            </a:r>
            <a:r>
              <a:rPr lang="hu-HU" altLang="hu-HU" sz="3000" dirty="0"/>
              <a:t> kell megcsinálni (</a:t>
            </a:r>
            <a:r>
              <a:rPr lang="hu-HU" altLang="hu-HU" sz="3000" b="1" i="1" dirty="0"/>
              <a:t>nem</a:t>
            </a:r>
            <a:r>
              <a:rPr lang="hu-HU" altLang="hu-HU" sz="3000" dirty="0"/>
              <a:t> mondja meg, hogy ezt </a:t>
            </a:r>
            <a:r>
              <a:rPr lang="hu-HU" altLang="hu-HU" sz="3000" b="1" i="1" dirty="0"/>
              <a:t>hogyan</a:t>
            </a:r>
            <a:r>
              <a:rPr lang="hu-HU" altLang="hu-HU" sz="3000" dirty="0"/>
              <a:t> kell végrehajtani).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000" dirty="0"/>
              <a:t>Nincs utasítássorozat, nincs értékadás, nincs változó.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000" dirty="0"/>
              <a:t>Fajtái:</a:t>
            </a:r>
          </a:p>
          <a:p>
            <a:pPr marL="720725" lvl="1" indent="-365125">
              <a:lnSpc>
                <a:spcPct val="90000"/>
              </a:lnSpc>
            </a:pPr>
            <a:r>
              <a:rPr lang="hu-HU" altLang="hu-HU" sz="2800" b="1" dirty="0"/>
              <a:t>Adatbáziskezelő: </a:t>
            </a:r>
            <a:r>
              <a:rPr lang="hu-HU" altLang="hu-HU" sz="2800" dirty="0"/>
              <a:t>SQL</a:t>
            </a:r>
          </a:p>
          <a:p>
            <a:pPr marL="720725" lvl="1" indent="-365125">
              <a:lnSpc>
                <a:spcPct val="90000"/>
              </a:lnSpc>
            </a:pPr>
            <a:r>
              <a:rPr lang="hu-HU" altLang="hu-HU" sz="2800" b="1" dirty="0"/>
              <a:t>Funkcionális</a:t>
            </a:r>
            <a:r>
              <a:rPr lang="hu-HU" altLang="hu-HU" sz="2800" dirty="0"/>
              <a:t>: </a:t>
            </a:r>
            <a:r>
              <a:rPr lang="hu-HU" altLang="hu-HU" sz="2800" dirty="0" err="1"/>
              <a:t>Lisp</a:t>
            </a:r>
            <a:r>
              <a:rPr lang="hu-HU" altLang="hu-HU" sz="2800" dirty="0"/>
              <a:t>, Miranda</a:t>
            </a:r>
          </a:p>
          <a:p>
            <a:pPr marL="720725" lvl="1" indent="-365125">
              <a:lnSpc>
                <a:spcPct val="90000"/>
              </a:lnSpc>
            </a:pPr>
            <a:r>
              <a:rPr lang="hu-HU" altLang="hu-HU" sz="2800" b="1" dirty="0"/>
              <a:t>Logikai</a:t>
            </a:r>
            <a:r>
              <a:rPr lang="hu-HU" altLang="hu-HU" sz="2800" dirty="0"/>
              <a:t>: </a:t>
            </a:r>
            <a:r>
              <a:rPr lang="hu-HU" altLang="hu-HU" sz="2800" dirty="0" err="1"/>
              <a:t>Prolog</a:t>
            </a:r>
            <a:endParaRPr lang="hu-HU" altLang="hu-HU" sz="2800" dirty="0"/>
          </a:p>
        </p:txBody>
      </p:sp>
      <p:sp>
        <p:nvSpPr>
          <p:cNvPr id="31746" name="Dia számának helye 5">
            <a:extLst>
              <a:ext uri="{FF2B5EF4-FFF2-40B4-BE49-F238E27FC236}">
                <a16:creationId xmlns:a16="http://schemas.microsoft.com/office/drawing/2014/main" id="{8CB7B639-F73C-9B1C-DDA2-F2F6A572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38E004-0311-43E1-BEEB-9EE82588DA81}" type="slidenum">
              <a:rPr lang="hu-HU" altLang="hu-HU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diagram, sor, tér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8ECCD1A-7BB6-ADF5-598F-8D2FCB580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756" y="264501"/>
            <a:ext cx="4522596" cy="5900803"/>
          </a:xfrm>
          <a:prstGeom prst="rect">
            <a:avLst/>
          </a:prstGeom>
        </p:spPr>
      </p:pic>
      <p:sp>
        <p:nvSpPr>
          <p:cNvPr id="131077" name="Text Box 5">
            <a:extLst>
              <a:ext uri="{FF2B5EF4-FFF2-40B4-BE49-F238E27FC236}">
                <a16:creationId xmlns:a16="http://schemas.microsoft.com/office/drawing/2014/main" id="{72412C1F-863D-ECE9-CDC7-72D11364F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29" y="5745450"/>
            <a:ext cx="63722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hu-HU" altLang="hu-HU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Forrás: </a:t>
            </a:r>
            <a:br>
              <a:rPr lang="hu-HU" altLang="hu-HU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hu-HU" altLang="hu-HU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https://rigaux.org/language-study/diagram.html</a:t>
            </a:r>
            <a:endParaRPr lang="hu-HU" altLang="hu-HU" sz="2400" dirty="0"/>
          </a:p>
        </p:txBody>
      </p:sp>
      <p:sp>
        <p:nvSpPr>
          <p:cNvPr id="131079" name="Oval 7">
            <a:extLst>
              <a:ext uri="{FF2B5EF4-FFF2-40B4-BE49-F238E27FC236}">
                <a16:creationId xmlns:a16="http://schemas.microsoft.com/office/drawing/2014/main" id="{15862726-3A16-80E4-0835-8F3D5F3A1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7273" y="2078602"/>
            <a:ext cx="539750" cy="539750"/>
          </a:xfrm>
          <a:prstGeom prst="ellipse">
            <a:avLst/>
          </a:prstGeom>
          <a:noFill/>
          <a:ln w="38100">
            <a:solidFill>
              <a:srgbClr val="33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u-HU" altLang="hu-HU" sz="2400"/>
          </a:p>
        </p:txBody>
      </p:sp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8C0F6C0A-042C-ADF7-2075-2AB69733F888}"/>
              </a:ext>
            </a:extLst>
          </p:cNvPr>
          <p:cNvCxnSpPr>
            <a:cxnSpLocks/>
          </p:cNvCxnSpPr>
          <p:nvPr/>
        </p:nvCxnSpPr>
        <p:spPr bwMode="auto">
          <a:xfrm>
            <a:off x="7014995" y="2402328"/>
            <a:ext cx="252028" cy="432048"/>
          </a:xfrm>
          <a:prstGeom prst="straightConnector1">
            <a:avLst/>
          </a:prstGeom>
          <a:ln w="47625">
            <a:solidFill>
              <a:srgbClr val="FF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BC8D5228-4D8A-F04C-A012-F6B9726353E1}"/>
              </a:ext>
            </a:extLst>
          </p:cNvPr>
          <p:cNvCxnSpPr>
            <a:cxnSpLocks/>
          </p:cNvCxnSpPr>
          <p:nvPr/>
        </p:nvCxnSpPr>
        <p:spPr bwMode="auto">
          <a:xfrm>
            <a:off x="7344192" y="3001496"/>
            <a:ext cx="242676" cy="715536"/>
          </a:xfrm>
          <a:prstGeom prst="straightConnector1">
            <a:avLst/>
          </a:prstGeom>
          <a:ln w="47625">
            <a:solidFill>
              <a:srgbClr val="FF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73138656-F351-C44C-CD0F-3191D9BA56BB}"/>
              </a:ext>
            </a:extLst>
          </p:cNvPr>
          <p:cNvCxnSpPr>
            <a:cxnSpLocks/>
          </p:cNvCxnSpPr>
          <p:nvPr/>
        </p:nvCxnSpPr>
        <p:spPr bwMode="auto">
          <a:xfrm flipH="1">
            <a:off x="7524328" y="3933056"/>
            <a:ext cx="121338" cy="432048"/>
          </a:xfrm>
          <a:prstGeom prst="straightConnector1">
            <a:avLst/>
          </a:prstGeom>
          <a:ln w="47625">
            <a:solidFill>
              <a:srgbClr val="FF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2">
            <a:extLst>
              <a:ext uri="{FF2B5EF4-FFF2-40B4-BE49-F238E27FC236}">
                <a16:creationId xmlns:a16="http://schemas.microsoft.com/office/drawing/2014/main" id="{B6E69376-290B-BE1E-E0CB-C71E8E84BCED}"/>
              </a:ext>
            </a:extLst>
          </p:cNvPr>
          <p:cNvSpPr txBox="1">
            <a:spLocks noChangeArrowheads="1"/>
          </p:cNvSpPr>
          <p:nvPr/>
        </p:nvSpPr>
        <p:spPr>
          <a:xfrm>
            <a:off x="287909" y="404664"/>
            <a:ext cx="3852043" cy="38876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hu-HU" altLang="hu-HU" sz="3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programnyelv: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hu-HU" altLang="hu-H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Professzionális</a:t>
            </a:r>
          </a:p>
          <a:p>
            <a:pPr>
              <a:lnSpc>
                <a:spcPct val="90000"/>
              </a:lnSpc>
            </a:pPr>
            <a:r>
              <a:rPr lang="hu-HU" altLang="hu-H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Magasszintű</a:t>
            </a:r>
          </a:p>
          <a:p>
            <a:pPr>
              <a:lnSpc>
                <a:spcPct val="90000"/>
              </a:lnSpc>
            </a:pPr>
            <a:r>
              <a:rPr lang="hu-HU" altLang="hu-H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Objektum-orientált</a:t>
            </a:r>
          </a:p>
          <a:p>
            <a:pPr>
              <a:lnSpc>
                <a:spcPct val="90000"/>
              </a:lnSpc>
            </a:pPr>
            <a:r>
              <a:rPr lang="hu-HU" altLang="hu-H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Neumann-elvű</a:t>
            </a:r>
          </a:p>
          <a:p>
            <a:pPr>
              <a:lnSpc>
                <a:spcPct val="90000"/>
              </a:lnSpc>
            </a:pPr>
            <a:r>
              <a:rPr lang="hu-HU" altLang="hu-HU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Imperatív</a:t>
            </a:r>
          </a:p>
          <a:p>
            <a:pPr>
              <a:lnSpc>
                <a:spcPct val="90000"/>
              </a:lnSpc>
            </a:pPr>
            <a:endParaRPr lang="hu-HU" altLang="hu-HU" b="1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/>
      <p:bldP spid="13107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Magasszintű programozási nyelvek I.&amp;quot;&quot;/&gt;&lt;property id=&quot;20307&quot; value=&quot;313&quot;/&gt;&lt;/object&gt;&lt;object type=&quot;3&quot; unique_id=&quot;10004&quot;&gt;&lt;property id=&quot;20148&quot; value=&quot;5&quot;/&gt;&lt;property id=&quot;20300&quot; value=&quot;Slide 2&quot;/&gt;&lt;property id=&quot;20307&quot; value=&quot;256&quot;/&gt;&lt;/object&gt;&lt;object type=&quot;3&quot; unique_id=&quot;10005&quot;&gt;&lt;property id=&quot;20148&quot; value=&quot;5&quot;/&gt;&lt;property id=&quot;20300&quot; value=&quot;Slide 3&quot;/&gt;&lt;property id=&quot;20307&quot; value=&quot;257&quot;/&gt;&lt;/object&gt;&lt;object type=&quot;3&quot; unique_id=&quot;10006&quot;&gt;&lt;property id=&quot;20148&quot; value=&quot;5&quot;/&gt;&lt;property id=&quot;20300&quot; value=&quot;Slide 4&quot;/&gt;&lt;property id=&quot;20307&quot; value=&quot;287&quot;/&gt;&lt;/object&gt;&lt;object type=&quot;3&quot; unique_id=&quot;10007&quot;&gt;&lt;property id=&quot;20148&quot; value=&quot;5&quot;/&gt;&lt;property id=&quot;20300&quot; value=&quot;Slide 5&quot;/&gt;&lt;property id=&quot;20307&quot; value=&quot;288&quot;/&gt;&lt;/object&gt;&lt;object type=&quot;3&quot; unique_id=&quot;10008&quot;&gt;&lt;property id=&quot;20148&quot; value=&quot;5&quot;/&gt;&lt;property id=&quot;20300&quot; value=&quot;Slide 6&quot;/&gt;&lt;property id=&quot;20307&quot; value=&quot;289&quot;/&gt;&lt;/object&gt;&lt;object type=&quot;3&quot; unique_id=&quot;10011&quot;&gt;&lt;property id=&quot;20148&quot; value=&quot;5&quot;/&gt;&lt;property id=&quot;20300&quot; value=&quot;Slide 7&quot;/&gt;&lt;property id=&quot;20307&quot; value=&quot;292&quot;/&gt;&lt;/object&gt;&lt;object type=&quot;3&quot; unique_id=&quot;10012&quot;&gt;&lt;property id=&quot;20148&quot; value=&quot;5&quot;/&gt;&lt;property id=&quot;20300&quot; value=&quot;Slide 8&quot;/&gt;&lt;property id=&quot;20307&quot; value=&quot;293&quot;/&gt;&lt;/object&gt;&lt;object type=&quot;3&quot; unique_id=&quot;10013&quot;&gt;&lt;property id=&quot;20148&quot; value=&quot;5&quot;/&gt;&lt;property id=&quot;20300&quot; value=&quot;Slide 9&quot;/&gt;&lt;property id=&quot;20307&quot; value=&quot;294&quot;/&gt;&lt;/object&gt;&lt;object type=&quot;3&quot; unique_id=&quot;10014&quot;&gt;&lt;property id=&quot;20148&quot; value=&quot;5&quot;/&gt;&lt;property id=&quot;20300&quot; value=&quot;Slide 10&quot;/&gt;&lt;property id=&quot;20307&quot; value=&quot;295&quot;/&gt;&lt;/object&gt;&lt;object type=&quot;3&quot; unique_id=&quot;10015&quot;&gt;&lt;property id=&quot;20148&quot; value=&quot;5&quot;/&gt;&lt;property id=&quot;20300&quot; value=&quot;Slide 11&quot;/&gt;&lt;property id=&quot;20307&quot; value=&quot;296&quot;/&gt;&lt;/object&gt;&lt;object type=&quot;3&quot; unique_id=&quot;10016&quot;&gt;&lt;property id=&quot;20148&quot; value=&quot;5&quot;/&gt;&lt;property id=&quot;20300&quot; value=&quot;Slide 12&quot;/&gt;&lt;property id=&quot;20307&quot; value=&quot;297&quot;/&gt;&lt;/object&gt;&lt;object type=&quot;3&quot; unique_id=&quot;10017&quot;&gt;&lt;property id=&quot;20148&quot; value=&quot;5&quot;/&gt;&lt;property id=&quot;20300&quot; value=&quot;Slide 13&quot;/&gt;&lt;property id=&quot;20307&quot; value=&quot;298&quot;/&gt;&lt;/object&gt;&lt;object type=&quot;3&quot; unique_id=&quot;10018&quot;&gt;&lt;property id=&quot;20148&quot; value=&quot;5&quot;/&gt;&lt;property id=&quot;20300&quot; value=&quot;Slide 14&quot;/&gt;&lt;property id=&quot;20307&quot; value=&quot;312&quot;/&gt;&lt;/object&gt;&lt;object type=&quot;3&quot; unique_id=&quot;10019&quot;&gt;&lt;property id=&quot;20148&quot; value=&quot;5&quot;/&gt;&lt;property id=&quot;20300&quot; value=&quot;Slide 15&quot;/&gt;&lt;property id=&quot;20307&quot; value=&quot;316&quot;/&gt;&lt;/object&gt;&lt;object type=&quot;3&quot; unique_id=&quot;10020&quot;&gt;&lt;property id=&quot;20148&quot; value=&quot;5&quot;/&gt;&lt;property id=&quot;20300&quot; value=&quot;Slide 16&quot;/&gt;&lt;property id=&quot;20307&quot; value=&quot;317&quot;/&gt;&lt;/object&gt;&lt;object type=&quot;3&quot; unique_id=&quot;10021&quot;&gt;&lt;property id=&quot;20148&quot; value=&quot;5&quot;/&gt;&lt;property id=&quot;20300&quot; value=&quot;Slide 17&quot;/&gt;&lt;property id=&quot;20307&quot; value=&quot;318&quot;/&gt;&lt;/object&gt;&lt;object type=&quot;3&quot; unique_id=&quot;10022&quot;&gt;&lt;property id=&quot;20148&quot; value=&quot;5&quot;/&gt;&lt;property id=&quot;20300&quot; value=&quot;Slide 18&quot;/&gt;&lt;property id=&quot;20307&quot; value=&quot;319&quot;/&gt;&lt;/object&gt;&lt;object type=&quot;3&quot; unique_id=&quot;10023&quot;&gt;&lt;property id=&quot;20148&quot; value=&quot;5&quot;/&gt;&lt;property id=&quot;20300&quot; value=&quot;Slide 19&quot;/&gt;&lt;property id=&quot;20307&quot; value=&quot;320&quot;/&gt;&lt;/object&gt;&lt;object type=&quot;3&quot; unique_id=&quot;10024&quot;&gt;&lt;property id=&quot;20148&quot; value=&quot;5&quot;/&gt;&lt;property id=&quot;20300&quot; value=&quot;Slide 20&quot;/&gt;&lt;property id=&quot;20307&quot; value=&quot;321&quot;/&gt;&lt;/object&gt;&lt;object type=&quot;3&quot; unique_id=&quot;10025&quot;&gt;&lt;property id=&quot;20148&quot; value=&quot;5&quot;/&gt;&lt;property id=&quot;20300&quot; value=&quot;Slide 21&quot;/&gt;&lt;property id=&quot;20307&quot; value=&quot;322&quot;/&gt;&lt;/object&gt;&lt;object type=&quot;3&quot; unique_id=&quot;10026&quot;&gt;&lt;property id=&quot;20148&quot; value=&quot;5&quot;/&gt;&lt;property id=&quot;20300&quot; value=&quot;Slide 22&quot;/&gt;&lt;property id=&quot;20307&quot; value=&quot;327&quot;/&gt;&lt;/object&gt;&lt;object type=&quot;3&quot; unique_id=&quot;10027&quot;&gt;&lt;property id=&quot;20148&quot; value=&quot;5&quot;/&gt;&lt;property id=&quot;20300&quot; value=&quot;Slide 23&quot;/&gt;&lt;property id=&quot;20307&quot; value=&quot;324&quot;/&gt;&lt;/object&gt;&lt;object type=&quot;3&quot; unique_id=&quot;10028&quot;&gt;&lt;property id=&quot;20148&quot; value=&quot;5&quot;/&gt;&lt;property id=&quot;20300&quot; value=&quot;Slide 24&quot;/&gt;&lt;property id=&quot;20307&quot; value=&quot;325&quot;/&gt;&lt;/object&gt;&lt;object type=&quot;3&quot; unique_id=&quot;10753&quot;&gt;&lt;property id=&quot;20148&quot; value=&quot;5&quot;/&gt;&lt;property id=&quot;20300&quot; value=&quot;Slide 25 - &amp;quot;Programozási nyelvek generációi&amp;quot;&quot;/&gt;&lt;property id=&quot;20307&quot; value=&quot;328&quot;/&gt;&lt;/object&gt;&lt;object type=&quot;3&quot; unique_id=&quot;10754&quot;&gt;&lt;property id=&quot;20148&quot; value=&quot;5&quot;/&gt;&lt;property id=&quot;20300&quot; value=&quot;Slide 26 - &amp;quot;Programozási nyelvek csoportosítása programozási stílus szerint&amp;quot;&quot;/&gt;&lt;property id=&quot;20307&quot; value=&quot;329&quot;/&gt;&lt;/object&gt;&lt;object type=&quot;3&quot; unique_id=&quot;10755&quot;&gt;&lt;property id=&quot;20148&quot; value=&quot;5&quot;/&gt;&lt;property id=&quot;20300&quot; value=&quot;Slide 27&quot;/&gt;&lt;property id=&quot;20307&quot; value=&quot;330&quot;/&gt;&lt;/object&gt;&lt;object type=&quot;3&quot; unique_id=&quot;10756&quot;&gt;&lt;property id=&quot;20148&quot; value=&quot;5&quot;/&gt;&lt;property id=&quot;20300&quot; value=&quot;Slide 28&quot;/&gt;&lt;property id=&quot;20307&quot; value=&quot;331&quot;/&gt;&lt;/object&gt;&lt;object type=&quot;3&quot; unique_id=&quot;10757&quot;&gt;&lt;property id=&quot;20148&quot; value=&quot;5&quot;/&gt;&lt;property id=&quot;20300&quot; value=&quot;Slide 29&quot;/&gt;&lt;property id=&quot;20307&quot; value=&quot;332&quot;/&gt;&lt;/object&gt;&lt;object type=&quot;3&quot; unique_id=&quot;10758&quot;&gt;&lt;property id=&quot;20148&quot; value=&quot;5&quot;/&gt;&lt;property id=&quot;20300&quot; value=&quot;Slide 30&quot;/&gt;&lt;property id=&quot;20307&quot; value=&quot;333&quot;/&gt;&lt;/object&gt;&lt;object type=&quot;3&quot; unique_id=&quot;10759&quot;&gt;&lt;property id=&quot;20148&quot; value=&quot;5&quot;/&gt;&lt;property id=&quot;20300&quot; value=&quot;Slide 31&quot;/&gt;&lt;property id=&quot;20307&quot; value=&quot;334&quot;/&gt;&lt;/object&gt;&lt;object type=&quot;3&quot; unique_id=&quot;10760&quot;&gt;&lt;property id=&quot;20148&quot; value=&quot;5&quot;/&gt;&lt;property id=&quot;20300&quot; value=&quot;Slide 32&quot;/&gt;&lt;property id=&quot;20307&quot; value=&quot;335&quot;/&gt;&lt;/object&gt;&lt;object type=&quot;3&quot; unique_id=&quot;10761&quot;&gt;&lt;property id=&quot;20148&quot; value=&quot;5&quot;/&gt;&lt;property id=&quot;20300&quot; value=&quot;Slide 33&quot;/&gt;&lt;property id=&quot;20307&quot; value=&quot;336&quot;/&gt;&lt;/object&gt;&lt;object type=&quot;3&quot; unique_id=&quot;10762&quot;&gt;&lt;property id=&quot;20148&quot; value=&quot;5&quot;/&gt;&lt;property id=&quot;20300&quot; value=&quot;Slide 34&quot;/&gt;&lt;property id=&quot;20307&quot; value=&quot;337&quot;/&gt;&lt;/object&gt;&lt;object type=&quot;3&quot; unique_id=&quot;10763&quot;&gt;&lt;property id=&quot;20148&quot; value=&quot;5&quot;/&gt;&lt;property id=&quot;20300&quot; value=&quot;Slide 35&quot;/&gt;&lt;property id=&quot;20307&quot; value=&quot;338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ázis">
  <a:themeElements>
    <a:clrScheme name="Zöld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áz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áz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TM03457444[[fn=Bázis]]</Template>
  <TotalTime>1239</TotalTime>
  <Words>1299</Words>
  <Application>Microsoft Office PowerPoint</Application>
  <PresentationFormat>Diavetítés a képernyőre (4:3 oldalarány)</PresentationFormat>
  <Paragraphs>236</Paragraphs>
  <Slides>29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3</vt:i4>
      </vt:variant>
      <vt:variant>
        <vt:lpstr>Diacímek</vt:lpstr>
      </vt:variant>
      <vt:variant>
        <vt:i4>29</vt:i4>
      </vt:variant>
    </vt:vector>
  </HeadingPairs>
  <TitlesOfParts>
    <vt:vector size="38" baseType="lpstr">
      <vt:lpstr>Calibri</vt:lpstr>
      <vt:lpstr>Corbel</vt:lpstr>
      <vt:lpstr>Symbol</vt:lpstr>
      <vt:lpstr>Times New Roman</vt:lpstr>
      <vt:lpstr>Wingdings</vt:lpstr>
      <vt:lpstr>Bázis</vt:lpstr>
      <vt:lpstr>Image</vt:lpstr>
      <vt:lpstr>Kép</vt:lpstr>
      <vt:lpstr>Document</vt:lpstr>
      <vt:lpstr>Magasszintű programnyelvek I.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Programozási nyelvek generációi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Programozási nyelvek csoportosítása programozási stílus szerint</vt:lpstr>
      <vt:lpstr>PowerPoint-bemutató</vt:lpstr>
      <vt:lpstr>PowerPoint-bemutató</vt:lpstr>
      <vt:lpstr>PowerPoint-bemutató</vt:lpstr>
    </vt:vector>
  </TitlesOfParts>
  <Company>rrr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térinformatika gyakorlati oktatása Vidékfejlesztési szakirányon</dc:title>
  <dc:creator>ppp</dc:creator>
  <cp:lastModifiedBy>Dr. Pántya Róbert</cp:lastModifiedBy>
  <cp:revision>273</cp:revision>
  <dcterms:created xsi:type="dcterms:W3CDTF">2002-08-24T19:27:11Z</dcterms:created>
  <dcterms:modified xsi:type="dcterms:W3CDTF">2026-09-06T18:52:57Z</dcterms:modified>
</cp:coreProperties>
</file>